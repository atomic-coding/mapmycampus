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8"/>
  </p:notesMasterIdLst>
  <p:handoutMasterIdLst>
    <p:handoutMasterId r:id="rId17"/>
  </p:handoutMasterIdLst>
  <p:sldIdLst>
    <p:sldId id="323" r:id="rId7"/>
    <p:sldId id="257" r:id="rId9"/>
    <p:sldId id="258" r:id="rId10"/>
    <p:sldId id="324" r:id="rId11"/>
    <p:sldId id="259" r:id="rId12"/>
    <p:sldId id="325" r:id="rId13"/>
    <p:sldId id="326" r:id="rId14"/>
    <p:sldId id="327" r:id="rId15"/>
    <p:sldId id="288" r:id="rId16"/>
  </p:sldIdLst>
  <p:sldSz cx="9144000" cy="6858000" type="screen4x3"/>
  <p:notesSz cx="6858000" cy="9144000"/>
  <p:defaultTextStyle>
    <a:defPPr>
      <a:defRPr lang="en-GB"/>
    </a:defPPr>
    <a:lvl1pPr algn="l" defTabSz="449580" rtl="0" eaLnBrk="0" fontAlgn="base" hangingPunct="0">
      <a:spcBef>
        <a:spcPct val="0"/>
      </a:spcBef>
      <a:spcAft>
        <a:spcPct val="0"/>
      </a:spcAft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49580" rtl="0" eaLnBrk="0" fontAlgn="base" hangingPunct="0">
      <a:spcBef>
        <a:spcPct val="0"/>
      </a:spcBef>
      <a:spcAft>
        <a:spcPct val="0"/>
      </a:spcAft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49580" rtl="0" eaLnBrk="0" fontAlgn="base" hangingPunct="0">
      <a:spcBef>
        <a:spcPct val="0"/>
      </a:spcBef>
      <a:spcAft>
        <a:spcPct val="0"/>
      </a:spcAft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49580" rtl="0" eaLnBrk="0" fontAlgn="base" hangingPunct="0">
      <a:spcBef>
        <a:spcPct val="0"/>
      </a:spcBef>
      <a:spcAft>
        <a:spcPct val="0"/>
      </a:spcAft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49580" rtl="0" eaLnBrk="0" fontAlgn="base" hangingPunct="0">
      <a:spcBef>
        <a:spcPct val="0"/>
      </a:spcBef>
      <a:spcAft>
        <a:spcPct val="0"/>
      </a:spcAft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6" d="100"/>
          <a:sy n="76" d="100"/>
        </p:scale>
        <p:origin x="-336" y="-72"/>
      </p:cViewPr>
      <p:guideLst>
        <p:guide orient="horz" pos="219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2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3710E-2509-44EC-BF3D-10F49764839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203ED-77F9-4EF8-A059-1B10C0DA89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en-IN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en-IN"/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en-IN"/>
          </a:p>
        </p:txBody>
      </p:sp>
      <p:sp>
        <p:nvSpPr>
          <p:cNvPr id="2458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</a:ln>
        </p:spPr>
      </p:sp>
      <p:sp>
        <p:nvSpPr>
          <p:cNvPr id="2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/>
            <a:endParaRPr lang="en-US" noProof="0" smtClean="0"/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en-I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8664C84-17C7-4F3B-A8B5-EB3C5CD1803C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8664C84-17C7-4F3B-A8B5-EB3C5CD1803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DCFEED3-64DD-48AE-AE3C-69C697661D94}" type="slidenum">
              <a:rPr lang="en-IN" smtClean="0"/>
            </a:fld>
            <a:endParaRPr lang="en-IN" smtClean="0"/>
          </a:p>
        </p:txBody>
      </p:sp>
      <p:sp>
        <p:nvSpPr>
          <p:cNvPr id="26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</p:spPr>
      </p:sp>
      <p:sp>
        <p:nvSpPr>
          <p:cNvPr id="26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57EC2-6134-424F-AAEC-2AC7BB597AE4}" type="datetime1">
              <a:rPr lang="en-US" smtClean="0"/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11762-8B2A-4CA9-9578-C7DF7CA73F0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10DAC-C9E9-49FA-BC97-C9746A9CC12C}" type="datetime1">
              <a:rPr lang="en-US" smtClean="0"/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1995F-2A42-424B-B1D9-5D56F1007B4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19D5-5BD0-4F64-AD0C-4BC3B8C7F563}" type="datetime1">
              <a:rPr lang="en-US" smtClean="0"/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3935A-AB3B-4E43-A135-81E0BEED25C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4613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7A7F8-8B30-47F7-B074-89BADA500AAC}" type="datetime1">
              <a:rPr lang="en-US" smtClean="0"/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49E6C-7200-4276-85E9-7BEA33FCC29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3B0B5-0840-4710-87CA-06B05BEF35FF}" type="datetime1">
              <a:rPr lang="en-US" smtClean="0"/>
            </a:fld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593FA-5F31-4BD9-8334-D7AFB80184D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5B589-B3FB-4611-A570-6731287821FB}" type="datetime1">
              <a:rPr lang="en-US" smtClean="0"/>
            </a:fld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7C286-938D-41F3-BD92-8849E60A303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80D65-2CF0-4F25-AA54-599FE0D6FA17}" type="datetime1">
              <a:rPr lang="en-US" smtClean="0"/>
            </a:fld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BBFAD-4A98-4B91-B9DB-7CCC1649CBD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3A4A1-6063-403C-8302-0A5D59F8012C}" type="datetime1">
              <a:rPr lang="en-US" smtClean="0"/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97884-C3C3-41E4-80E4-2265D96678C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2F2D8-BFBA-4E35-8CCB-695BCA069AC1}" type="datetime1">
              <a:rPr lang="en-US" smtClean="0"/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F267D-A107-4C24-9BE5-85EFD4BA578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49F18-FCE4-4A5A-A80B-D1C3300E01F2}" type="datetime1">
              <a:rPr lang="en-US" smtClean="0"/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DAE16-AEC9-40D5-B337-B0540383285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8425" y="228600"/>
            <a:ext cx="2084388" cy="5789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0762" cy="57896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B9087-6C79-43AB-B969-7EBD1E0F1185}" type="datetime1">
              <a:rPr lang="en-US" smtClean="0"/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D85C4-DCB7-41DE-8D07-9B766B5F548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C9913-3C1C-4101-9268-3DF9AAA075E9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DD1E2-3360-40C0-B9F2-46686222FB7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DE395-D31D-4855-8BC7-C1F1F5700976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4EFBD-E948-4658-AEA8-19B1E301D63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B749A-9753-47F0-AC40-78B2F234222E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53085-DFA1-4A4C-B1F4-2602D3851EC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4613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80F78-1D87-471F-9D69-BA827F0E3FA9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2CA78-C124-417A-9ED7-1A161D525B3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E6F4C-A14A-46A6-ADAF-536F776C3ABB}" type="datetime1">
              <a:rPr lang="en-US" smtClean="0"/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CB44E-FF18-461D-A03D-ED9F358C024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8E49D-E55D-4917-9279-03FBE2605DF1}" type="datetime1">
              <a:rPr lang="en-US" smtClean="0"/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0D6AC-3F40-428E-A4D7-40A0404A4C8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FD9E5-1F87-442F-800A-B2F5C6A6C64A}" type="datetime1">
              <a:rPr lang="en-US" smtClean="0"/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636B9-1043-487E-A8CD-37279A199A8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33A97-7B15-4AE5-BD3C-8303F209DBBC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5D54D-FA46-48D5-92E3-675541D52F8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C0C7E-704D-465C-AC49-8327FF346D06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CC718-504F-4637-9523-377F7A22ABA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ECBF0-6D29-4831-ADF1-DC2F3C1A2B56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818B5-2F73-4C65-A7B7-2F0175DBCB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8425" y="228600"/>
            <a:ext cx="2084388" cy="5789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0762" cy="57896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F0AC8-3CFA-4DF5-871B-C97200744381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E087C-365B-4111-8C07-01A9FF61CDD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95B1F-FF86-4164-AD80-1D111A800DE4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D6C-EA36-42B6-A955-E31207A7B5C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54436-C768-494D-B8B5-626D4658AE2A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92E974-E202-40E5-B089-552B30D3F0C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93C39-D51D-46BB-B9DA-49F25FB4DEFA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4041B-8015-4C35-A48C-302FA1D8F98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4613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70D1F-EE0E-42B3-93F9-2C40916131CC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17F90-5344-450B-8878-A9F54BF6F13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2537A-65E7-4851-A920-67211FFD9111}" type="datetime1">
              <a:rPr lang="en-US" smtClean="0"/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E5D19-8DA4-441E-B7FC-0AFF9C29B45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8F741-E5AC-410D-ACE0-CF9694B1AC61}" type="datetime1">
              <a:rPr lang="en-US" smtClean="0"/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17E6C-A49D-4218-AF60-FEA16C67FB8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85615-C9E7-4786-8466-9D21A7129583}" type="datetime1">
              <a:rPr lang="en-US" smtClean="0"/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2CF70-0670-490C-9B7E-15281388C9E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49DFB-4365-4AE7-B957-98D5304A6D20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5F1F3-C4D6-491D-8B69-3BCBD92B4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A9B51-A059-46ED-B055-4A09D02A58B3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410E9-E8BE-4D92-9E2C-E887F09F5AB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9C418-C126-45F7-B138-1C888815CB08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40A52-8E65-4692-9CB2-BAF09FB23CB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8425" y="228600"/>
            <a:ext cx="2084388" cy="5789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0762" cy="57896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C4979-834A-4BAA-A328-98FCBEE4D044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82285-60A4-4B29-A6B0-AB2881390DA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A6243-450E-4107-A3AD-923329C451E5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FCE09-5FA3-4096-A274-4D38F226E6D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4B21C-C543-482F-9F03-F3C2FBBC610E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F5C32-2C43-4523-97D3-92A250575B4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C9AB4-B9D8-48A9-BFD8-BF2A200ED843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C7526-18FA-4C12-A83E-CC023A0888F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4613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41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35390-1BAC-4FAF-B87E-696FDD1587E8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45F40-78AD-46DC-B441-E557EA5FE5C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DF0C0-2DEC-4B98-B5BF-ED3E83A871C2}" type="datetime1">
              <a:rPr lang="en-US" smtClean="0"/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59D7A-4A93-4CC3-9953-93FAAC3B14D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F2D10-A414-437F-B447-8623D65173A8}" type="datetime1">
              <a:rPr lang="en-US" smtClean="0"/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3FC42-D031-4D87-AA9C-E863B2F32CF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7520-EFA1-4F18-88E2-A14D361A036C}" type="datetime1">
              <a:rPr lang="en-US" smtClean="0"/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66C37-98D9-4A30-BEB8-96F1692B8CA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40155-4676-47EE-A603-D90A650B5BC0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2269A-2F6B-4DBA-A35D-9B47F4C7E3D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83536-C9B5-4CC3-BE3C-8264C2AE95DB}" type="datetime1">
              <a:rPr lang="en-US" smtClean="0"/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7A621-CD0A-4821-9265-059D987BBED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F453E-8005-47ED-B36D-A35B5BD1D3F4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FBCF5-C5A4-4D14-856F-C4F991B974E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8425" y="228600"/>
            <a:ext cx="2084388" cy="5789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0762" cy="57896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C4CD0-86B0-45FF-99DB-F1DA23F12664}" type="datetime1">
              <a:rPr lang="en-US" smtClean="0"/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E5E39-0FC3-41FA-8B3D-30B05C66A7F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0B7C-A898-411B-A837-FF2E421DAF7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8C03F-E989-4C8A-A544-2E7337696C9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2E8A0-3BF4-4D12-BAC6-C00AF142A48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43104-7D1B-456A-AB0C-EEDF9EFBBF6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7DD30-765E-412D-963E-3A0059FBDFD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31B59-B40D-4BD1-B605-5AB5FBDD259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14B4B-0953-4F28-8A87-E638AEB9EC0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82EE9-20B4-4FF7-B8A6-C2A073A47B5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5E6B1-1708-4163-B607-EDBB1729563C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72C4B-79AF-48AF-93E3-40F102E45E1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52DAF-B687-44FA-9A7E-004C56F190B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93352-7734-4833-8F46-94A017E5043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ED27E-0421-419B-A699-6F07DE7A0C35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974C-63DD-4ABC-B9B9-102C586453A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BD9F8-7AEE-494F-B653-E21CAA92594D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4DAEA-AF54-4968-9F94-31507A9F269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69F40-1EF2-4AE3-870A-C53E9C98C817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3CBD6-C4F4-485E-ACCE-D1C1A952448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728D8-F521-4F41-871B-22C9233B5D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E49D2-725E-4C03-A36E-0A8DF755023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062D7-EC8E-4B82-9D48-BC491B93B75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27DE6-2B62-4967-A482-7AF9F510D59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/>
          <p:nvPr/>
        </p:nvGrpSpPr>
        <p:grpSpPr bwMode="auto">
          <a:xfrm>
            <a:off x="0" y="927100"/>
            <a:ext cx="8990013" cy="4494213"/>
            <a:chOff x="0" y="584"/>
            <a:chExt cx="5663" cy="2831"/>
          </a:xfrm>
        </p:grpSpPr>
        <p:sp>
          <p:nvSpPr>
            <p:cNvPr id="1032" name="AutoShape 2"/>
            <p:cNvSpPr>
              <a:spLocks noChangeArrowheads="1"/>
            </p:cNvSpPr>
            <p:nvPr/>
          </p:nvSpPr>
          <p:spPr bwMode="auto">
            <a:xfrm>
              <a:off x="432" y="1304"/>
              <a:ext cx="4655" cy="2111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 lim="800000"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en-IN"/>
            </a:p>
          </p:txBody>
        </p:sp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144" y="584"/>
              <a:ext cx="4511" cy="623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 lim="800000"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en-IN"/>
            </a:p>
          </p:txBody>
        </p:sp>
        <p:sp>
          <p:nvSpPr>
            <p:cNvPr id="1034" name="AutoShape 4"/>
            <p:cNvSpPr>
              <a:spLocks noChangeArrowheads="1"/>
            </p:cNvSpPr>
            <p:nvPr/>
          </p:nvSpPr>
          <p:spPr bwMode="auto">
            <a:xfrm>
              <a:off x="0" y="872"/>
              <a:ext cx="5663" cy="1151"/>
            </a:xfrm>
            <a:custGeom>
              <a:avLst/>
              <a:gdLst>
                <a:gd name="T0" fmla="*/ 0 w 4917"/>
                <a:gd name="T1" fmla="*/ 0 h 1000"/>
                <a:gd name="T2" fmla="*/ 10308 w 4917"/>
                <a:gd name="T3" fmla="*/ 0 h 1000"/>
                <a:gd name="T4" fmla="*/ 11477 w 4917"/>
                <a:gd name="T5" fmla="*/ 1164 h 1000"/>
                <a:gd name="T6" fmla="*/ 10309 w 4917"/>
                <a:gd name="T7" fmla="*/ 2325 h 1000"/>
                <a:gd name="T8" fmla="*/ 0 w 4917"/>
                <a:gd name="T9" fmla="*/ 2325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 cap="flat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" name="Line 5"/>
            <p:cNvSpPr>
              <a:spLocks noChangeShapeType="1"/>
            </p:cNvSpPr>
            <p:nvPr/>
          </p:nvSpPr>
          <p:spPr bwMode="auto">
            <a:xfrm>
              <a:off x="0" y="1928"/>
              <a:ext cx="5231" cy="0"/>
            </a:xfrm>
            <a:prstGeom prst="line">
              <a:avLst/>
            </a:prstGeom>
            <a:noFill/>
            <a:ln w="50760" cap="sq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3700" cy="9128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/>
          <a:lstStyle/>
          <a:p>
            <a:pPr lvl="0"/>
            <a:r>
              <a:rPr lang="en-GB" smtClean="0"/>
              <a:t>Click to edit the title text format</a:t>
            </a:r>
            <a:endParaRPr lang="en-GB" smtClean="0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3213" cy="44180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en-GB" smtClean="0"/>
              <a:t>Click to edit the outline text format</a:t>
            </a:r>
            <a:endParaRPr lang="en-GB" smtClean="0"/>
          </a:p>
          <a:p>
            <a:pPr lvl="1"/>
            <a:r>
              <a:rPr lang="en-GB" smtClean="0"/>
              <a:t>Second Outline Level</a:t>
            </a:r>
            <a:endParaRPr lang="en-GB" smtClean="0"/>
          </a:p>
          <a:p>
            <a:pPr lvl="2"/>
            <a:r>
              <a:rPr lang="en-GB" smtClean="0"/>
              <a:t>Third Outline Level</a:t>
            </a:r>
            <a:endParaRPr lang="en-GB" smtClean="0"/>
          </a:p>
          <a:p>
            <a:pPr lvl="3"/>
            <a:r>
              <a:rPr lang="en-GB" smtClean="0"/>
              <a:t>Fourth Outline Level</a:t>
            </a:r>
            <a:endParaRPr lang="en-GB" smtClean="0"/>
          </a:p>
          <a:p>
            <a:pPr lvl="4"/>
            <a:r>
              <a:rPr lang="en-GB" smtClean="0"/>
              <a:t>Fifth Outline Level</a:t>
            </a:r>
            <a:endParaRPr lang="en-GB" smtClean="0"/>
          </a:p>
          <a:p>
            <a:pPr lvl="4"/>
            <a:r>
              <a:rPr lang="en-GB" smtClean="0"/>
              <a:t>Sixth Outline Level</a:t>
            </a:r>
            <a:endParaRPr lang="en-GB" smtClean="0"/>
          </a:p>
          <a:p>
            <a:pPr lvl="4"/>
            <a:r>
              <a:rPr lang="en-GB" smtClean="0"/>
              <a:t>Seventh Outline Level</a:t>
            </a:r>
            <a:endParaRPr lang="en-GB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32013" cy="469900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721A7A-D2F9-4D82-A42B-C464ACAF8057}" type="datetime1">
              <a:rPr lang="en-US" smtClean="0"/>
            </a:fld>
            <a:endParaRPr lang="en-US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53163"/>
            <a:ext cx="2894013" cy="455612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ct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2013" cy="469900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SzPct val="100000"/>
              <a:defRPr sz="1200">
                <a:solidFill>
                  <a:srgbClr val="000000"/>
                </a:solidFill>
                <a:latin typeface="Arial Black" panose="020B0A04020102020204" pitchFamily="32" charset="0"/>
              </a:defRPr>
            </a:lvl1pPr>
          </a:lstStyle>
          <a:p>
            <a:pPr>
              <a:defRPr/>
            </a:pPr>
            <a:fld id="{A1703D75-20FD-482A-A001-1CE5B335BED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+mj-lt"/>
          <a:ea typeface="+mj-ea"/>
          <a:cs typeface="+mj-cs"/>
        </a:defRPr>
      </a:lvl1pPr>
      <a:lvl2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/>
          <p:cNvGrpSpPr/>
          <p:nvPr/>
        </p:nvGrpSpPr>
        <p:grpSpPr bwMode="auto">
          <a:xfrm>
            <a:off x="0" y="152400"/>
            <a:ext cx="8685213" cy="6094413"/>
            <a:chOff x="0" y="96"/>
            <a:chExt cx="5471" cy="3839"/>
          </a:xfrm>
        </p:grpSpPr>
        <p:sp>
          <p:nvSpPr>
            <p:cNvPr id="2056" name="AutoShape 2"/>
            <p:cNvSpPr>
              <a:spLocks noChangeArrowheads="1"/>
            </p:cNvSpPr>
            <p:nvPr/>
          </p:nvSpPr>
          <p:spPr bwMode="auto">
            <a:xfrm>
              <a:off x="240" y="336"/>
              <a:ext cx="5231" cy="3599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 lim="800000"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en-IN"/>
            </a:p>
          </p:txBody>
        </p:sp>
        <p:sp>
          <p:nvSpPr>
            <p:cNvPr id="2057" name="AutoShape 3"/>
            <p:cNvSpPr>
              <a:spLocks noChangeArrowheads="1"/>
            </p:cNvSpPr>
            <p:nvPr/>
          </p:nvSpPr>
          <p:spPr bwMode="auto">
            <a:xfrm>
              <a:off x="0" y="96"/>
              <a:ext cx="5375" cy="767"/>
            </a:xfrm>
            <a:custGeom>
              <a:avLst/>
              <a:gdLst>
                <a:gd name="T0" fmla="*/ 0 w 7000"/>
                <a:gd name="T1" fmla="*/ 0 h 1000"/>
                <a:gd name="T2" fmla="*/ 1332 w 7000"/>
                <a:gd name="T3" fmla="*/ 0 h 1000"/>
                <a:gd name="T4" fmla="*/ 1434 w 7000"/>
                <a:gd name="T5" fmla="*/ 102 h 1000"/>
                <a:gd name="T6" fmla="*/ 1332 w 7000"/>
                <a:gd name="T7" fmla="*/ 203 h 1000"/>
                <a:gd name="T8" fmla="*/ 0 w 7000"/>
                <a:gd name="T9" fmla="*/ 203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1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 cap="flat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8" name="Line 4"/>
            <p:cNvSpPr>
              <a:spLocks noChangeShapeType="1"/>
            </p:cNvSpPr>
            <p:nvPr/>
          </p:nvSpPr>
          <p:spPr bwMode="auto">
            <a:xfrm>
              <a:off x="0" y="768"/>
              <a:ext cx="5087" cy="0"/>
            </a:xfrm>
            <a:prstGeom prst="line">
              <a:avLst/>
            </a:prstGeom>
            <a:noFill/>
            <a:ln w="38160" cap="sq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05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3700" cy="9128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/>
          <a:lstStyle/>
          <a:p>
            <a:pPr lvl="0"/>
            <a:r>
              <a:rPr lang="en-GB" smtClean="0"/>
              <a:t>Click to edit the title text format</a:t>
            </a:r>
            <a:endParaRPr lang="en-GB" smtClean="0"/>
          </a:p>
        </p:txBody>
      </p:sp>
      <p:sp>
        <p:nvSpPr>
          <p:cNvPr id="205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3213" cy="44180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en-GB" smtClean="0"/>
              <a:t>Click to edit the outline text format</a:t>
            </a:r>
            <a:endParaRPr lang="en-GB" smtClean="0"/>
          </a:p>
          <a:p>
            <a:pPr lvl="1"/>
            <a:r>
              <a:rPr lang="en-GB" smtClean="0"/>
              <a:t>Second Outline Level</a:t>
            </a:r>
            <a:endParaRPr lang="en-GB" smtClean="0"/>
          </a:p>
          <a:p>
            <a:pPr lvl="2"/>
            <a:r>
              <a:rPr lang="en-GB" smtClean="0"/>
              <a:t>Third Outline Level</a:t>
            </a:r>
            <a:endParaRPr lang="en-GB" smtClean="0"/>
          </a:p>
          <a:p>
            <a:pPr lvl="3"/>
            <a:r>
              <a:rPr lang="en-GB" smtClean="0"/>
              <a:t>Fourth Outline Level</a:t>
            </a:r>
            <a:endParaRPr lang="en-GB" smtClean="0"/>
          </a:p>
          <a:p>
            <a:pPr lvl="4"/>
            <a:r>
              <a:rPr lang="en-GB" smtClean="0"/>
              <a:t>Fifth Outline Level</a:t>
            </a:r>
            <a:endParaRPr lang="en-GB" smtClean="0"/>
          </a:p>
          <a:p>
            <a:pPr lvl="4"/>
            <a:r>
              <a:rPr lang="en-GB" smtClean="0"/>
              <a:t>Sixth Outline Level</a:t>
            </a:r>
            <a:endParaRPr lang="en-GB" smtClean="0"/>
          </a:p>
          <a:p>
            <a:pPr lvl="4"/>
            <a:r>
              <a:rPr lang="en-GB" smtClean="0"/>
              <a:t>Seventh Outline Level</a:t>
            </a:r>
            <a:endParaRPr lang="en-GB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AAA879F-C697-47B0-8138-3CE913D54540}" type="datetime1">
              <a:rPr lang="en-US" smtClean="0"/>
            </a:fld>
            <a:endParaRPr lang="en-U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ct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SzPct val="100000"/>
              <a:defRPr sz="1200">
                <a:solidFill>
                  <a:srgbClr val="000000"/>
                </a:solidFill>
                <a:latin typeface="Arial Black" panose="020B0A04020102020204" pitchFamily="32" charset="0"/>
              </a:defRPr>
            </a:lvl1pPr>
          </a:lstStyle>
          <a:p>
            <a:pPr>
              <a:defRPr/>
            </a:pPr>
            <a:fld id="{48BA4CCC-1AD6-4EF8-8A71-587373F7B47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+mj-lt"/>
          <a:ea typeface="+mj-ea"/>
          <a:cs typeface="+mj-cs"/>
        </a:defRPr>
      </a:lvl1pPr>
      <a:lvl2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"/>
          <p:cNvGrpSpPr/>
          <p:nvPr/>
        </p:nvGrpSpPr>
        <p:grpSpPr bwMode="auto">
          <a:xfrm>
            <a:off x="0" y="152400"/>
            <a:ext cx="8685213" cy="6094413"/>
            <a:chOff x="0" y="96"/>
            <a:chExt cx="5471" cy="3839"/>
          </a:xfrm>
        </p:grpSpPr>
        <p:sp>
          <p:nvSpPr>
            <p:cNvPr id="3080" name="AutoShape 2"/>
            <p:cNvSpPr>
              <a:spLocks noChangeArrowheads="1"/>
            </p:cNvSpPr>
            <p:nvPr/>
          </p:nvSpPr>
          <p:spPr bwMode="auto">
            <a:xfrm>
              <a:off x="240" y="336"/>
              <a:ext cx="5231" cy="3599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 lim="800000"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en-IN"/>
            </a:p>
          </p:txBody>
        </p:sp>
        <p:sp>
          <p:nvSpPr>
            <p:cNvPr id="3081" name="AutoShape 3"/>
            <p:cNvSpPr>
              <a:spLocks noChangeArrowheads="1"/>
            </p:cNvSpPr>
            <p:nvPr/>
          </p:nvSpPr>
          <p:spPr bwMode="auto">
            <a:xfrm>
              <a:off x="0" y="96"/>
              <a:ext cx="5375" cy="767"/>
            </a:xfrm>
            <a:custGeom>
              <a:avLst/>
              <a:gdLst>
                <a:gd name="T0" fmla="*/ 0 w 7000"/>
                <a:gd name="T1" fmla="*/ 0 h 1000"/>
                <a:gd name="T2" fmla="*/ 1332 w 7000"/>
                <a:gd name="T3" fmla="*/ 0 h 1000"/>
                <a:gd name="T4" fmla="*/ 1434 w 7000"/>
                <a:gd name="T5" fmla="*/ 102 h 1000"/>
                <a:gd name="T6" fmla="*/ 1332 w 7000"/>
                <a:gd name="T7" fmla="*/ 203 h 1000"/>
                <a:gd name="T8" fmla="*/ 0 w 7000"/>
                <a:gd name="T9" fmla="*/ 203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1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 cap="flat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82" name="Line 4"/>
            <p:cNvSpPr>
              <a:spLocks noChangeShapeType="1"/>
            </p:cNvSpPr>
            <p:nvPr/>
          </p:nvSpPr>
          <p:spPr bwMode="auto">
            <a:xfrm>
              <a:off x="0" y="768"/>
              <a:ext cx="5087" cy="0"/>
            </a:xfrm>
            <a:prstGeom prst="line">
              <a:avLst/>
            </a:prstGeom>
            <a:noFill/>
            <a:ln w="38160" cap="sq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07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3700" cy="9128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/>
          <a:lstStyle/>
          <a:p>
            <a:pPr lvl="0"/>
            <a:r>
              <a:rPr lang="en-GB" smtClean="0"/>
              <a:t>Click to edit the title text format</a:t>
            </a:r>
            <a:endParaRPr lang="en-GB" smtClean="0"/>
          </a:p>
        </p:txBody>
      </p:sp>
      <p:sp>
        <p:nvSpPr>
          <p:cNvPr id="307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3213" cy="44180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en-GB" smtClean="0"/>
              <a:t>Click to edit the outline text format</a:t>
            </a:r>
            <a:endParaRPr lang="en-GB" smtClean="0"/>
          </a:p>
          <a:p>
            <a:pPr lvl="1"/>
            <a:r>
              <a:rPr lang="en-GB" smtClean="0"/>
              <a:t>Second Outline Level</a:t>
            </a:r>
            <a:endParaRPr lang="en-GB" smtClean="0"/>
          </a:p>
          <a:p>
            <a:pPr lvl="2"/>
            <a:r>
              <a:rPr lang="en-GB" smtClean="0"/>
              <a:t>Third Outline Level</a:t>
            </a:r>
            <a:endParaRPr lang="en-GB" smtClean="0"/>
          </a:p>
          <a:p>
            <a:pPr lvl="3"/>
            <a:r>
              <a:rPr lang="en-GB" smtClean="0"/>
              <a:t>Fourth Outline Level</a:t>
            </a:r>
            <a:endParaRPr lang="en-GB" smtClean="0"/>
          </a:p>
          <a:p>
            <a:pPr lvl="4"/>
            <a:r>
              <a:rPr lang="en-GB" smtClean="0"/>
              <a:t>Fifth Outline Level</a:t>
            </a:r>
            <a:endParaRPr lang="en-GB" smtClean="0"/>
          </a:p>
          <a:p>
            <a:pPr lvl="4"/>
            <a:r>
              <a:rPr lang="en-GB" smtClean="0"/>
              <a:t>Sixth Outline Level</a:t>
            </a:r>
            <a:endParaRPr lang="en-GB" smtClean="0"/>
          </a:p>
          <a:p>
            <a:pPr lvl="4"/>
            <a:r>
              <a:rPr lang="en-GB" smtClean="0"/>
              <a:t>Seventh Outline Level</a:t>
            </a:r>
            <a:endParaRPr lang="en-GB" smtClean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B7CF19B-778A-4F55-B84A-16C676928A22}" type="datetime1">
              <a:rPr lang="en-US" smtClean="0"/>
            </a:fld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ct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SzPct val="100000"/>
              <a:defRPr sz="1200">
                <a:solidFill>
                  <a:srgbClr val="000000"/>
                </a:solidFill>
                <a:latin typeface="Arial Black" panose="020B0A04020102020204" pitchFamily="32" charset="0"/>
              </a:defRPr>
            </a:lvl1pPr>
          </a:lstStyle>
          <a:p>
            <a:pPr>
              <a:defRPr/>
            </a:pPr>
            <a:fld id="{D2822DD0-BF05-4054-9BB5-19CD592D32F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+mj-lt"/>
          <a:ea typeface="+mj-ea"/>
          <a:cs typeface="+mj-cs"/>
        </a:defRPr>
      </a:lvl1pPr>
      <a:lvl2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"/>
          <p:cNvGrpSpPr/>
          <p:nvPr/>
        </p:nvGrpSpPr>
        <p:grpSpPr bwMode="auto">
          <a:xfrm>
            <a:off x="0" y="152400"/>
            <a:ext cx="8685213" cy="6094413"/>
            <a:chOff x="0" y="96"/>
            <a:chExt cx="5471" cy="3839"/>
          </a:xfrm>
        </p:grpSpPr>
        <p:sp>
          <p:nvSpPr>
            <p:cNvPr id="4104" name="AutoShape 2"/>
            <p:cNvSpPr>
              <a:spLocks noChangeArrowheads="1"/>
            </p:cNvSpPr>
            <p:nvPr/>
          </p:nvSpPr>
          <p:spPr bwMode="auto">
            <a:xfrm>
              <a:off x="240" y="336"/>
              <a:ext cx="5231" cy="3599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 lim="800000"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en-IN"/>
            </a:p>
          </p:txBody>
        </p:sp>
        <p:sp>
          <p:nvSpPr>
            <p:cNvPr id="4105" name="AutoShape 3"/>
            <p:cNvSpPr>
              <a:spLocks noChangeArrowheads="1"/>
            </p:cNvSpPr>
            <p:nvPr/>
          </p:nvSpPr>
          <p:spPr bwMode="auto">
            <a:xfrm>
              <a:off x="0" y="96"/>
              <a:ext cx="5375" cy="767"/>
            </a:xfrm>
            <a:custGeom>
              <a:avLst/>
              <a:gdLst>
                <a:gd name="T0" fmla="*/ 0 w 7000"/>
                <a:gd name="T1" fmla="*/ 0 h 1000"/>
                <a:gd name="T2" fmla="*/ 1332 w 7000"/>
                <a:gd name="T3" fmla="*/ 0 h 1000"/>
                <a:gd name="T4" fmla="*/ 1434 w 7000"/>
                <a:gd name="T5" fmla="*/ 102 h 1000"/>
                <a:gd name="T6" fmla="*/ 1332 w 7000"/>
                <a:gd name="T7" fmla="*/ 203 h 1000"/>
                <a:gd name="T8" fmla="*/ 0 w 7000"/>
                <a:gd name="T9" fmla="*/ 203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1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 cap="flat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06" name="Line 4"/>
            <p:cNvSpPr>
              <a:spLocks noChangeShapeType="1"/>
            </p:cNvSpPr>
            <p:nvPr/>
          </p:nvSpPr>
          <p:spPr bwMode="auto">
            <a:xfrm>
              <a:off x="0" y="768"/>
              <a:ext cx="5087" cy="0"/>
            </a:xfrm>
            <a:prstGeom prst="line">
              <a:avLst/>
            </a:prstGeom>
            <a:noFill/>
            <a:ln w="38160" cap="sq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3700" cy="9128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/>
          <a:lstStyle/>
          <a:p>
            <a:pPr lvl="0"/>
            <a:r>
              <a:rPr lang="en-GB" smtClean="0"/>
              <a:t>Click to edit the title text format</a:t>
            </a:r>
            <a:endParaRPr lang="en-GB" smtClean="0"/>
          </a:p>
        </p:txBody>
      </p:sp>
      <p:sp>
        <p:nvSpPr>
          <p:cNvPr id="410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3213" cy="4418013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en-GB" smtClean="0"/>
              <a:t>Click to edit the outline text format</a:t>
            </a:r>
            <a:endParaRPr lang="en-GB" smtClean="0"/>
          </a:p>
          <a:p>
            <a:pPr lvl="1"/>
            <a:r>
              <a:rPr lang="en-GB" smtClean="0"/>
              <a:t>Second Outline Level</a:t>
            </a:r>
            <a:endParaRPr lang="en-GB" smtClean="0"/>
          </a:p>
          <a:p>
            <a:pPr lvl="2"/>
            <a:r>
              <a:rPr lang="en-GB" smtClean="0"/>
              <a:t>Third Outline Level</a:t>
            </a:r>
            <a:endParaRPr lang="en-GB" smtClean="0"/>
          </a:p>
          <a:p>
            <a:pPr lvl="3"/>
            <a:r>
              <a:rPr lang="en-GB" smtClean="0"/>
              <a:t>Fourth Outline Level</a:t>
            </a:r>
            <a:endParaRPr lang="en-GB" smtClean="0"/>
          </a:p>
          <a:p>
            <a:pPr lvl="4"/>
            <a:r>
              <a:rPr lang="en-GB" smtClean="0"/>
              <a:t>Fifth Outline Level</a:t>
            </a:r>
            <a:endParaRPr lang="en-GB" smtClean="0"/>
          </a:p>
          <a:p>
            <a:pPr lvl="4"/>
            <a:r>
              <a:rPr lang="en-GB" smtClean="0"/>
              <a:t>Sixth Outline Level</a:t>
            </a:r>
            <a:endParaRPr lang="en-GB" smtClean="0"/>
          </a:p>
          <a:p>
            <a:pPr lvl="4"/>
            <a:r>
              <a:rPr lang="en-GB" smtClean="0"/>
              <a:t>Seventh Outline Level</a:t>
            </a:r>
            <a:endParaRPr lang="en-GB" smtClean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4923D68-942F-46EB-A107-3C810670DEC0}" type="datetime1">
              <a:rPr lang="en-US" smtClean="0"/>
            </a:fld>
            <a:endParaRPr lang="en-US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ct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defRPr sz="1200">
                <a:solidFill>
                  <a:srgbClr val="000000"/>
                </a:solidFill>
                <a:latin typeface="Times New Roman" panose="02020603050405020304" pitchFamily="16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20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>
            <a:lvl1pPr algn="r" eaLnBrk="1" hangingPunct="1">
              <a:buSzPct val="100000"/>
              <a:defRPr sz="1200">
                <a:solidFill>
                  <a:srgbClr val="000000"/>
                </a:solidFill>
                <a:latin typeface="Arial Black" panose="020B0A04020102020204" pitchFamily="32" charset="0"/>
              </a:defRPr>
            </a:lvl1pPr>
          </a:lstStyle>
          <a:p>
            <a:pPr>
              <a:defRPr/>
            </a:pPr>
            <a:fld id="{2560A39F-C399-48C9-84BD-9FCCC682DDE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+mj-lt"/>
          <a:ea typeface="+mj-ea"/>
          <a:cs typeface="+mj-cs"/>
        </a:defRPr>
      </a:lvl1pPr>
      <a:lvl2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200">
          <a:solidFill>
            <a:srgbClr val="FFFFFF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•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–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Char char="»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FD032D2-FF7C-499C-AC50-21247C69103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1E64045-30CB-47C2-B365-29A4A75DCD8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99974C-63DD-4ABC-B9B9-102C586453A3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0" y="188640"/>
            <a:ext cx="4572000" cy="883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CEP 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Project Title Finalization</a:t>
            </a: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ON</a:t>
            </a: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buFont typeface="Times New Roman" panose="02020603050405020304" pitchFamily="16" charset="0"/>
              <a:buNone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 “Interactive Campus Navigation Sysytem”</a:t>
            </a:r>
            <a:endParaRPr lang="en-IN" sz="8000" dirty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pic>
        <p:nvPicPr>
          <p:cNvPr id="6" name="Picture 5" descr="PCCOE&amp;R Logo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26208" y="1268760"/>
            <a:ext cx="129158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0" y="2420888"/>
            <a:ext cx="4572000" cy="2522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PRESENTED BY </a:t>
            </a: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Roll No SEB36 - Sangharsh Ghoble</a:t>
            </a:r>
            <a:endParaRPr lang="en-US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Roll No SEB24 - Varun Gaikwad</a:t>
            </a:r>
            <a:endParaRPr lang="en-US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Roll No SEB26 - Ojus Gandhewar</a:t>
            </a:r>
            <a:endParaRPr lang="en-US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Roll No SEB29 -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Gaurav Sakpale</a:t>
            </a:r>
            <a:endParaRPr lang="en-US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Roll No SEB-  Name of student</a:t>
            </a:r>
            <a:endParaRPr lang="en-US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100000"/>
              <a:buFont typeface="Times New Roman" panose="02020603050405020304" pitchFamily="16" charset="0"/>
              <a:buNone/>
              <a:defRPr/>
            </a:pPr>
            <a:r>
              <a:rPr lang="en-US" altLang="en-US" sz="1800" b="1" dirty="0" smtClean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Guided By:</a:t>
            </a:r>
            <a:endParaRPr lang="en-US" altLang="en-US" sz="1800" b="1" dirty="0" smtClean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100000"/>
              <a:buFont typeface="Times New Roman" panose="02020603050405020304" pitchFamily="16" charset="0"/>
              <a:buNone/>
              <a:defRPr/>
            </a:pPr>
            <a:r>
              <a:rPr lang="en-US" altLang="en-US" sz="1800" b="1" dirty="0" smtClean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Prof.Shrutika Menkudale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992" y="5157192"/>
            <a:ext cx="7858180" cy="1198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Academic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Year: 2025-2026</a:t>
            </a: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 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DEPARTMENT OF COMPUTER ENGINEERING</a:t>
            </a: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PIMPRI CHINCHWAD COLLEGE OF ENGINEERING &amp; RESEARCH 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PUNE</a:t>
            </a:r>
            <a:endParaRPr lang="en-US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2900" indent="-341630" algn="ctr" eaLnBrk="1" hangingPunct="1">
              <a:lnSpc>
                <a:spcPct val="90000"/>
              </a:lnSpc>
              <a:spcBef>
                <a:spcPts val="500"/>
              </a:spcBef>
              <a:buSzPct val="80000"/>
              <a:tabLst>
                <a:tab pos="912495" algn="l"/>
                <a:tab pos="1826895" algn="l"/>
                <a:tab pos="2741295" algn="l"/>
                <a:tab pos="3655695" algn="l"/>
                <a:tab pos="4570095" algn="l"/>
                <a:tab pos="5484495" algn="l"/>
                <a:tab pos="6398895" algn="l"/>
                <a:tab pos="7313295" algn="l"/>
                <a:tab pos="8227695" algn="l"/>
                <a:tab pos="9142095" algn="l"/>
                <a:tab pos="10056495" algn="l"/>
              </a:tabLst>
              <a:defRPr/>
            </a:pPr>
            <a:r>
              <a:rPr lang="en-US" sz="1400" b="1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(An Autonomous Institute)</a:t>
            </a:r>
            <a:endParaRPr lang="en-US" sz="1400" b="1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2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195263" y="228600"/>
            <a:ext cx="8015287" cy="628632"/>
          </a:xfrm>
          <a:prstGeom prst="rect">
            <a:avLst/>
          </a:prstGeom>
          <a:noFill/>
          <a:ln w="9525">
            <a:noFill/>
            <a:round/>
          </a:ln>
        </p:spPr>
        <p:txBody>
          <a:bodyPr anchor="ctr"/>
          <a:lstStyle/>
          <a:p>
            <a:pPr algn="just" eaLnBrk="1" hangingPunct="1">
              <a:lnSpc>
                <a:spcPct val="15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CONTENT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285750" y="1428735"/>
            <a:ext cx="7924800" cy="5000639"/>
          </a:xfrm>
          <a:prstGeom prst="rect">
            <a:avLst/>
          </a:prstGeom>
          <a:noFill/>
          <a:ln w="9525">
            <a:noFill/>
            <a:round/>
          </a:ln>
        </p:spPr>
        <p:txBody>
          <a:bodyPr/>
          <a:lstStyle/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Abstract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Introduction</a:t>
            </a:r>
            <a:endParaRPr lang="en-IN" sz="1800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Problem 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Statement 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Motivation(Any example from real time or social media)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Survey(Geo Tag photos or </a:t>
            </a: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any document)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Objectives(Min. 3)</a:t>
            </a:r>
            <a:endParaRPr lang="en-IN" sz="1800" dirty="0" smtClean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41630" indent="-341630" algn="justLow" eaLnBrk="1" hangingPunct="1">
              <a:lnSpc>
                <a:spcPct val="150000"/>
              </a:lnSpc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lang="en-IN"/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rou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lang="en-IN"/>
          </a:p>
        </p:txBody>
      </p:sp>
      <p:pic>
        <p:nvPicPr>
          <p:cNvPr id="8" name="Picture 7" descr="PCCOE&amp;R Logo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715272" y="285728"/>
            <a:ext cx="1160780" cy="8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99974C-63DD-4ABC-B9B9-102C586453A3}" type="slidenum">
              <a:rPr lang="en-US" smtClean="0"/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6" charset="0"/>
                <a:cs typeface="Times New Roman" panose="02020603050405020304" pitchFamily="16" charset="0"/>
              </a:rPr>
              <a:t>ABSTRACT</a:t>
            </a:r>
            <a:endParaRPr lang="en-US" sz="3200" b="1" dirty="0" smtClean="0"/>
          </a:p>
        </p:txBody>
      </p:sp>
      <p:pic>
        <p:nvPicPr>
          <p:cNvPr id="6" name="Picture 5" descr="PCCOE&amp;R Logo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715272" y="285728"/>
            <a:ext cx="1160780" cy="8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07695" y="1611630"/>
            <a:ext cx="8068310" cy="4448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IN" sz="2400">
                <a:solidFill>
                  <a:schemeClr val="tx1"/>
                </a:solidFill>
                <a:latin typeface="+mn-lt"/>
                <a:cs typeface="+mn-cs"/>
                <a:sym typeface="+mn-ea"/>
              </a:rPr>
              <a:t>MapMyCampus is a web-based interactive map application designed to solve campus navigation challenges using QR codes and responsive mapping.</a:t>
            </a:r>
            <a:endParaRPr lang="en-US" altLang="en-IN" sz="2400">
              <a:solidFill>
                <a:schemeClr val="tx1"/>
              </a:solidFill>
              <a:latin typeface="+mn-lt"/>
              <a:cs typeface="+mn-cs"/>
              <a:sym typeface="+mn-ea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IN" sz="2400">
              <a:solidFill>
                <a:schemeClr val="tx1"/>
              </a:solidFill>
              <a:latin typeface="+mn-lt"/>
              <a:cs typeface="+mn-cs"/>
              <a:sym typeface="+mn-ea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IN" sz="2400">
                <a:solidFill>
                  <a:schemeClr val="tx1"/>
                </a:solidFill>
                <a:latin typeface="+mn-lt"/>
                <a:cs typeface="+mn-cs"/>
                <a:sym typeface="+mn-ea"/>
              </a:rPr>
              <a:t>It allows users to scan location-specific QR codes placed around a campus, which open an online map, highlight the scanned location, and display relevant information.</a:t>
            </a:r>
            <a:endParaRPr lang="en-US" altLang="en-IN" sz="2400">
              <a:solidFill>
                <a:schemeClr val="tx1"/>
              </a:solidFill>
              <a:latin typeface="+mn-lt"/>
              <a:cs typeface="+mn-cs"/>
              <a:sym typeface="+mn-ea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IN" sz="2400">
              <a:solidFill>
                <a:schemeClr val="tx1"/>
              </a:solidFill>
              <a:latin typeface="+mn-lt"/>
              <a:cs typeface="+mn-cs"/>
              <a:sym typeface="+mn-ea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IN" sz="2400">
                <a:solidFill>
                  <a:schemeClr val="tx1"/>
                </a:solidFill>
                <a:latin typeface="+mn-lt"/>
                <a:cs typeface="+mn-cs"/>
                <a:sym typeface="+mn-ea"/>
              </a:rPr>
              <a:t>Built with HTML, CSS, Javascript, and SVG, this system improves campus navigation, reduces confusion, and supports digital infrastructure initiatives.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6" charset="0"/>
                <a:cs typeface="Times New Roman" panose="02020603050405020304" pitchFamily="16" charset="0"/>
              </a:rPr>
              <a:t>INTRODUCTION</a:t>
            </a:r>
            <a:endParaRPr lang="en-IN" sz="3200" b="1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N" sz="2400"/>
              <a:t>Traditional campus maps are often printed, static, and difficult to update.</a:t>
            </a:r>
            <a:endParaRPr lang="en-US" altLang="en-IN" sz="2400"/>
          </a:p>
          <a:p>
            <a:pPr marL="0" indent="0">
              <a:buNone/>
            </a:pPr>
            <a:endParaRPr lang="en-US" altLang="en-IN" sz="2400"/>
          </a:p>
          <a:p>
            <a:r>
              <a:rPr lang="en-US" altLang="en-IN" sz="2400"/>
              <a:t>Visitors and new students frequently face difficulties in navigating large campus.</a:t>
            </a:r>
            <a:endParaRPr lang="en-US" altLang="en-IN" sz="2400"/>
          </a:p>
          <a:p>
            <a:pPr marL="0" indent="0">
              <a:buNone/>
            </a:pPr>
            <a:endParaRPr lang="en-US" altLang="en-IN" sz="2400"/>
          </a:p>
          <a:p>
            <a:r>
              <a:rPr lang="en-US" altLang="en-IN" sz="2400"/>
              <a:t>With increasing expectations for digital accessibility, MapMyCampus addresses this issue by offering an interactive and responsive map that can be accessed from mobile devices and desktop browsers, enabling a smoother user experience. </a:t>
            </a:r>
            <a:endParaRPr lang="en-US" altLang="en-IN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IN" sz="2800" b="1" dirty="0" smtClean="0">
                <a:latin typeface="Times New Roman" panose="02020603050405020304" pitchFamily="16" charset="0"/>
                <a:cs typeface="Times New Roman" panose="02020603050405020304" pitchFamily="16" charset="0"/>
              </a:rPr>
              <a:t>PROBLEM </a:t>
            </a:r>
            <a:r>
              <a:rPr lang="en-IN" sz="2800" b="1" dirty="0" smtClean="0">
                <a:latin typeface="Times New Roman" panose="02020603050405020304" pitchFamily="16" charset="0"/>
                <a:cs typeface="Times New Roman" panose="02020603050405020304" pitchFamily="16" charset="0"/>
              </a:rPr>
              <a:t>STATEMENT</a:t>
            </a:r>
            <a:endParaRPr lang="en-IN" sz="2800" b="1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11267" name="Content Placeholder 1"/>
          <p:cNvSpPr>
            <a:spLocks noGrp="1"/>
          </p:cNvSpPr>
          <p:nvPr>
            <p:ph idx="1"/>
          </p:nvPr>
        </p:nvSpPr>
        <p:spPr>
          <a:xfrm>
            <a:off x="500063" y="1214438"/>
            <a:ext cx="8229600" cy="4525962"/>
          </a:xfrm>
        </p:spPr>
        <p:txBody>
          <a:bodyPr/>
          <a:lstStyle/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en-US" altLang="en-IN" sz="2400"/>
              <a:t>Many institutions lack smart, real-time navigation solutions.</a:t>
            </a:r>
            <a:endParaRPr lang="en-US" altLang="en-IN" sz="2400"/>
          </a:p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r>
              <a:rPr lang="en-US" altLang="en-IN" sz="2400"/>
              <a:t>Common problems include:</a:t>
            </a:r>
            <a:endParaRPr lang="en-US" altLang="en-IN" sz="2400"/>
          </a:p>
          <a:p>
            <a:pPr marL="452120" algn="just" eaLnBrk="1" hangingPunct="1">
              <a:lnSpc>
                <a:spcPct val="150000"/>
              </a:lnSpc>
            </a:pPr>
            <a:r>
              <a:rPr lang="en-US" altLang="en-IN" sz="2400"/>
              <a:t>Navigational Confusion for new students and visitors.</a:t>
            </a:r>
            <a:endParaRPr lang="en-US" altLang="en-IN" sz="2400"/>
          </a:p>
          <a:p>
            <a:pPr marL="452120" algn="just" eaLnBrk="1" hangingPunct="1">
              <a:lnSpc>
                <a:spcPct val="150000"/>
              </a:lnSpc>
            </a:pPr>
            <a:r>
              <a:rPr lang="en-US" altLang="en-IN" sz="2400"/>
              <a:t>Time wasted in locating departments, rooms, or building.</a:t>
            </a:r>
            <a:endParaRPr lang="en-US" altLang="en-IN" sz="2400"/>
          </a:p>
          <a:p>
            <a:pPr marL="452120" algn="just" eaLnBrk="1" hangingPunct="1">
              <a:lnSpc>
                <a:spcPct val="150000"/>
              </a:lnSpc>
            </a:pPr>
            <a:r>
              <a:rPr lang="en-US" altLang="en-IN" sz="2400"/>
              <a:t>Absence of  a centralized, accessible digital map.</a:t>
            </a:r>
            <a:endParaRPr lang="en-US" altLang="en-IN" sz="2400"/>
          </a:p>
          <a:p>
            <a:pPr marL="452120" algn="just" eaLnBrk="1" hangingPunct="1">
              <a:lnSpc>
                <a:spcPct val="150000"/>
              </a:lnSpc>
            </a:pPr>
            <a:r>
              <a:rPr lang="en-US" altLang="en-IN" sz="2400"/>
              <a:t>Reliance on outdated signboards or printed material.</a:t>
            </a:r>
            <a:endParaRPr lang="en-US" altLang="en-IN" sz="2400"/>
          </a:p>
          <a:p>
            <a:pPr marL="452120" algn="just" eaLnBrk="1" hangingPunct="1">
              <a:lnSpc>
                <a:spcPct val="150000"/>
              </a:lnSpc>
            </a:pPr>
            <a:r>
              <a:rPr lang="en-US" altLang="en-IN" sz="2400"/>
              <a:t>No integrated of QR or dynamic wayfinding technologies.</a:t>
            </a:r>
            <a:endParaRPr lang="en-US" altLang="en-IN" sz="2400"/>
          </a:p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endParaRPr lang="en-US" sz="1700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endParaRPr lang="en-IN" sz="2800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endParaRPr lang="en-US" sz="2800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65125" indent="-255905" algn="just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endParaRPr lang="en-US" b="1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marL="365125" indent="-255905" algn="justLow" eaLnBrk="1" hangingPunct="1">
              <a:lnSpc>
                <a:spcPct val="150000"/>
              </a:lnSpc>
              <a:buFont typeface="Wingdings 3" panose="05040102010807070707" pitchFamily="18" charset="2"/>
              <a:buNone/>
            </a:pPr>
            <a:endParaRPr lang="en-IN" b="1" dirty="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pic>
        <p:nvPicPr>
          <p:cNvPr id="6" name="Picture 5" descr="PCCOE&amp;R Logo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715272" y="285728"/>
            <a:ext cx="1160780" cy="8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1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12974"/>
          </a:xfrm>
        </p:spPr>
        <p:txBody>
          <a:bodyPr/>
          <a:lstStyle/>
          <a:p>
            <a:pPr marL="341630" indent="-341630" eaLnBrk="1" hangingPunct="1">
              <a:lnSpc>
                <a:spcPct val="150000"/>
              </a:lnSpc>
              <a:spcBef>
                <a:spcPts val="8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Motivation</a:t>
            </a:r>
            <a:br>
              <a:rPr lang="en-IN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</a:br>
            <a:endParaRPr lang="en-IN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165860"/>
            <a:ext cx="8229600" cy="4525963"/>
          </a:xfrm>
        </p:spPr>
        <p:txBody>
          <a:bodyPr/>
          <a:lstStyle/>
          <a:p>
            <a:pPr algn="l"/>
            <a:r>
              <a:rPr lang="en-US" altLang="en-IN" sz="2400"/>
              <a:t>Real-Life Scenario:</a:t>
            </a:r>
            <a:endParaRPr lang="en-US" altLang="en-IN" sz="2400"/>
          </a:p>
          <a:p>
            <a:pPr marL="0" indent="457200" algn="l">
              <a:buNone/>
            </a:pPr>
            <a:r>
              <a:rPr lang="en-US" altLang="en-IN" sz="2400"/>
              <a:t>During campus events or orientation, students frequently report being late or lost due to lack of clear directions.</a:t>
            </a:r>
            <a:endParaRPr lang="en-US" altLang="en-IN" sz="2400"/>
          </a:p>
          <a:p>
            <a:pPr marL="0" indent="457200" algn="l">
              <a:buNone/>
            </a:pPr>
            <a:endParaRPr lang="en-US" altLang="en-IN" sz="2400"/>
          </a:p>
          <a:p>
            <a:pPr algn="l">
              <a:buClrTx/>
              <a:buSzTx/>
            </a:pPr>
            <a:r>
              <a:rPr lang="en-US" altLang="en-IN" sz="2400"/>
              <a:t>Technological Inspiration:</a:t>
            </a:r>
            <a:endParaRPr lang="en-US" altLang="en-IN" sz="2400"/>
          </a:p>
          <a:p>
            <a:pPr marL="0" indent="457200" algn="l">
              <a:buClrTx/>
              <a:buSzTx/>
              <a:buNone/>
            </a:pPr>
            <a:r>
              <a:rPr lang="en-US" altLang="en-IN" sz="2400"/>
              <a:t>Inspired by smart city applications and museum navigation systems, MapMyCampus integrates modern web technologies and QR code interaction to provide instant, location-specific navigation support.</a:t>
            </a:r>
            <a:endParaRPr lang="en-US" altLang="en-IN" sz="2400"/>
          </a:p>
          <a:p>
            <a:pPr marL="457200" lvl="1" indent="457200" algn="l">
              <a:buNone/>
            </a:pPr>
            <a:endParaRPr lang="en-US" alt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1630" indent="-341630" eaLnBrk="1" hangingPunct="1">
              <a:lnSpc>
                <a:spcPct val="150000"/>
              </a:lnSpc>
              <a:spcBef>
                <a:spcPts val="8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Survey</a:t>
            </a:r>
            <a:br>
              <a:rPr lang="en-IN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en-IN" sz="2400"/>
              <a:t>Design a mobile-friendly, interactive campus map.</a:t>
            </a:r>
            <a:endParaRPr lang="en-US" altLang="en-IN" sz="2400"/>
          </a:p>
          <a:p>
            <a:pPr marL="514350" indent="-514350">
              <a:buAutoNum type="arabicPeriod"/>
            </a:pPr>
            <a:r>
              <a:rPr lang="en-US" altLang="en-IN" sz="2400"/>
              <a:t>Use SVG/image-based maps with clickable areas.</a:t>
            </a:r>
            <a:endParaRPr lang="en-US" altLang="en-IN" sz="2400"/>
          </a:p>
          <a:p>
            <a:pPr marL="514350" indent="-514350">
              <a:buAutoNum type="arabicPeriod"/>
            </a:pPr>
            <a:r>
              <a:rPr lang="en-US" altLang="en-IN" sz="2400"/>
              <a:t>Integrate QR codes for direct location access.</a:t>
            </a:r>
            <a:endParaRPr lang="en-US" altLang="en-IN" sz="2400"/>
          </a:p>
          <a:p>
            <a:pPr marL="514350" indent="-514350">
              <a:buAutoNum type="arabicPeriod"/>
            </a:pPr>
            <a:r>
              <a:rPr lang="en-US" altLang="en-IN" sz="2400"/>
              <a:t>Build a scalable MVP suitable for educational and organizational campuses.</a:t>
            </a:r>
            <a:endParaRPr lang="en-US" altLang="en-IN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IN" sz="5400" smtClean="0">
                <a:latin typeface="Times New Roman" panose="02020603050405020304" pitchFamily="16" charset="0"/>
                <a:cs typeface="Times New Roman" panose="02020603050405020304" pitchFamily="16" charset="0"/>
              </a:rPr>
              <a:t>	</a:t>
            </a:r>
            <a:endParaRPr lang="en-IN" sz="540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pPr eaLnBrk="1" hangingPunct="1">
              <a:buFont typeface="Wingdings 3" panose="05040102010807070707" pitchFamily="18" charset="2"/>
              <a:buNone/>
            </a:pPr>
            <a:endParaRPr lang="en-IN" sz="5400" smtClean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00298" y="2857496"/>
            <a:ext cx="4346383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r>
              <a:rPr lang="en-US" sz="54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THANK YOU</a:t>
            </a:r>
            <a:endParaRPr lang="en-IN" sz="54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143104-7D1B-456A-AB0C-EEDF9EFBBF69}" type="slidenum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Computer Engineering Department,PCCOER.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2729</Words>
  <Application>WPS Presentation</Application>
  <PresentationFormat>On-screen Show (4:3)</PresentationFormat>
  <Paragraphs>117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Arial Black</vt:lpstr>
      <vt:lpstr>Calibri</vt:lpstr>
      <vt:lpstr>Wingdings 3</vt:lpstr>
      <vt:lpstr>Microsoft YaHei</vt:lpstr>
      <vt:lpstr>Arial Unicode MS</vt:lpstr>
      <vt:lpstr>Office Theme</vt:lpstr>
      <vt:lpstr>1_Office Theme</vt:lpstr>
      <vt:lpstr>2_Office Theme</vt:lpstr>
      <vt:lpstr>3_Office Theme</vt:lpstr>
      <vt:lpstr>4_Office Theme</vt:lpstr>
      <vt:lpstr>PowerPoint 演示文稿</vt:lpstr>
      <vt:lpstr>PowerPoint 演示文稿</vt:lpstr>
      <vt:lpstr>ABSTRACT</vt:lpstr>
      <vt:lpstr>INTRODUCTION</vt:lpstr>
      <vt:lpstr>PROBLEM STATEMENT</vt:lpstr>
      <vt:lpstr>Motivation </vt:lpstr>
      <vt:lpstr>Survey </vt:lpstr>
      <vt:lpstr>Objectives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Tracking and Control</dc:title>
  <dc:creator>anand</dc:creator>
  <cp:lastModifiedBy>Sangharsh Ghoble</cp:lastModifiedBy>
  <cp:revision>304</cp:revision>
  <cp:lastPrinted>2113-01-01T00:00:00Z</cp:lastPrinted>
  <dcterms:created xsi:type="dcterms:W3CDTF">2010-08-15T13:03:00Z</dcterms:created>
  <dcterms:modified xsi:type="dcterms:W3CDTF">2025-07-14T17:33:29Z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58B01E503688413ABF8DA7EF785A54A9_12</vt:lpwstr>
  </property>
  <property fmtid="{D5CDD505-2E9C-101B-9397-08002B2CF9AE}" pid="3" name="KSOProductBuildVer">
    <vt:lpwstr>1033-12.2.0.21931</vt:lpwstr>
  </property>
</Properties>
</file>