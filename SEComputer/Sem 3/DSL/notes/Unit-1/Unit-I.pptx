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7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78"/>
      <p:bold r:id="rId79"/>
      <p:italic r:id="rId80"/>
      <p:boldItalic r:id="rId81"/>
    </p:embeddedFont>
    <p:embeddedFont>
      <p:font typeface="Lucida Sans" panose="020B0602030504020204" pitchFamily="34" charset="0"/>
      <p:regular r:id="rId82"/>
      <p:bold r:id="rId83"/>
      <p:italic r:id="rId84"/>
      <p:boldItalic r:id="rId85"/>
    </p:embeddedFont>
    <p:embeddedFont>
      <p:font typeface="Trebuchet MS" panose="020B0603020202020204" pitchFamily="34" charset="0"/>
      <p:regular r:id="rId86"/>
      <p:bold r:id="rId87"/>
      <p:italic r:id="rId88"/>
      <p:boldItalic r:id="rId89"/>
    </p:embeddedFont>
    <p:embeddedFont>
      <p:font typeface="Helvetica Neue" panose="020B0604020202020204" charset="0"/>
      <p:regular r:id="rId90"/>
      <p:bold r:id="rId91"/>
      <p:italic r:id="rId92"/>
      <p:boldItalic r:id="rId9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27" roundtripDataSignature="AMtx7midFvVDI2eWOip9yVvvBshdZbXg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FAB4F13-66EA-40C8-B0AE-D7A7D81EF6A0}">
  <a:tblStyle styleId="{7FAB4F13-66EA-40C8-B0AE-D7A7D81EF6A0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866EC9DD-BF21-4537-8E55-7AD9260ED04E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153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font" Target="fonts/font7.fntdata"/><Relationship Id="rId89" Type="http://schemas.openxmlformats.org/officeDocument/2006/relationships/font" Target="fonts/font12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font" Target="fonts/font1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font" Target="fonts/font2.fntdata"/><Relationship Id="rId87" Type="http://schemas.openxmlformats.org/officeDocument/2006/relationships/font" Target="fonts/font10.fntdata"/><Relationship Id="rId128" Type="http://schemas.openxmlformats.org/officeDocument/2006/relationships/presProps" Target="presProps.xml"/><Relationship Id="rId131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font" Target="fonts/font5.fntdata"/><Relationship Id="rId90" Type="http://schemas.openxmlformats.org/officeDocument/2006/relationships/font" Target="fonts/font13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font" Target="fonts/font3.fntdata"/><Relationship Id="rId85" Type="http://schemas.openxmlformats.org/officeDocument/2006/relationships/font" Target="fonts/font8.fntdata"/><Relationship Id="rId93" Type="http://schemas.openxmlformats.org/officeDocument/2006/relationships/font" Target="fonts/font16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2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font" Target="fonts/font6.fntdata"/><Relationship Id="rId88" Type="http://schemas.openxmlformats.org/officeDocument/2006/relationships/font" Target="fonts/font11.fntdata"/><Relationship Id="rId91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27" Type="http://customschemas.google.com/relationships/presentationmetadata" Target="meta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font" Target="fonts/font1.fntdata"/><Relationship Id="rId81" Type="http://schemas.openxmlformats.org/officeDocument/2006/relationships/font" Target="fonts/font4.fntdata"/><Relationship Id="rId86" Type="http://schemas.openxmlformats.org/officeDocument/2006/relationships/font" Target="fonts/font9.fntdata"/><Relationship Id="rId13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0" name="Google Shape;100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3" name="Google Shape;11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2" name="Google Shape;13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8" name="Google Shape;13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5" name="Google Shape;14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1" name="Google Shape;15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3" name="Google Shape;16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5" name="Google Shape;23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2" name="Google Shape;24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7" name="Google Shape;24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4" name="Google Shape;25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0" name="Google Shape;26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6" name="Google Shape;26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2" name="Google Shape;27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8" name="Google Shape;27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7" name="Google Shape;28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5" name="Google Shape;31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7" name="Google Shape;37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4" name="Google Shape;38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3" name="Google Shape;39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2" name="Google Shape;402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9" name="Google Shape;40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8" name="Google Shape;418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4" name="Google Shape;42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2" name="Google Shape;432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8" name="Google Shape;438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6" name="Google Shape;446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2" name="Google Shape;452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0" name="Google Shape;460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6" name="Google Shape;466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2" name="Google Shape;472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8" name="Google Shape;478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0" name="Google Shape;490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00" name="Google Shape;500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06" name="Google Shape;506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14" name="Google Shape;514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1" name="Google Shape;521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8" name="Google Shape;528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36" name="Google Shape;536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45" name="Google Shape;545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52" name="Google Shape;552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1" name="Google Shape;561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9" name="Google Shape;569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78" name="Google Shape;578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87" name="Google Shape;587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600" name="Google Shape;600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607" name="Google Shape;607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614" name="Google Shape;614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620" name="Google Shape;620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626" name="Google Shape;626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ec53480ff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1" name="Google Shape;631;gec53480ff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32" name="Google Shape;632;gec53480ff4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53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ec53480ff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8" name="Google Shape;638;gec53480ff4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39" name="Google Shape;639;gec53480ff4_0_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54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ec53480ff4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5" name="Google Shape;645;gec53480ff4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46" name="Google Shape;646;gec53480ff4_0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55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ec53480ff4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2" name="Google Shape;652;gec53480ff4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53" name="Google Shape;653;gec53480ff4_0_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56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ea244d44b0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59" name="Google Shape;659;gea244d44b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gea244d44b0_0_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6" name="Google Shape;666;gea244d44b0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ea244d44b0_0_1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78" name="Google Shape;678;gea244d44b0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ec88d3701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1" name="Google Shape;691;gec88d3701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92" name="Google Shape;692;gec88d3701f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60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9" name="Google Shape;699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5" name="Google Shape;705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1" name="Google Shape;711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" name="Google Shape;719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2" name="Google Shape;762;p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8" name="Google Shape;768;p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Google Shape;1637;ged395dddf3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8" name="Google Shape;1638;ged395dddf3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39" name="Google Shape;1639;ged395dddf3_0_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68</a:t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5" name="Google Shape;1645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6" name="Google Shape;1646;p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47" name="Google Shape;1647;p5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69</a:t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4" name="Google Shape;1654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5" name="Google Shape;1655;p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56" name="Google Shape;1656;p5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70</a:t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3" name="Google Shape;1663;p57:notes"/>
          <p:cNvSpPr/>
          <p:nvPr/>
        </p:nvSpPr>
        <p:spPr>
          <a:xfrm>
            <a:off x="4164013" y="0"/>
            <a:ext cx="31845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4" name="Google Shape;1664;p57:notes"/>
          <p:cNvSpPr/>
          <p:nvPr/>
        </p:nvSpPr>
        <p:spPr>
          <a:xfrm>
            <a:off x="4164013" y="8686800"/>
            <a:ext cx="31845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5" name="Google Shape;1665;p57:notes"/>
          <p:cNvSpPr/>
          <p:nvPr/>
        </p:nvSpPr>
        <p:spPr>
          <a:xfrm>
            <a:off x="0" y="8686800"/>
            <a:ext cx="31845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6" name="Google Shape;1666;p57:notes"/>
          <p:cNvSpPr/>
          <p:nvPr/>
        </p:nvSpPr>
        <p:spPr>
          <a:xfrm>
            <a:off x="0" y="0"/>
            <a:ext cx="31845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7" name="Google Shape;1667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8" y="692150"/>
            <a:ext cx="4556125" cy="3416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68" name="Google Shape;1668;p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7" name="Google Shape;1677;p58:notes"/>
          <p:cNvSpPr/>
          <p:nvPr/>
        </p:nvSpPr>
        <p:spPr>
          <a:xfrm>
            <a:off x="4164013" y="0"/>
            <a:ext cx="31845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8" name="Google Shape;1678;p58:notes"/>
          <p:cNvSpPr/>
          <p:nvPr/>
        </p:nvSpPr>
        <p:spPr>
          <a:xfrm>
            <a:off x="4164013" y="8686800"/>
            <a:ext cx="31845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9" name="Google Shape;1679;p58:notes"/>
          <p:cNvSpPr/>
          <p:nvPr/>
        </p:nvSpPr>
        <p:spPr>
          <a:xfrm>
            <a:off x="0" y="8686800"/>
            <a:ext cx="31845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0" name="Google Shape;1680;p58:notes"/>
          <p:cNvSpPr/>
          <p:nvPr/>
        </p:nvSpPr>
        <p:spPr>
          <a:xfrm>
            <a:off x="0" y="0"/>
            <a:ext cx="31845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1" name="Google Shape;1681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8" y="692150"/>
            <a:ext cx="4556125" cy="3416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82" name="Google Shape;1682;p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1" name="Google Shape;1691;p72:notes"/>
          <p:cNvSpPr/>
          <p:nvPr/>
        </p:nvSpPr>
        <p:spPr>
          <a:xfrm>
            <a:off x="4164013" y="0"/>
            <a:ext cx="31845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2" name="Google Shape;1692;p72:notes"/>
          <p:cNvSpPr/>
          <p:nvPr/>
        </p:nvSpPr>
        <p:spPr>
          <a:xfrm>
            <a:off x="4164013" y="8686800"/>
            <a:ext cx="31845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3" name="Google Shape;1693;p72:notes"/>
          <p:cNvSpPr/>
          <p:nvPr/>
        </p:nvSpPr>
        <p:spPr>
          <a:xfrm>
            <a:off x="0" y="8686800"/>
            <a:ext cx="31845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4" name="Google Shape;1694;p72:notes"/>
          <p:cNvSpPr/>
          <p:nvPr/>
        </p:nvSpPr>
        <p:spPr>
          <a:xfrm>
            <a:off x="0" y="0"/>
            <a:ext cx="31845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5" name="Google Shape;1695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8" y="692150"/>
            <a:ext cx="4556125" cy="3416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96" name="Google Shape;1696;p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3" name="Google Shape;1733;p73:notes"/>
          <p:cNvSpPr/>
          <p:nvPr/>
        </p:nvSpPr>
        <p:spPr>
          <a:xfrm>
            <a:off x="4164013" y="0"/>
            <a:ext cx="31845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4" name="Google Shape;1734;p73:notes"/>
          <p:cNvSpPr/>
          <p:nvPr/>
        </p:nvSpPr>
        <p:spPr>
          <a:xfrm>
            <a:off x="4164013" y="8686800"/>
            <a:ext cx="31845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5" name="Google Shape;1735;p73:notes"/>
          <p:cNvSpPr/>
          <p:nvPr/>
        </p:nvSpPr>
        <p:spPr>
          <a:xfrm>
            <a:off x="0" y="8686800"/>
            <a:ext cx="31845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6" name="Google Shape;1736;p73:notes"/>
          <p:cNvSpPr/>
          <p:nvPr/>
        </p:nvSpPr>
        <p:spPr>
          <a:xfrm>
            <a:off x="0" y="0"/>
            <a:ext cx="31845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7" name="Google Shape;1737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8" y="692150"/>
            <a:ext cx="4556125" cy="3416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8" name="Google Shape;1738;p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3" name="Google Shape;1773;p74:notes"/>
          <p:cNvSpPr/>
          <p:nvPr/>
        </p:nvSpPr>
        <p:spPr>
          <a:xfrm>
            <a:off x="4164013" y="0"/>
            <a:ext cx="31845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4" name="Google Shape;1774;p74:notes"/>
          <p:cNvSpPr/>
          <p:nvPr/>
        </p:nvSpPr>
        <p:spPr>
          <a:xfrm>
            <a:off x="4164013" y="8686800"/>
            <a:ext cx="31845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5" name="Google Shape;1775;p74:notes"/>
          <p:cNvSpPr/>
          <p:nvPr/>
        </p:nvSpPr>
        <p:spPr>
          <a:xfrm>
            <a:off x="0" y="8686800"/>
            <a:ext cx="31845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6" name="Google Shape;1776;p74:notes"/>
          <p:cNvSpPr/>
          <p:nvPr/>
        </p:nvSpPr>
        <p:spPr>
          <a:xfrm>
            <a:off x="0" y="0"/>
            <a:ext cx="31845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7" name="Google Shape;1777;p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0938" y="692150"/>
            <a:ext cx="4556125" cy="3416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78" name="Google Shape;1778;p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0"/>
          <p:cNvSpPr txBox="1">
            <a:spLocks noGrp="1"/>
          </p:cNvSpPr>
          <p:nvPr>
            <p:ph type="title"/>
          </p:nvPr>
        </p:nvSpPr>
        <p:spPr>
          <a:xfrm>
            <a:off x="0" y="200177"/>
            <a:ext cx="9144000" cy="775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800"/>
              <a:buFont typeface="Calibri"/>
              <a:buNone/>
              <a:defRPr sz="4800" b="1">
                <a:solidFill>
                  <a:srgbClr val="59595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60"/>
          <p:cNvSpPr/>
          <p:nvPr/>
        </p:nvSpPr>
        <p:spPr>
          <a:xfrm>
            <a:off x="0" y="6597352"/>
            <a:ext cx="9144000" cy="26064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60"/>
          <p:cNvSpPr txBox="1">
            <a:spLocks noGrp="1"/>
          </p:cNvSpPr>
          <p:nvPr>
            <p:ph type="body" idx="1"/>
          </p:nvPr>
        </p:nvSpPr>
        <p:spPr>
          <a:xfrm>
            <a:off x="0" y="1005383"/>
            <a:ext cx="9144000" cy="419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Calibri"/>
              <a:buNone/>
              <a:defRPr sz="2400" b="0">
                <a:solidFill>
                  <a:srgbClr val="595959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1"/>
          <p:cNvSpPr txBox="1">
            <a:spLocks noGrp="1"/>
          </p:cNvSpPr>
          <p:nvPr>
            <p:ph type="title"/>
          </p:nvPr>
        </p:nvSpPr>
        <p:spPr>
          <a:xfrm>
            <a:off x="1143000" y="0"/>
            <a:ext cx="8001000" cy="1143000"/>
          </a:xfrm>
          <a:prstGeom prst="rect">
            <a:avLst/>
          </a:prstGeom>
          <a:solidFill>
            <a:srgbClr val="538CD5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61"/>
          <p:cNvSpPr txBox="1">
            <a:spLocks noGrp="1"/>
          </p:cNvSpPr>
          <p:nvPr>
            <p:ph type="body" idx="1"/>
          </p:nvPr>
        </p:nvSpPr>
        <p:spPr>
          <a:xfrm>
            <a:off x="457200" y="1295400"/>
            <a:ext cx="8229600" cy="4830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6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6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25" name="Google Shape;25;p61" descr="PCET_Logo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6658"/>
            <a:ext cx="1142999" cy="10803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object on top, text on bottom" type="objOverTx">
  <p:cSld name="OBJECT_OVER_TEX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ea244d44b0_0_75"/>
          <p:cNvSpPr txBox="1">
            <a:spLocks noGrp="1"/>
          </p:cNvSpPr>
          <p:nvPr>
            <p:ph type="dt" idx="10"/>
          </p:nvPr>
        </p:nvSpPr>
        <p:spPr>
          <a:xfrm>
            <a:off x="1173162" y="626586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gea244d44b0_0_75"/>
          <p:cNvSpPr txBox="1">
            <a:spLocks noGrp="1"/>
          </p:cNvSpPr>
          <p:nvPr>
            <p:ph type="ftr" idx="11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gea244d44b0_0_75"/>
          <p:cNvSpPr txBox="1">
            <a:spLocks noGrp="1"/>
          </p:cNvSpPr>
          <p:nvPr>
            <p:ph type="sldNum" idx="12"/>
          </p:nvPr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6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9" name="Google Shape;59;p6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6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6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6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5" name="Google Shape;65;p6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66" name="Google Shape;66;p6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7" name="Google Shape;67;p6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68" name="Google Shape;68;p6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6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6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8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68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4" name="Google Shape;74;p68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5" name="Google Shape;75;p6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6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6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9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69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69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2" name="Google Shape;82;p6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6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6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7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70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7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7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7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1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71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4" name="Google Shape;94;p7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7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7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5"/>
          <p:cNvSpPr txBox="1">
            <a:spLocks noGrp="1"/>
          </p:cNvSpPr>
          <p:nvPr>
            <p:ph type="body" idx="1"/>
          </p:nvPr>
        </p:nvSpPr>
        <p:spPr>
          <a:xfrm>
            <a:off x="381000" y="1371600"/>
            <a:ext cx="4210050" cy="4760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  <a:defRPr sz="28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  <a:defRPr sz="24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0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  <a:defRPr sz="18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»"/>
              <a:defRPr sz="18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18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18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18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1800"/>
            </a:lvl9pPr>
          </a:lstStyle>
          <a:p>
            <a:endParaRPr/>
          </a:p>
        </p:txBody>
      </p:sp>
      <p:sp>
        <p:nvSpPr>
          <p:cNvPr id="54" name="Google Shape;54;p85"/>
          <p:cNvSpPr txBox="1">
            <a:spLocks noGrp="1"/>
          </p:cNvSpPr>
          <p:nvPr>
            <p:ph type="body" idx="2"/>
          </p:nvPr>
        </p:nvSpPr>
        <p:spPr>
          <a:xfrm>
            <a:off x="4743450" y="1371600"/>
            <a:ext cx="4211638" cy="4760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  <a:defRPr sz="28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  <a:defRPr sz="24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0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  <a:defRPr sz="18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»"/>
              <a:defRPr sz="18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18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18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18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1800"/>
            </a:lvl9pPr>
          </a:lstStyle>
          <a:p>
            <a:endParaRPr/>
          </a:p>
        </p:txBody>
      </p:sp>
      <p:sp>
        <p:nvSpPr>
          <p:cNvPr id="55" name="Google Shape;55;p8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5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about:blank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26" Type="http://schemas.openxmlformats.org/officeDocument/2006/relationships/image" Target="../media/image36.png"/><Relationship Id="rId3" Type="http://schemas.openxmlformats.org/officeDocument/2006/relationships/image" Target="../media/image13.png"/><Relationship Id="rId21" Type="http://schemas.openxmlformats.org/officeDocument/2006/relationships/image" Target="../media/image31.png"/><Relationship Id="rId34" Type="http://schemas.openxmlformats.org/officeDocument/2006/relationships/image" Target="../media/image44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5" Type="http://schemas.openxmlformats.org/officeDocument/2006/relationships/image" Target="../media/image35.png"/><Relationship Id="rId33" Type="http://schemas.openxmlformats.org/officeDocument/2006/relationships/image" Target="../media/image43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26.png"/><Relationship Id="rId20" Type="http://schemas.openxmlformats.org/officeDocument/2006/relationships/image" Target="../media/image30.png"/><Relationship Id="rId29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24" Type="http://schemas.openxmlformats.org/officeDocument/2006/relationships/image" Target="../media/image34.png"/><Relationship Id="rId32" Type="http://schemas.openxmlformats.org/officeDocument/2006/relationships/image" Target="../media/image42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23" Type="http://schemas.openxmlformats.org/officeDocument/2006/relationships/image" Target="../media/image33.png"/><Relationship Id="rId28" Type="http://schemas.openxmlformats.org/officeDocument/2006/relationships/image" Target="../media/image38.png"/><Relationship Id="rId10" Type="http://schemas.openxmlformats.org/officeDocument/2006/relationships/image" Target="../media/image20.png"/><Relationship Id="rId19" Type="http://schemas.openxmlformats.org/officeDocument/2006/relationships/image" Target="../media/image29.png"/><Relationship Id="rId31" Type="http://schemas.openxmlformats.org/officeDocument/2006/relationships/image" Target="../media/image41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Relationship Id="rId22" Type="http://schemas.openxmlformats.org/officeDocument/2006/relationships/image" Target="../media/image32.png"/><Relationship Id="rId27" Type="http://schemas.openxmlformats.org/officeDocument/2006/relationships/image" Target="../media/image37.png"/><Relationship Id="rId30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4.jpe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2.jpe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6.jpeg"/><Relationship Id="rId5" Type="http://schemas.openxmlformats.org/officeDocument/2006/relationships/image" Target="../media/image85.jpeg"/><Relationship Id="rId4" Type="http://schemas.openxmlformats.org/officeDocument/2006/relationships/image" Target="../media/image84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jpeg"/><Relationship Id="rId3" Type="http://schemas.openxmlformats.org/officeDocument/2006/relationships/image" Target="../media/image87.png"/><Relationship Id="rId7" Type="http://schemas.openxmlformats.org/officeDocument/2006/relationships/image" Target="../media/image82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88.png"/><Relationship Id="rId9" Type="http://schemas.openxmlformats.org/officeDocument/2006/relationships/image" Target="../media/image74.jpe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jpe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jpe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6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"/>
          <p:cNvSpPr/>
          <p:nvPr/>
        </p:nvSpPr>
        <p:spPr>
          <a:xfrm>
            <a:off x="2413000" y="3810000"/>
            <a:ext cx="4445000" cy="1143000"/>
          </a:xfrm>
          <a:prstGeom prst="roundRect">
            <a:avLst>
              <a:gd name="adj" fmla="val 16667"/>
            </a:avLst>
          </a:prstGeom>
          <a:solidFill>
            <a:srgbClr val="4F6128"/>
          </a:solidFill>
          <a:ln w="25400" cap="flat" cmpd="sng">
            <a:solidFill>
              <a:srgbClr val="6324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"/>
          <p:cNvSpPr/>
          <p:nvPr/>
        </p:nvSpPr>
        <p:spPr>
          <a:xfrm>
            <a:off x="2476500" y="3886200"/>
            <a:ext cx="4381500" cy="9906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"/>
          <p:cNvSpPr txBox="1">
            <a:spLocks noGrp="1"/>
          </p:cNvSpPr>
          <p:nvPr>
            <p:ph type="ctrTitle" idx="4294967295"/>
          </p:nvPr>
        </p:nvSpPr>
        <p:spPr>
          <a:xfrm>
            <a:off x="0" y="1524000"/>
            <a:ext cx="9144000" cy="838200"/>
          </a:xfrm>
          <a:prstGeom prst="rect">
            <a:avLst/>
          </a:prstGeom>
          <a:noFill/>
          <a:ln>
            <a:noFill/>
          </a:ln>
          <a:effectLst>
            <a:outerShdw blurRad="149987" dist="250190" dir="8460000" algn="ctr">
              <a:srgbClr val="000000">
                <a:alpha val="2549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75E"/>
              </a:buClr>
              <a:buSzPct val="100000"/>
              <a:buFont typeface="Calibri"/>
              <a:buNone/>
            </a:pPr>
            <a:r>
              <a:rPr lang="en-US" sz="2700" b="1" i="0" u="none" strike="noStrike" cap="none">
                <a:solidFill>
                  <a:srgbClr val="17375E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2700" b="1" i="0" u="none" strike="noStrike" cap="none">
                <a:solidFill>
                  <a:srgbClr val="17375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700" b="1" i="0" u="none" strike="noStrike" cap="none">
                <a:solidFill>
                  <a:srgbClr val="17375E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2700" b="1" i="0" u="none" strike="noStrike" cap="none">
                <a:solidFill>
                  <a:srgbClr val="17375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700" b="1" i="0" u="none" strike="noStrike" cap="none">
                <a:solidFill>
                  <a:srgbClr val="17375E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2700" b="1" i="0" u="none" strike="noStrike" cap="none">
                <a:solidFill>
                  <a:srgbClr val="17375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700" b="1" i="0" u="none" strike="noStrike" cap="none">
                <a:solidFill>
                  <a:srgbClr val="17375E"/>
                </a:solidFill>
                <a:latin typeface="Calibri"/>
                <a:ea typeface="Calibri"/>
                <a:cs typeface="Calibri"/>
                <a:sym typeface="Calibri"/>
              </a:rPr>
              <a:t>Pimpri Chinchwad Education Trust’s</a:t>
            </a:r>
            <a:r>
              <a:rPr lang="en-US" sz="4000" b="1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000" b="1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000" b="1" i="0" u="none" strike="noStrike" cap="none">
                <a:solidFill>
                  <a:srgbClr val="17375E"/>
                </a:solidFill>
                <a:latin typeface="Calibri"/>
                <a:ea typeface="Calibri"/>
                <a:cs typeface="Calibri"/>
                <a:sym typeface="Calibri"/>
              </a:rPr>
              <a:t>Pimpri Chinchwad College of Engineering and Research, Ravet, Pune</a:t>
            </a:r>
            <a:br>
              <a:rPr lang="en-US" sz="4000" b="1" i="0" u="none" strike="noStrike" cap="none">
                <a:solidFill>
                  <a:srgbClr val="17375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i="0" u="none" strike="noStrike" cap="none">
                <a:solidFill>
                  <a:srgbClr val="0F24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Engineering</a:t>
            </a:r>
            <a:br>
              <a:rPr lang="en-US" sz="4400" b="1" i="0" u="none" strike="noStrike" cap="none">
                <a:solidFill>
                  <a:srgbClr val="0F24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400" b="1" i="0" u="none" strike="noStrike" cap="none">
                <a:solidFill>
                  <a:srgbClr val="17375E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400" b="1" i="0" u="none" strike="noStrike" cap="none">
                <a:solidFill>
                  <a:srgbClr val="17375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000" b="1" i="0" u="none" strike="noStrike" cap="none">
                <a:solidFill>
                  <a:srgbClr val="17375E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4000" b="1" i="0" u="none" strike="noStrike" cap="none">
                <a:solidFill>
                  <a:srgbClr val="17375E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4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" name="Google Shape;105;p1" descr="PCCOER is best engineering college in Pun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39266" y="114785"/>
            <a:ext cx="977734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" descr="http://pcet.org.in/images/pcet-logo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5229" y="142422"/>
            <a:ext cx="1007772" cy="771979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"/>
          <p:cNvSpPr/>
          <p:nvPr/>
        </p:nvSpPr>
        <p:spPr>
          <a:xfrm>
            <a:off x="609600" y="2895600"/>
            <a:ext cx="8077200" cy="3514768"/>
          </a:xfrm>
          <a:prstGeom prst="rect">
            <a:avLst/>
          </a:prstGeom>
          <a:solidFill>
            <a:schemeClr val="lt1"/>
          </a:solidFill>
          <a:ln w="762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2540" lvl="0" indent="0" algn="ctr" rtl="0">
              <a:lnSpc>
                <a:spcPct val="7968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endParaRPr sz="4800" b="1" i="0" u="none" strike="noStrike" cap="none" dirty="0">
              <a:solidFill>
                <a:srgbClr val="0F243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 dirty="0" smtClean="0">
                <a:solidFill>
                  <a:srgbClr val="0F24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</a:t>
            </a:r>
            <a:r>
              <a:rPr lang="en-US" sz="3600" b="1" i="0" u="none" strike="noStrike" cap="none" dirty="0">
                <a:solidFill>
                  <a:srgbClr val="0F24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Structures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1" i="0" u="none" strike="noStrike" cap="none" dirty="0">
              <a:solidFill>
                <a:srgbClr val="0F243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 dirty="0" smtClean="0">
                <a:solidFill>
                  <a:srgbClr val="0F24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</a:t>
            </a:r>
            <a:r>
              <a:rPr lang="en-US" sz="2800" b="1" i="0" u="none" strike="noStrike" cap="none" dirty="0">
                <a:solidFill>
                  <a:srgbClr val="0F24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Govind R. Suryawanshi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 dirty="0">
                <a:solidFill>
                  <a:srgbClr val="0F24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Asst. Prof.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0F24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3200" b="1" i="0" u="none" strike="noStrike" cap="none" dirty="0">
              <a:solidFill>
                <a:srgbClr val="0F243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1" descr="BOUQUET #emoji https://www.emojimantra.com/ | Emoji, Mario characters, Art"/>
          <p:cNvSpPr/>
          <p:nvPr/>
        </p:nvSpPr>
        <p:spPr>
          <a:xfrm>
            <a:off x="129646" y="-144463"/>
            <a:ext cx="2540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" descr="BOUQUET #emoji https://www.emojimantra.com/ | Emoji, Mario characters, Art"/>
          <p:cNvSpPr/>
          <p:nvPr/>
        </p:nvSpPr>
        <p:spPr>
          <a:xfrm>
            <a:off x="129646" y="-144463"/>
            <a:ext cx="2540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" descr="BOUQUET #emoji https://www.emojimantra.com/ | Emoji, Mario characters, Art"/>
          <p:cNvSpPr/>
          <p:nvPr/>
        </p:nvSpPr>
        <p:spPr>
          <a:xfrm>
            <a:off x="129646" y="-144463"/>
            <a:ext cx="2540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"/>
          <p:cNvSpPr txBox="1">
            <a:spLocks noGrp="1"/>
          </p:cNvSpPr>
          <p:nvPr>
            <p:ph type="title"/>
          </p:nvPr>
        </p:nvSpPr>
        <p:spPr>
          <a:xfrm>
            <a:off x="1143000" y="0"/>
            <a:ext cx="8001000" cy="1143000"/>
          </a:xfrm>
          <a:prstGeom prst="rect">
            <a:avLst/>
          </a:prstGeom>
          <a:solidFill>
            <a:srgbClr val="538CD5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/>
              <a:t>Examination Scheme:</a:t>
            </a:r>
            <a:endParaRPr/>
          </a:p>
        </p:txBody>
      </p:sp>
      <p:sp>
        <p:nvSpPr>
          <p:cNvPr id="116" name="Google Shape;116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8/23/2021</a:t>
            </a:r>
            <a:endParaRPr/>
          </a:p>
        </p:txBody>
      </p:sp>
      <p:sp>
        <p:nvSpPr>
          <p:cNvPr id="117" name="Google Shape;117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©PCCOE&amp;R, Ravet, Pune</a:t>
            </a:r>
            <a:endParaRPr/>
          </a:p>
        </p:txBody>
      </p:sp>
      <p:sp>
        <p:nvSpPr>
          <p:cNvPr id="118" name="Google Shape;118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None/>
              </a:pPr>
              <a:t>2</a:t>
            </a:fld>
            <a:endParaRPr/>
          </a:p>
        </p:txBody>
      </p:sp>
      <p:sp>
        <p:nvSpPr>
          <p:cNvPr id="119" name="Google Shape;119;p2"/>
          <p:cNvSpPr txBox="1"/>
          <p:nvPr/>
        </p:nvSpPr>
        <p:spPr>
          <a:xfrm>
            <a:off x="762000" y="2667000"/>
            <a:ext cx="6400800" cy="32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Class: S. E. Computer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1" i="0" u="sng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Examination Scheme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CCE: 30 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Marks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ECE: 70 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Marks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"/>
          <p:cNvSpPr/>
          <p:nvPr/>
        </p:nvSpPr>
        <p:spPr>
          <a:xfrm>
            <a:off x="768220" y="1465043"/>
            <a:ext cx="7918580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Subject: 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Structures </a:t>
            </a:r>
            <a:endParaRPr lang="en-US" sz="3200" b="0" i="0" u="none" strike="noStrike" cap="none" dirty="0" smtClean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Subject </a:t>
            </a:r>
            <a:r>
              <a:rPr lang="en-US" sz="3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Code: 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PCC_201-COMP</a:t>
            </a: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"/>
          <p:cNvSpPr txBox="1">
            <a:spLocks noGrp="1"/>
          </p:cNvSpPr>
          <p:nvPr>
            <p:ph type="title"/>
          </p:nvPr>
        </p:nvSpPr>
        <p:spPr>
          <a:xfrm>
            <a:off x="1143000" y="0"/>
            <a:ext cx="8001000" cy="1143000"/>
          </a:xfrm>
          <a:prstGeom prst="rect">
            <a:avLst/>
          </a:prstGeom>
          <a:solidFill>
            <a:srgbClr val="538CD5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/>
              <a:t>SPPU Syllabus </a:t>
            </a:r>
            <a:endParaRPr/>
          </a:p>
        </p:txBody>
      </p:sp>
      <p:sp>
        <p:nvSpPr>
          <p:cNvPr id="126" name="Google Shape;126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8/23/2021</a:t>
            </a:r>
            <a:endParaRPr/>
          </a:p>
        </p:txBody>
      </p:sp>
      <p:sp>
        <p:nvSpPr>
          <p:cNvPr id="127" name="Google Shape;127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©PCCOE&amp;R, Ravet, Pune</a:t>
            </a:r>
            <a:endParaRPr/>
          </a:p>
        </p:txBody>
      </p:sp>
      <p:sp>
        <p:nvSpPr>
          <p:cNvPr id="128" name="Google Shape;128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None/>
              </a:pPr>
              <a:t>3</a:t>
            </a:fld>
            <a:endParaRPr/>
          </a:p>
        </p:txBody>
      </p:sp>
      <p:sp>
        <p:nvSpPr>
          <p:cNvPr id="129" name="Google Shape;129;p3"/>
          <p:cNvSpPr txBox="1">
            <a:spLocks noGrp="1"/>
          </p:cNvSpPr>
          <p:nvPr>
            <p:ph type="body" idx="1"/>
          </p:nvPr>
        </p:nvSpPr>
        <p:spPr>
          <a:xfrm>
            <a:off x="457200" y="1295400"/>
            <a:ext cx="8229600" cy="4830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u="sng" dirty="0">
                <a:solidFill>
                  <a:schemeClr val="hlink"/>
                </a:solidFill>
              </a:rPr>
              <a:t>SE </a:t>
            </a:r>
            <a:r>
              <a:rPr lang="en-US" u="sng" dirty="0" smtClean="0">
                <a:solidFill>
                  <a:schemeClr val="hlink"/>
                </a:solidFill>
              </a:rPr>
              <a:t>DS </a:t>
            </a:r>
            <a:r>
              <a:rPr lang="en-US" u="sng" dirty="0">
                <a:solidFill>
                  <a:schemeClr val="hlink"/>
                </a:solidFill>
              </a:rPr>
              <a:t>Syllabus </a:t>
            </a:r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l="62553" t="44428" r="20552" b="25104"/>
          <a:stretch/>
        </p:blipFill>
        <p:spPr>
          <a:xfrm>
            <a:off x="1143000" y="1877115"/>
            <a:ext cx="5153528" cy="44792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"/>
          <p:cNvSpPr txBox="1">
            <a:spLocks noGrp="1"/>
          </p:cNvSpPr>
          <p:nvPr>
            <p:ph type="title"/>
          </p:nvPr>
        </p:nvSpPr>
        <p:spPr>
          <a:xfrm>
            <a:off x="1143000" y="0"/>
            <a:ext cx="8001000" cy="1143000"/>
          </a:xfrm>
          <a:prstGeom prst="rect">
            <a:avLst/>
          </a:prstGeom>
          <a:solidFill>
            <a:srgbClr val="538CD5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 b="1"/>
              <a:t>Contents</a:t>
            </a:r>
            <a:endParaRPr b="1"/>
          </a:p>
        </p:txBody>
      </p:sp>
      <p:sp>
        <p:nvSpPr>
          <p:cNvPr id="135" name="Google Shape;135;p4"/>
          <p:cNvSpPr txBox="1"/>
          <p:nvPr/>
        </p:nvSpPr>
        <p:spPr>
          <a:xfrm>
            <a:off x="609600" y="1600200"/>
            <a:ext cx="7618731" cy="3706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4318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Concepts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18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types, ADT (Abstract Data Type)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18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Types of data structure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18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Algorithm Analysis: Space complexity, Time complexity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1165" marR="443865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Asymptotic Notations (Big O, Omega, Theta), Linear  data structure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18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Array as linear data structure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1165" marR="32512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Representation of array in memory, Strings, structure  and pointer in C/C++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"/>
          <p:cNvSpPr txBox="1">
            <a:spLocks noGrp="1"/>
          </p:cNvSpPr>
          <p:nvPr>
            <p:ph type="title"/>
          </p:nvPr>
        </p:nvSpPr>
        <p:spPr>
          <a:xfrm>
            <a:off x="1143000" y="0"/>
            <a:ext cx="8001000" cy="1143000"/>
          </a:xfrm>
          <a:prstGeom prst="rect">
            <a:avLst/>
          </a:prstGeom>
          <a:solidFill>
            <a:srgbClr val="538CD5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 b="1"/>
              <a:t>Introduction to Programming</a:t>
            </a:r>
            <a:endParaRPr/>
          </a:p>
        </p:txBody>
      </p:sp>
      <p:pic>
        <p:nvPicPr>
          <p:cNvPr id="141" name="Google Shape;141;p5">
            <a:hlinkClick r:id="rId3"/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1905000" y="1752600"/>
            <a:ext cx="4648200" cy="23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5"/>
          <p:cNvSpPr/>
          <p:nvPr/>
        </p:nvSpPr>
        <p:spPr>
          <a:xfrm>
            <a:off x="3448614" y="4572000"/>
            <a:ext cx="21938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Processing a program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"/>
          <p:cNvSpPr txBox="1">
            <a:spLocks noGrp="1"/>
          </p:cNvSpPr>
          <p:nvPr>
            <p:ph type="body" idx="1"/>
          </p:nvPr>
        </p:nvSpPr>
        <p:spPr>
          <a:xfrm>
            <a:off x="457200" y="1828800"/>
            <a:ext cx="8229600" cy="4297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All computer languages can be classified into the following three basic categories: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1. Machine language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2. Assembly language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3. High-level language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/>
          </a:p>
          <a:p>
            <a:pPr marL="34290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  <p:sp>
        <p:nvSpPr>
          <p:cNvPr id="148" name="Google Shape;148;p6"/>
          <p:cNvSpPr txBox="1">
            <a:spLocks noGrp="1"/>
          </p:cNvSpPr>
          <p:nvPr>
            <p:ph type="title"/>
          </p:nvPr>
        </p:nvSpPr>
        <p:spPr>
          <a:xfrm>
            <a:off x="1143000" y="0"/>
            <a:ext cx="8001000" cy="1143000"/>
          </a:xfrm>
          <a:prstGeom prst="rect">
            <a:avLst/>
          </a:prstGeom>
          <a:solidFill>
            <a:srgbClr val="538CD5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 b="1"/>
              <a:t>Types of Language</a:t>
            </a:r>
            <a:endParaRPr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"/>
          <p:cNvSpPr txBox="1">
            <a:spLocks noGrp="1"/>
          </p:cNvSpPr>
          <p:nvPr>
            <p:ph type="title"/>
          </p:nvPr>
        </p:nvSpPr>
        <p:spPr>
          <a:xfrm>
            <a:off x="1143000" y="0"/>
            <a:ext cx="8001000" cy="1143000"/>
          </a:xfrm>
          <a:prstGeom prst="rect">
            <a:avLst/>
          </a:prstGeom>
          <a:solidFill>
            <a:srgbClr val="538CD5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 b="1"/>
              <a:t>Introduction to data structures</a:t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533400" y="1366896"/>
            <a:ext cx="7696200" cy="4832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logical or mathematical model of a particular organization  of data is called a data structure.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structure mainly specifies the following four things: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Organization of data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Accessing Methods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Degree of associativity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Processing alternatives for information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"/>
          <p:cNvSpPr txBox="1">
            <a:spLocks noGrp="1"/>
          </p:cNvSpPr>
          <p:nvPr>
            <p:ph type="title"/>
          </p:nvPr>
        </p:nvSpPr>
        <p:spPr>
          <a:xfrm>
            <a:off x="1143000" y="0"/>
            <a:ext cx="8001000" cy="1143000"/>
          </a:xfrm>
          <a:prstGeom prst="rect">
            <a:avLst/>
          </a:prstGeom>
          <a:solidFill>
            <a:srgbClr val="538CD5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 b="1"/>
              <a:t>TYPES OF DATA STRUCTURES</a:t>
            </a:r>
            <a:endParaRPr/>
          </a:p>
        </p:txBody>
      </p:sp>
      <p:sp>
        <p:nvSpPr>
          <p:cNvPr id="160" name="Google Shape;160;p8"/>
          <p:cNvSpPr txBox="1">
            <a:spLocks noGrp="1"/>
          </p:cNvSpPr>
          <p:nvPr>
            <p:ph type="body" idx="1"/>
          </p:nvPr>
        </p:nvSpPr>
        <p:spPr>
          <a:xfrm>
            <a:off x="457200" y="1295400"/>
            <a:ext cx="8229600" cy="4830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1. Primitive and non-primitive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2. Linear and non-linear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3. Static and dynamic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4. Persistent and ephemeral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5. Sequential and direct access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Google Shape;165;p9"/>
          <p:cNvGrpSpPr/>
          <p:nvPr/>
        </p:nvGrpSpPr>
        <p:grpSpPr>
          <a:xfrm>
            <a:off x="2426970" y="381000"/>
            <a:ext cx="4062729" cy="1484630"/>
            <a:chOff x="2426970" y="381000"/>
            <a:chExt cx="4062729" cy="1484630"/>
          </a:xfrm>
        </p:grpSpPr>
        <p:sp>
          <p:nvSpPr>
            <p:cNvPr id="166" name="Google Shape;166;p9"/>
            <p:cNvSpPr/>
            <p:nvPr/>
          </p:nvSpPr>
          <p:spPr>
            <a:xfrm>
              <a:off x="2426970" y="1370330"/>
              <a:ext cx="4062729" cy="495300"/>
            </a:xfrm>
            <a:custGeom>
              <a:avLst/>
              <a:gdLst/>
              <a:ahLst/>
              <a:cxnLst/>
              <a:rect l="l" t="t" r="r" b="b"/>
              <a:pathLst>
                <a:path w="4062729" h="495300" extrusionOk="0">
                  <a:moveTo>
                    <a:pt x="4062729" y="495300"/>
                  </a:moveTo>
                  <a:lnTo>
                    <a:pt x="3046730" y="495300"/>
                  </a:lnTo>
                  <a:lnTo>
                    <a:pt x="3046730" y="0"/>
                  </a:lnTo>
                  <a:lnTo>
                    <a:pt x="2030730" y="0"/>
                  </a:lnTo>
                </a:path>
                <a:path w="4062729" h="495300" extrusionOk="0">
                  <a:moveTo>
                    <a:pt x="0" y="495300"/>
                  </a:moveTo>
                  <a:lnTo>
                    <a:pt x="1014730" y="495300"/>
                  </a:lnTo>
                  <a:lnTo>
                    <a:pt x="1014730" y="0"/>
                  </a:lnTo>
                  <a:lnTo>
                    <a:pt x="2030730" y="0"/>
                  </a:lnTo>
                </a:path>
              </a:pathLst>
            </a:custGeom>
            <a:noFill/>
            <a:ln w="283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9"/>
            <p:cNvSpPr/>
            <p:nvPr/>
          </p:nvSpPr>
          <p:spPr>
            <a:xfrm>
              <a:off x="2715260" y="381000"/>
              <a:ext cx="3483610" cy="990600"/>
            </a:xfrm>
            <a:custGeom>
              <a:avLst/>
              <a:gdLst/>
              <a:ahLst/>
              <a:cxnLst/>
              <a:rect l="l" t="t" r="r" b="b"/>
              <a:pathLst>
                <a:path w="3483610" h="990600" extrusionOk="0">
                  <a:moveTo>
                    <a:pt x="3318510" y="0"/>
                  </a:moveTo>
                  <a:lnTo>
                    <a:pt x="165100" y="0"/>
                  </a:lnTo>
                  <a:lnTo>
                    <a:pt x="124207" y="6491"/>
                  </a:lnTo>
                  <a:lnTo>
                    <a:pt x="85607" y="24412"/>
                  </a:lnTo>
                  <a:lnTo>
                    <a:pt x="51593" y="51435"/>
                  </a:lnTo>
                  <a:lnTo>
                    <a:pt x="24459" y="85231"/>
                  </a:lnTo>
                  <a:lnTo>
                    <a:pt x="6496" y="123472"/>
                  </a:lnTo>
                  <a:lnTo>
                    <a:pt x="0" y="163829"/>
                  </a:lnTo>
                  <a:lnTo>
                    <a:pt x="0" y="825500"/>
                  </a:lnTo>
                  <a:lnTo>
                    <a:pt x="6496" y="866392"/>
                  </a:lnTo>
                  <a:lnTo>
                    <a:pt x="24459" y="904992"/>
                  </a:lnTo>
                  <a:lnTo>
                    <a:pt x="51593" y="939006"/>
                  </a:lnTo>
                  <a:lnTo>
                    <a:pt x="85607" y="966140"/>
                  </a:lnTo>
                  <a:lnTo>
                    <a:pt x="124207" y="984103"/>
                  </a:lnTo>
                  <a:lnTo>
                    <a:pt x="165100" y="990600"/>
                  </a:lnTo>
                  <a:lnTo>
                    <a:pt x="3318510" y="990600"/>
                  </a:lnTo>
                  <a:lnTo>
                    <a:pt x="3359402" y="984103"/>
                  </a:lnTo>
                  <a:lnTo>
                    <a:pt x="3398002" y="966140"/>
                  </a:lnTo>
                  <a:lnTo>
                    <a:pt x="3432016" y="939006"/>
                  </a:lnTo>
                  <a:lnTo>
                    <a:pt x="3459150" y="904992"/>
                  </a:lnTo>
                  <a:lnTo>
                    <a:pt x="3477113" y="866392"/>
                  </a:lnTo>
                  <a:lnTo>
                    <a:pt x="3483610" y="825500"/>
                  </a:lnTo>
                  <a:lnTo>
                    <a:pt x="3483610" y="163829"/>
                  </a:lnTo>
                  <a:lnTo>
                    <a:pt x="3477113" y="123472"/>
                  </a:lnTo>
                  <a:lnTo>
                    <a:pt x="3459150" y="85231"/>
                  </a:lnTo>
                  <a:lnTo>
                    <a:pt x="3432016" y="51435"/>
                  </a:lnTo>
                  <a:lnTo>
                    <a:pt x="3398002" y="24412"/>
                  </a:lnTo>
                  <a:lnTo>
                    <a:pt x="3359402" y="6491"/>
                  </a:lnTo>
                  <a:lnTo>
                    <a:pt x="3318510" y="0"/>
                  </a:lnTo>
                  <a:close/>
                </a:path>
              </a:pathLst>
            </a:custGeom>
            <a:solidFill>
              <a:srgbClr val="33CC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9"/>
            <p:cNvSpPr/>
            <p:nvPr/>
          </p:nvSpPr>
          <p:spPr>
            <a:xfrm>
              <a:off x="2715260" y="381000"/>
              <a:ext cx="3483610" cy="990600"/>
            </a:xfrm>
            <a:custGeom>
              <a:avLst/>
              <a:gdLst/>
              <a:ahLst/>
              <a:cxnLst/>
              <a:rect l="l" t="t" r="r" b="b"/>
              <a:pathLst>
                <a:path w="3483610" h="990600" extrusionOk="0">
                  <a:moveTo>
                    <a:pt x="165100" y="0"/>
                  </a:moveTo>
                  <a:lnTo>
                    <a:pt x="124207" y="6491"/>
                  </a:lnTo>
                  <a:lnTo>
                    <a:pt x="85607" y="24412"/>
                  </a:lnTo>
                  <a:lnTo>
                    <a:pt x="51593" y="51435"/>
                  </a:lnTo>
                  <a:lnTo>
                    <a:pt x="24459" y="85231"/>
                  </a:lnTo>
                  <a:lnTo>
                    <a:pt x="6496" y="123472"/>
                  </a:lnTo>
                  <a:lnTo>
                    <a:pt x="0" y="163829"/>
                  </a:lnTo>
                  <a:lnTo>
                    <a:pt x="0" y="825500"/>
                  </a:lnTo>
                  <a:lnTo>
                    <a:pt x="6496" y="866392"/>
                  </a:lnTo>
                  <a:lnTo>
                    <a:pt x="24459" y="904992"/>
                  </a:lnTo>
                  <a:lnTo>
                    <a:pt x="51593" y="939006"/>
                  </a:lnTo>
                  <a:lnTo>
                    <a:pt x="85607" y="966140"/>
                  </a:lnTo>
                  <a:lnTo>
                    <a:pt x="124207" y="984103"/>
                  </a:lnTo>
                  <a:lnTo>
                    <a:pt x="165100" y="990600"/>
                  </a:lnTo>
                  <a:lnTo>
                    <a:pt x="3318510" y="990600"/>
                  </a:lnTo>
                  <a:lnTo>
                    <a:pt x="3359402" y="984103"/>
                  </a:lnTo>
                  <a:lnTo>
                    <a:pt x="3398002" y="966140"/>
                  </a:lnTo>
                  <a:lnTo>
                    <a:pt x="3432016" y="939006"/>
                  </a:lnTo>
                  <a:lnTo>
                    <a:pt x="3459150" y="904992"/>
                  </a:lnTo>
                  <a:lnTo>
                    <a:pt x="3477113" y="866392"/>
                  </a:lnTo>
                  <a:lnTo>
                    <a:pt x="3483610" y="825500"/>
                  </a:lnTo>
                  <a:lnTo>
                    <a:pt x="3483610" y="163829"/>
                  </a:lnTo>
                  <a:lnTo>
                    <a:pt x="3477113" y="123472"/>
                  </a:lnTo>
                  <a:lnTo>
                    <a:pt x="3459150" y="85231"/>
                  </a:lnTo>
                  <a:lnTo>
                    <a:pt x="3432016" y="51435"/>
                  </a:lnTo>
                  <a:lnTo>
                    <a:pt x="3398002" y="24412"/>
                  </a:lnTo>
                  <a:lnTo>
                    <a:pt x="3359402" y="6491"/>
                  </a:lnTo>
                  <a:lnTo>
                    <a:pt x="3318510" y="0"/>
                  </a:lnTo>
                  <a:lnTo>
                    <a:pt x="165100" y="0"/>
                  </a:lnTo>
                  <a:close/>
                </a:path>
                <a:path w="3483610" h="990600" extrusionOk="0">
                  <a:moveTo>
                    <a:pt x="0" y="0"/>
                  </a:moveTo>
                  <a:lnTo>
                    <a:pt x="0" y="0"/>
                  </a:lnTo>
                </a:path>
                <a:path w="3483610" h="990600" extrusionOk="0">
                  <a:moveTo>
                    <a:pt x="3483610" y="990600"/>
                  </a:moveTo>
                  <a:lnTo>
                    <a:pt x="3483610" y="99060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9" name="Google Shape;169;p9"/>
          <p:cNvSpPr txBox="1">
            <a:spLocks noGrp="1"/>
          </p:cNvSpPr>
          <p:nvPr>
            <p:ph type="title"/>
          </p:nvPr>
        </p:nvSpPr>
        <p:spPr>
          <a:xfrm>
            <a:off x="3374390" y="642620"/>
            <a:ext cx="2164080" cy="467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Times New Roman"/>
              <a:buNone/>
            </a:pPr>
            <a:r>
              <a:rPr lang="en-US" sz="29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Structure</a:t>
            </a:r>
            <a:endParaRPr sz="2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70" name="Google Shape;170;p9"/>
          <p:cNvGrpSpPr/>
          <p:nvPr/>
        </p:nvGrpSpPr>
        <p:grpSpPr>
          <a:xfrm>
            <a:off x="684530" y="1865629"/>
            <a:ext cx="3482340" cy="991869"/>
            <a:chOff x="684530" y="1865629"/>
            <a:chExt cx="3482340" cy="991869"/>
          </a:xfrm>
        </p:grpSpPr>
        <p:sp>
          <p:nvSpPr>
            <p:cNvPr id="171" name="Google Shape;171;p9"/>
            <p:cNvSpPr/>
            <p:nvPr/>
          </p:nvSpPr>
          <p:spPr>
            <a:xfrm>
              <a:off x="684530" y="1865629"/>
              <a:ext cx="3482340" cy="991869"/>
            </a:xfrm>
            <a:custGeom>
              <a:avLst/>
              <a:gdLst/>
              <a:ahLst/>
              <a:cxnLst/>
              <a:rect l="l" t="t" r="r" b="b"/>
              <a:pathLst>
                <a:path w="3482340" h="991869" extrusionOk="0">
                  <a:moveTo>
                    <a:pt x="3317240" y="0"/>
                  </a:moveTo>
                  <a:lnTo>
                    <a:pt x="165100" y="0"/>
                  </a:lnTo>
                  <a:lnTo>
                    <a:pt x="124207" y="6496"/>
                  </a:lnTo>
                  <a:lnTo>
                    <a:pt x="85607" y="24459"/>
                  </a:lnTo>
                  <a:lnTo>
                    <a:pt x="51593" y="51593"/>
                  </a:lnTo>
                  <a:lnTo>
                    <a:pt x="24459" y="85607"/>
                  </a:lnTo>
                  <a:lnTo>
                    <a:pt x="6496" y="124207"/>
                  </a:lnTo>
                  <a:lnTo>
                    <a:pt x="0" y="165100"/>
                  </a:lnTo>
                  <a:lnTo>
                    <a:pt x="0" y="825500"/>
                  </a:lnTo>
                  <a:lnTo>
                    <a:pt x="6496" y="866486"/>
                  </a:lnTo>
                  <a:lnTo>
                    <a:pt x="24459" y="905321"/>
                  </a:lnTo>
                  <a:lnTo>
                    <a:pt x="51593" y="939641"/>
                  </a:lnTo>
                  <a:lnTo>
                    <a:pt x="85607" y="967081"/>
                  </a:lnTo>
                  <a:lnTo>
                    <a:pt x="124207" y="985278"/>
                  </a:lnTo>
                  <a:lnTo>
                    <a:pt x="165100" y="991870"/>
                  </a:lnTo>
                  <a:lnTo>
                    <a:pt x="3317240" y="991870"/>
                  </a:lnTo>
                  <a:lnTo>
                    <a:pt x="3358132" y="985278"/>
                  </a:lnTo>
                  <a:lnTo>
                    <a:pt x="3396732" y="967081"/>
                  </a:lnTo>
                  <a:lnTo>
                    <a:pt x="3430746" y="939641"/>
                  </a:lnTo>
                  <a:lnTo>
                    <a:pt x="3457880" y="905321"/>
                  </a:lnTo>
                  <a:lnTo>
                    <a:pt x="3475843" y="866486"/>
                  </a:lnTo>
                  <a:lnTo>
                    <a:pt x="3482340" y="825500"/>
                  </a:lnTo>
                  <a:lnTo>
                    <a:pt x="3482340" y="165100"/>
                  </a:lnTo>
                  <a:lnTo>
                    <a:pt x="3475843" y="124207"/>
                  </a:lnTo>
                  <a:lnTo>
                    <a:pt x="3457880" y="85607"/>
                  </a:lnTo>
                  <a:lnTo>
                    <a:pt x="3430746" y="51593"/>
                  </a:lnTo>
                  <a:lnTo>
                    <a:pt x="3396732" y="24459"/>
                  </a:lnTo>
                  <a:lnTo>
                    <a:pt x="3358132" y="6496"/>
                  </a:lnTo>
                  <a:lnTo>
                    <a:pt x="3317240" y="0"/>
                  </a:lnTo>
                  <a:close/>
                </a:path>
              </a:pathLst>
            </a:custGeom>
            <a:solidFill>
              <a:srgbClr val="33CC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9"/>
            <p:cNvSpPr/>
            <p:nvPr/>
          </p:nvSpPr>
          <p:spPr>
            <a:xfrm>
              <a:off x="684530" y="1865629"/>
              <a:ext cx="3482340" cy="991869"/>
            </a:xfrm>
            <a:custGeom>
              <a:avLst/>
              <a:gdLst/>
              <a:ahLst/>
              <a:cxnLst/>
              <a:rect l="l" t="t" r="r" b="b"/>
              <a:pathLst>
                <a:path w="3482340" h="991869" extrusionOk="0">
                  <a:moveTo>
                    <a:pt x="165100" y="0"/>
                  </a:moveTo>
                  <a:lnTo>
                    <a:pt x="124207" y="6496"/>
                  </a:lnTo>
                  <a:lnTo>
                    <a:pt x="85607" y="24459"/>
                  </a:lnTo>
                  <a:lnTo>
                    <a:pt x="51593" y="51593"/>
                  </a:lnTo>
                  <a:lnTo>
                    <a:pt x="24459" y="85607"/>
                  </a:lnTo>
                  <a:lnTo>
                    <a:pt x="6496" y="124207"/>
                  </a:lnTo>
                  <a:lnTo>
                    <a:pt x="0" y="165100"/>
                  </a:lnTo>
                  <a:lnTo>
                    <a:pt x="0" y="825500"/>
                  </a:lnTo>
                  <a:lnTo>
                    <a:pt x="6496" y="866486"/>
                  </a:lnTo>
                  <a:lnTo>
                    <a:pt x="24459" y="905321"/>
                  </a:lnTo>
                  <a:lnTo>
                    <a:pt x="51593" y="939641"/>
                  </a:lnTo>
                  <a:lnTo>
                    <a:pt x="85607" y="967081"/>
                  </a:lnTo>
                  <a:lnTo>
                    <a:pt x="124207" y="985278"/>
                  </a:lnTo>
                  <a:lnTo>
                    <a:pt x="165100" y="991870"/>
                  </a:lnTo>
                  <a:lnTo>
                    <a:pt x="3317240" y="991870"/>
                  </a:lnTo>
                  <a:lnTo>
                    <a:pt x="3358132" y="985278"/>
                  </a:lnTo>
                  <a:lnTo>
                    <a:pt x="3396732" y="967081"/>
                  </a:lnTo>
                  <a:lnTo>
                    <a:pt x="3430746" y="939641"/>
                  </a:lnTo>
                  <a:lnTo>
                    <a:pt x="3457880" y="905321"/>
                  </a:lnTo>
                  <a:lnTo>
                    <a:pt x="3475843" y="866486"/>
                  </a:lnTo>
                  <a:lnTo>
                    <a:pt x="3482340" y="825500"/>
                  </a:lnTo>
                  <a:lnTo>
                    <a:pt x="3482340" y="165100"/>
                  </a:lnTo>
                  <a:lnTo>
                    <a:pt x="3475843" y="124207"/>
                  </a:lnTo>
                  <a:lnTo>
                    <a:pt x="3457880" y="85607"/>
                  </a:lnTo>
                  <a:lnTo>
                    <a:pt x="3430746" y="51593"/>
                  </a:lnTo>
                  <a:lnTo>
                    <a:pt x="3396732" y="24459"/>
                  </a:lnTo>
                  <a:lnTo>
                    <a:pt x="3358132" y="6496"/>
                  </a:lnTo>
                  <a:lnTo>
                    <a:pt x="3317240" y="0"/>
                  </a:lnTo>
                  <a:lnTo>
                    <a:pt x="165100" y="0"/>
                  </a:lnTo>
                  <a:close/>
                </a:path>
                <a:path w="3482340" h="991869" extrusionOk="0">
                  <a:moveTo>
                    <a:pt x="0" y="0"/>
                  </a:moveTo>
                  <a:lnTo>
                    <a:pt x="0" y="0"/>
                  </a:lnTo>
                </a:path>
                <a:path w="3482340" h="991869" extrusionOk="0">
                  <a:moveTo>
                    <a:pt x="3482340" y="991870"/>
                  </a:moveTo>
                  <a:lnTo>
                    <a:pt x="3482340" y="99187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3" name="Google Shape;173;p9"/>
          <p:cNvSpPr txBox="1"/>
          <p:nvPr/>
        </p:nvSpPr>
        <p:spPr>
          <a:xfrm>
            <a:off x="1446530" y="2127250"/>
            <a:ext cx="1956435" cy="467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Primitive DS</a:t>
            </a:r>
            <a:endParaRPr sz="2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74" name="Google Shape;174;p9"/>
          <p:cNvGrpSpPr/>
          <p:nvPr/>
        </p:nvGrpSpPr>
        <p:grpSpPr>
          <a:xfrm>
            <a:off x="4747259" y="1865629"/>
            <a:ext cx="3482340" cy="991869"/>
            <a:chOff x="4747259" y="1865629"/>
            <a:chExt cx="3482340" cy="991869"/>
          </a:xfrm>
        </p:grpSpPr>
        <p:sp>
          <p:nvSpPr>
            <p:cNvPr id="175" name="Google Shape;175;p9"/>
            <p:cNvSpPr/>
            <p:nvPr/>
          </p:nvSpPr>
          <p:spPr>
            <a:xfrm>
              <a:off x="4747259" y="1865629"/>
              <a:ext cx="3482340" cy="991869"/>
            </a:xfrm>
            <a:custGeom>
              <a:avLst/>
              <a:gdLst/>
              <a:ahLst/>
              <a:cxnLst/>
              <a:rect l="l" t="t" r="r" b="b"/>
              <a:pathLst>
                <a:path w="3482340" h="991869" extrusionOk="0">
                  <a:moveTo>
                    <a:pt x="3317240" y="0"/>
                  </a:moveTo>
                  <a:lnTo>
                    <a:pt x="165100" y="0"/>
                  </a:lnTo>
                  <a:lnTo>
                    <a:pt x="124207" y="6496"/>
                  </a:lnTo>
                  <a:lnTo>
                    <a:pt x="85607" y="24459"/>
                  </a:lnTo>
                  <a:lnTo>
                    <a:pt x="51593" y="51593"/>
                  </a:lnTo>
                  <a:lnTo>
                    <a:pt x="24459" y="85607"/>
                  </a:lnTo>
                  <a:lnTo>
                    <a:pt x="6496" y="124207"/>
                  </a:lnTo>
                  <a:lnTo>
                    <a:pt x="0" y="165100"/>
                  </a:lnTo>
                  <a:lnTo>
                    <a:pt x="0" y="825500"/>
                  </a:lnTo>
                  <a:lnTo>
                    <a:pt x="6496" y="866486"/>
                  </a:lnTo>
                  <a:lnTo>
                    <a:pt x="24459" y="905321"/>
                  </a:lnTo>
                  <a:lnTo>
                    <a:pt x="51593" y="939641"/>
                  </a:lnTo>
                  <a:lnTo>
                    <a:pt x="85607" y="967081"/>
                  </a:lnTo>
                  <a:lnTo>
                    <a:pt x="124207" y="985278"/>
                  </a:lnTo>
                  <a:lnTo>
                    <a:pt x="165100" y="991870"/>
                  </a:lnTo>
                  <a:lnTo>
                    <a:pt x="3317240" y="991870"/>
                  </a:lnTo>
                  <a:lnTo>
                    <a:pt x="3358132" y="985278"/>
                  </a:lnTo>
                  <a:lnTo>
                    <a:pt x="3396732" y="967081"/>
                  </a:lnTo>
                  <a:lnTo>
                    <a:pt x="3430746" y="939641"/>
                  </a:lnTo>
                  <a:lnTo>
                    <a:pt x="3457880" y="905321"/>
                  </a:lnTo>
                  <a:lnTo>
                    <a:pt x="3475843" y="866486"/>
                  </a:lnTo>
                  <a:lnTo>
                    <a:pt x="3482340" y="825500"/>
                  </a:lnTo>
                  <a:lnTo>
                    <a:pt x="3482340" y="165100"/>
                  </a:lnTo>
                  <a:lnTo>
                    <a:pt x="3475843" y="124207"/>
                  </a:lnTo>
                  <a:lnTo>
                    <a:pt x="3457880" y="85607"/>
                  </a:lnTo>
                  <a:lnTo>
                    <a:pt x="3430746" y="51593"/>
                  </a:lnTo>
                  <a:lnTo>
                    <a:pt x="3396732" y="24459"/>
                  </a:lnTo>
                  <a:lnTo>
                    <a:pt x="3358132" y="6496"/>
                  </a:lnTo>
                  <a:lnTo>
                    <a:pt x="3317240" y="0"/>
                  </a:lnTo>
                  <a:close/>
                </a:path>
              </a:pathLst>
            </a:custGeom>
            <a:solidFill>
              <a:srgbClr val="33CC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9"/>
            <p:cNvSpPr/>
            <p:nvPr/>
          </p:nvSpPr>
          <p:spPr>
            <a:xfrm>
              <a:off x="4747259" y="1865629"/>
              <a:ext cx="3482340" cy="991869"/>
            </a:xfrm>
            <a:custGeom>
              <a:avLst/>
              <a:gdLst/>
              <a:ahLst/>
              <a:cxnLst/>
              <a:rect l="l" t="t" r="r" b="b"/>
              <a:pathLst>
                <a:path w="3482340" h="991869" extrusionOk="0">
                  <a:moveTo>
                    <a:pt x="165100" y="0"/>
                  </a:moveTo>
                  <a:lnTo>
                    <a:pt x="124207" y="6496"/>
                  </a:lnTo>
                  <a:lnTo>
                    <a:pt x="85607" y="24459"/>
                  </a:lnTo>
                  <a:lnTo>
                    <a:pt x="51593" y="51593"/>
                  </a:lnTo>
                  <a:lnTo>
                    <a:pt x="24459" y="85607"/>
                  </a:lnTo>
                  <a:lnTo>
                    <a:pt x="6496" y="124207"/>
                  </a:lnTo>
                  <a:lnTo>
                    <a:pt x="0" y="165100"/>
                  </a:lnTo>
                  <a:lnTo>
                    <a:pt x="0" y="825500"/>
                  </a:lnTo>
                  <a:lnTo>
                    <a:pt x="6496" y="866486"/>
                  </a:lnTo>
                  <a:lnTo>
                    <a:pt x="24459" y="905321"/>
                  </a:lnTo>
                  <a:lnTo>
                    <a:pt x="51593" y="939641"/>
                  </a:lnTo>
                  <a:lnTo>
                    <a:pt x="85607" y="967081"/>
                  </a:lnTo>
                  <a:lnTo>
                    <a:pt x="124207" y="985278"/>
                  </a:lnTo>
                  <a:lnTo>
                    <a:pt x="165100" y="991870"/>
                  </a:lnTo>
                  <a:lnTo>
                    <a:pt x="3317240" y="991870"/>
                  </a:lnTo>
                  <a:lnTo>
                    <a:pt x="3358132" y="985278"/>
                  </a:lnTo>
                  <a:lnTo>
                    <a:pt x="3396732" y="967081"/>
                  </a:lnTo>
                  <a:lnTo>
                    <a:pt x="3430746" y="939641"/>
                  </a:lnTo>
                  <a:lnTo>
                    <a:pt x="3457880" y="905321"/>
                  </a:lnTo>
                  <a:lnTo>
                    <a:pt x="3475843" y="866486"/>
                  </a:lnTo>
                  <a:lnTo>
                    <a:pt x="3482340" y="825500"/>
                  </a:lnTo>
                  <a:lnTo>
                    <a:pt x="3482340" y="165100"/>
                  </a:lnTo>
                  <a:lnTo>
                    <a:pt x="3475843" y="124207"/>
                  </a:lnTo>
                  <a:lnTo>
                    <a:pt x="3457880" y="85607"/>
                  </a:lnTo>
                  <a:lnTo>
                    <a:pt x="3430746" y="51593"/>
                  </a:lnTo>
                  <a:lnTo>
                    <a:pt x="3396732" y="24459"/>
                  </a:lnTo>
                  <a:lnTo>
                    <a:pt x="3358132" y="6496"/>
                  </a:lnTo>
                  <a:lnTo>
                    <a:pt x="3317240" y="0"/>
                  </a:lnTo>
                  <a:lnTo>
                    <a:pt x="165100" y="0"/>
                  </a:lnTo>
                  <a:close/>
                </a:path>
                <a:path w="3482340" h="991869" extrusionOk="0">
                  <a:moveTo>
                    <a:pt x="0" y="0"/>
                  </a:moveTo>
                  <a:lnTo>
                    <a:pt x="0" y="0"/>
                  </a:lnTo>
                </a:path>
                <a:path w="3482340" h="991869" extrusionOk="0">
                  <a:moveTo>
                    <a:pt x="3482340" y="991870"/>
                  </a:moveTo>
                  <a:lnTo>
                    <a:pt x="3482340" y="99187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" name="Google Shape;177;p9"/>
          <p:cNvSpPr txBox="1"/>
          <p:nvPr/>
        </p:nvSpPr>
        <p:spPr>
          <a:xfrm>
            <a:off x="5129529" y="2127250"/>
            <a:ext cx="2713990" cy="467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Non-Primitive DS</a:t>
            </a:r>
            <a:endParaRPr sz="2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78" name="Google Shape;178;p9"/>
          <p:cNvGrpSpPr/>
          <p:nvPr/>
        </p:nvGrpSpPr>
        <p:grpSpPr>
          <a:xfrm>
            <a:off x="381000" y="3505200"/>
            <a:ext cx="838200" cy="457200"/>
            <a:chOff x="381000" y="3505200"/>
            <a:chExt cx="838200" cy="457200"/>
          </a:xfrm>
        </p:grpSpPr>
        <p:sp>
          <p:nvSpPr>
            <p:cNvPr id="179" name="Google Shape;179;p9"/>
            <p:cNvSpPr/>
            <p:nvPr/>
          </p:nvSpPr>
          <p:spPr>
            <a:xfrm>
              <a:off x="381000" y="3505200"/>
              <a:ext cx="838200" cy="457200"/>
            </a:xfrm>
            <a:custGeom>
              <a:avLst/>
              <a:gdLst/>
              <a:ahLst/>
              <a:cxnLst/>
              <a:rect l="l" t="t" r="r" b="b"/>
              <a:pathLst>
                <a:path w="838200" h="457200" extrusionOk="0">
                  <a:moveTo>
                    <a:pt x="762000" y="0"/>
                  </a:moveTo>
                  <a:lnTo>
                    <a:pt x="76200" y="0"/>
                  </a:lnTo>
                  <a:lnTo>
                    <a:pt x="48220" y="6548"/>
                  </a:lnTo>
                  <a:lnTo>
                    <a:pt x="23812" y="23812"/>
                  </a:lnTo>
                  <a:lnTo>
                    <a:pt x="6548" y="48220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6548" y="408979"/>
                  </a:lnTo>
                  <a:lnTo>
                    <a:pt x="23812" y="433387"/>
                  </a:lnTo>
                  <a:lnTo>
                    <a:pt x="48220" y="450651"/>
                  </a:lnTo>
                  <a:lnTo>
                    <a:pt x="76200" y="457200"/>
                  </a:lnTo>
                  <a:lnTo>
                    <a:pt x="762000" y="457200"/>
                  </a:lnTo>
                  <a:lnTo>
                    <a:pt x="789979" y="450651"/>
                  </a:lnTo>
                  <a:lnTo>
                    <a:pt x="814387" y="433387"/>
                  </a:lnTo>
                  <a:lnTo>
                    <a:pt x="831651" y="408979"/>
                  </a:lnTo>
                  <a:lnTo>
                    <a:pt x="838200" y="381000"/>
                  </a:lnTo>
                  <a:lnTo>
                    <a:pt x="838200" y="76200"/>
                  </a:lnTo>
                  <a:lnTo>
                    <a:pt x="831651" y="48220"/>
                  </a:lnTo>
                  <a:lnTo>
                    <a:pt x="814387" y="23812"/>
                  </a:lnTo>
                  <a:lnTo>
                    <a:pt x="789979" y="6548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33CC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9"/>
            <p:cNvSpPr/>
            <p:nvPr/>
          </p:nvSpPr>
          <p:spPr>
            <a:xfrm>
              <a:off x="381000" y="3505200"/>
              <a:ext cx="838200" cy="457200"/>
            </a:xfrm>
            <a:custGeom>
              <a:avLst/>
              <a:gdLst/>
              <a:ahLst/>
              <a:cxnLst/>
              <a:rect l="l" t="t" r="r" b="b"/>
              <a:pathLst>
                <a:path w="838200" h="457200" extrusionOk="0">
                  <a:moveTo>
                    <a:pt x="76200" y="0"/>
                  </a:moveTo>
                  <a:lnTo>
                    <a:pt x="48220" y="6548"/>
                  </a:lnTo>
                  <a:lnTo>
                    <a:pt x="23812" y="23812"/>
                  </a:lnTo>
                  <a:lnTo>
                    <a:pt x="6548" y="48220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6548" y="408979"/>
                  </a:lnTo>
                  <a:lnTo>
                    <a:pt x="23812" y="433387"/>
                  </a:lnTo>
                  <a:lnTo>
                    <a:pt x="48220" y="450651"/>
                  </a:lnTo>
                  <a:lnTo>
                    <a:pt x="76200" y="457200"/>
                  </a:lnTo>
                  <a:lnTo>
                    <a:pt x="762000" y="457200"/>
                  </a:lnTo>
                  <a:lnTo>
                    <a:pt x="789979" y="450651"/>
                  </a:lnTo>
                  <a:lnTo>
                    <a:pt x="814387" y="433387"/>
                  </a:lnTo>
                  <a:lnTo>
                    <a:pt x="831651" y="408979"/>
                  </a:lnTo>
                  <a:lnTo>
                    <a:pt x="838200" y="381000"/>
                  </a:lnTo>
                  <a:lnTo>
                    <a:pt x="838200" y="76200"/>
                  </a:lnTo>
                  <a:lnTo>
                    <a:pt x="831651" y="48220"/>
                  </a:lnTo>
                  <a:lnTo>
                    <a:pt x="814387" y="23812"/>
                  </a:lnTo>
                  <a:lnTo>
                    <a:pt x="789979" y="6548"/>
                  </a:lnTo>
                  <a:lnTo>
                    <a:pt x="762000" y="0"/>
                  </a:lnTo>
                  <a:lnTo>
                    <a:pt x="76200" y="0"/>
                  </a:lnTo>
                  <a:close/>
                </a:path>
                <a:path w="838200" h="457200" extrusionOk="0">
                  <a:moveTo>
                    <a:pt x="0" y="0"/>
                  </a:moveTo>
                  <a:lnTo>
                    <a:pt x="0" y="0"/>
                  </a:lnTo>
                </a:path>
                <a:path w="838200" h="457200" extrusionOk="0">
                  <a:moveTo>
                    <a:pt x="838200" y="457200"/>
                  </a:moveTo>
                  <a:lnTo>
                    <a:pt x="838200" y="45720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1" name="Google Shape;181;p9"/>
          <p:cNvSpPr txBox="1"/>
          <p:nvPr/>
        </p:nvSpPr>
        <p:spPr>
          <a:xfrm>
            <a:off x="669290" y="3599179"/>
            <a:ext cx="262255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</a:t>
            </a:r>
            <a:endParaRPr sz="1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82" name="Google Shape;182;p9"/>
          <p:cNvGrpSpPr/>
          <p:nvPr/>
        </p:nvGrpSpPr>
        <p:grpSpPr>
          <a:xfrm>
            <a:off x="1295400" y="3505200"/>
            <a:ext cx="914400" cy="457200"/>
            <a:chOff x="1295400" y="3505200"/>
            <a:chExt cx="914400" cy="457200"/>
          </a:xfrm>
        </p:grpSpPr>
        <p:sp>
          <p:nvSpPr>
            <p:cNvPr id="183" name="Google Shape;183;p9"/>
            <p:cNvSpPr/>
            <p:nvPr/>
          </p:nvSpPr>
          <p:spPr>
            <a:xfrm>
              <a:off x="1295400" y="3505200"/>
              <a:ext cx="914400" cy="457200"/>
            </a:xfrm>
            <a:custGeom>
              <a:avLst/>
              <a:gdLst/>
              <a:ahLst/>
              <a:cxnLst/>
              <a:rect l="l" t="t" r="r" b="b"/>
              <a:pathLst>
                <a:path w="914400" h="457200" extrusionOk="0">
                  <a:moveTo>
                    <a:pt x="838200" y="0"/>
                  </a:moveTo>
                  <a:lnTo>
                    <a:pt x="76200" y="0"/>
                  </a:lnTo>
                  <a:lnTo>
                    <a:pt x="48220" y="6548"/>
                  </a:lnTo>
                  <a:lnTo>
                    <a:pt x="23812" y="23812"/>
                  </a:lnTo>
                  <a:lnTo>
                    <a:pt x="6548" y="48220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6548" y="408979"/>
                  </a:lnTo>
                  <a:lnTo>
                    <a:pt x="23812" y="433387"/>
                  </a:lnTo>
                  <a:lnTo>
                    <a:pt x="48220" y="450651"/>
                  </a:lnTo>
                  <a:lnTo>
                    <a:pt x="76200" y="457200"/>
                  </a:lnTo>
                  <a:lnTo>
                    <a:pt x="838200" y="457200"/>
                  </a:lnTo>
                  <a:lnTo>
                    <a:pt x="866179" y="450651"/>
                  </a:lnTo>
                  <a:lnTo>
                    <a:pt x="890587" y="433387"/>
                  </a:lnTo>
                  <a:lnTo>
                    <a:pt x="907851" y="408979"/>
                  </a:lnTo>
                  <a:lnTo>
                    <a:pt x="914400" y="381000"/>
                  </a:lnTo>
                  <a:lnTo>
                    <a:pt x="914400" y="76200"/>
                  </a:lnTo>
                  <a:lnTo>
                    <a:pt x="907851" y="48220"/>
                  </a:lnTo>
                  <a:lnTo>
                    <a:pt x="890587" y="23812"/>
                  </a:lnTo>
                  <a:lnTo>
                    <a:pt x="866179" y="6548"/>
                  </a:lnTo>
                  <a:lnTo>
                    <a:pt x="838200" y="0"/>
                  </a:lnTo>
                  <a:close/>
                </a:path>
              </a:pathLst>
            </a:custGeom>
            <a:solidFill>
              <a:srgbClr val="33CC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9"/>
            <p:cNvSpPr/>
            <p:nvPr/>
          </p:nvSpPr>
          <p:spPr>
            <a:xfrm>
              <a:off x="1295400" y="3505200"/>
              <a:ext cx="914400" cy="457200"/>
            </a:xfrm>
            <a:custGeom>
              <a:avLst/>
              <a:gdLst/>
              <a:ahLst/>
              <a:cxnLst/>
              <a:rect l="l" t="t" r="r" b="b"/>
              <a:pathLst>
                <a:path w="914400" h="457200" extrusionOk="0">
                  <a:moveTo>
                    <a:pt x="76200" y="0"/>
                  </a:moveTo>
                  <a:lnTo>
                    <a:pt x="48220" y="6548"/>
                  </a:lnTo>
                  <a:lnTo>
                    <a:pt x="23812" y="23812"/>
                  </a:lnTo>
                  <a:lnTo>
                    <a:pt x="6548" y="48220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6548" y="408979"/>
                  </a:lnTo>
                  <a:lnTo>
                    <a:pt x="23812" y="433387"/>
                  </a:lnTo>
                  <a:lnTo>
                    <a:pt x="48220" y="450651"/>
                  </a:lnTo>
                  <a:lnTo>
                    <a:pt x="76200" y="457200"/>
                  </a:lnTo>
                  <a:lnTo>
                    <a:pt x="838200" y="457200"/>
                  </a:lnTo>
                  <a:lnTo>
                    <a:pt x="866179" y="450651"/>
                  </a:lnTo>
                  <a:lnTo>
                    <a:pt x="890587" y="433387"/>
                  </a:lnTo>
                  <a:lnTo>
                    <a:pt x="907851" y="408979"/>
                  </a:lnTo>
                  <a:lnTo>
                    <a:pt x="914400" y="381000"/>
                  </a:lnTo>
                  <a:lnTo>
                    <a:pt x="914400" y="76200"/>
                  </a:lnTo>
                  <a:lnTo>
                    <a:pt x="907851" y="48220"/>
                  </a:lnTo>
                  <a:lnTo>
                    <a:pt x="890587" y="23812"/>
                  </a:lnTo>
                  <a:lnTo>
                    <a:pt x="866179" y="6548"/>
                  </a:lnTo>
                  <a:lnTo>
                    <a:pt x="838200" y="0"/>
                  </a:lnTo>
                  <a:lnTo>
                    <a:pt x="76200" y="0"/>
                  </a:lnTo>
                  <a:close/>
                </a:path>
                <a:path w="914400" h="457200" extrusionOk="0">
                  <a:moveTo>
                    <a:pt x="0" y="0"/>
                  </a:moveTo>
                  <a:lnTo>
                    <a:pt x="0" y="0"/>
                  </a:lnTo>
                </a:path>
                <a:path w="914400" h="457200" extrusionOk="0">
                  <a:moveTo>
                    <a:pt x="914400" y="457200"/>
                  </a:moveTo>
                  <a:lnTo>
                    <a:pt x="914400" y="45720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5" name="Google Shape;185;p9"/>
          <p:cNvSpPr txBox="1"/>
          <p:nvPr/>
        </p:nvSpPr>
        <p:spPr>
          <a:xfrm>
            <a:off x="1543050" y="3599179"/>
            <a:ext cx="42037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float</a:t>
            </a:r>
            <a:endParaRPr sz="1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86" name="Google Shape;186;p9"/>
          <p:cNvGrpSpPr/>
          <p:nvPr/>
        </p:nvGrpSpPr>
        <p:grpSpPr>
          <a:xfrm>
            <a:off x="2286000" y="3505200"/>
            <a:ext cx="914400" cy="457200"/>
            <a:chOff x="2286000" y="3505200"/>
            <a:chExt cx="914400" cy="457200"/>
          </a:xfrm>
        </p:grpSpPr>
        <p:sp>
          <p:nvSpPr>
            <p:cNvPr id="187" name="Google Shape;187;p9"/>
            <p:cNvSpPr/>
            <p:nvPr/>
          </p:nvSpPr>
          <p:spPr>
            <a:xfrm>
              <a:off x="2286000" y="3505200"/>
              <a:ext cx="914400" cy="457200"/>
            </a:xfrm>
            <a:custGeom>
              <a:avLst/>
              <a:gdLst/>
              <a:ahLst/>
              <a:cxnLst/>
              <a:rect l="l" t="t" r="r" b="b"/>
              <a:pathLst>
                <a:path w="914400" h="457200" extrusionOk="0">
                  <a:moveTo>
                    <a:pt x="838200" y="0"/>
                  </a:moveTo>
                  <a:lnTo>
                    <a:pt x="76200" y="0"/>
                  </a:lnTo>
                  <a:lnTo>
                    <a:pt x="47684" y="6548"/>
                  </a:lnTo>
                  <a:lnTo>
                    <a:pt x="23336" y="23812"/>
                  </a:lnTo>
                  <a:lnTo>
                    <a:pt x="6369" y="48220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6369" y="408979"/>
                  </a:lnTo>
                  <a:lnTo>
                    <a:pt x="23336" y="433387"/>
                  </a:lnTo>
                  <a:lnTo>
                    <a:pt x="47684" y="450651"/>
                  </a:lnTo>
                  <a:lnTo>
                    <a:pt x="76200" y="457200"/>
                  </a:lnTo>
                  <a:lnTo>
                    <a:pt x="838200" y="457200"/>
                  </a:lnTo>
                  <a:lnTo>
                    <a:pt x="866179" y="450651"/>
                  </a:lnTo>
                  <a:lnTo>
                    <a:pt x="890587" y="433387"/>
                  </a:lnTo>
                  <a:lnTo>
                    <a:pt x="907851" y="408979"/>
                  </a:lnTo>
                  <a:lnTo>
                    <a:pt x="914400" y="381000"/>
                  </a:lnTo>
                  <a:lnTo>
                    <a:pt x="914400" y="76200"/>
                  </a:lnTo>
                  <a:lnTo>
                    <a:pt x="907851" y="48220"/>
                  </a:lnTo>
                  <a:lnTo>
                    <a:pt x="890587" y="23812"/>
                  </a:lnTo>
                  <a:lnTo>
                    <a:pt x="866179" y="6548"/>
                  </a:lnTo>
                  <a:lnTo>
                    <a:pt x="838200" y="0"/>
                  </a:lnTo>
                  <a:close/>
                </a:path>
              </a:pathLst>
            </a:custGeom>
            <a:solidFill>
              <a:srgbClr val="33CC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9"/>
            <p:cNvSpPr/>
            <p:nvPr/>
          </p:nvSpPr>
          <p:spPr>
            <a:xfrm>
              <a:off x="2286000" y="3505200"/>
              <a:ext cx="914400" cy="457200"/>
            </a:xfrm>
            <a:custGeom>
              <a:avLst/>
              <a:gdLst/>
              <a:ahLst/>
              <a:cxnLst/>
              <a:rect l="l" t="t" r="r" b="b"/>
              <a:pathLst>
                <a:path w="914400" h="457200" extrusionOk="0">
                  <a:moveTo>
                    <a:pt x="76200" y="0"/>
                  </a:moveTo>
                  <a:lnTo>
                    <a:pt x="47684" y="6548"/>
                  </a:lnTo>
                  <a:lnTo>
                    <a:pt x="23336" y="23812"/>
                  </a:lnTo>
                  <a:lnTo>
                    <a:pt x="6369" y="48220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6369" y="408979"/>
                  </a:lnTo>
                  <a:lnTo>
                    <a:pt x="23336" y="433387"/>
                  </a:lnTo>
                  <a:lnTo>
                    <a:pt x="47684" y="450651"/>
                  </a:lnTo>
                  <a:lnTo>
                    <a:pt x="76200" y="457200"/>
                  </a:lnTo>
                  <a:lnTo>
                    <a:pt x="838200" y="457200"/>
                  </a:lnTo>
                  <a:lnTo>
                    <a:pt x="866179" y="450651"/>
                  </a:lnTo>
                  <a:lnTo>
                    <a:pt x="890587" y="433387"/>
                  </a:lnTo>
                  <a:lnTo>
                    <a:pt x="907851" y="408979"/>
                  </a:lnTo>
                  <a:lnTo>
                    <a:pt x="914400" y="381000"/>
                  </a:lnTo>
                  <a:lnTo>
                    <a:pt x="914400" y="76200"/>
                  </a:lnTo>
                  <a:lnTo>
                    <a:pt x="907851" y="48220"/>
                  </a:lnTo>
                  <a:lnTo>
                    <a:pt x="890587" y="23812"/>
                  </a:lnTo>
                  <a:lnTo>
                    <a:pt x="866179" y="6548"/>
                  </a:lnTo>
                  <a:lnTo>
                    <a:pt x="838200" y="0"/>
                  </a:lnTo>
                  <a:lnTo>
                    <a:pt x="76200" y="0"/>
                  </a:lnTo>
                  <a:close/>
                </a:path>
                <a:path w="914400" h="457200" extrusionOk="0">
                  <a:moveTo>
                    <a:pt x="0" y="0"/>
                  </a:moveTo>
                  <a:lnTo>
                    <a:pt x="0" y="0"/>
                  </a:lnTo>
                </a:path>
                <a:path w="914400" h="457200" extrusionOk="0">
                  <a:moveTo>
                    <a:pt x="914400" y="457200"/>
                  </a:moveTo>
                  <a:lnTo>
                    <a:pt x="914400" y="45720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9" name="Google Shape;189;p9"/>
          <p:cNvSpPr txBox="1"/>
          <p:nvPr/>
        </p:nvSpPr>
        <p:spPr>
          <a:xfrm>
            <a:off x="2414270" y="3599179"/>
            <a:ext cx="65659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pointer</a:t>
            </a:r>
            <a:endParaRPr sz="1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90" name="Google Shape;190;p9"/>
          <p:cNvGrpSpPr/>
          <p:nvPr/>
        </p:nvGrpSpPr>
        <p:grpSpPr>
          <a:xfrm>
            <a:off x="3276600" y="3505200"/>
            <a:ext cx="914400" cy="457200"/>
            <a:chOff x="3276600" y="3505200"/>
            <a:chExt cx="914400" cy="457200"/>
          </a:xfrm>
        </p:grpSpPr>
        <p:sp>
          <p:nvSpPr>
            <p:cNvPr id="191" name="Google Shape;191;p9"/>
            <p:cNvSpPr/>
            <p:nvPr/>
          </p:nvSpPr>
          <p:spPr>
            <a:xfrm>
              <a:off x="3276600" y="3505200"/>
              <a:ext cx="914400" cy="457200"/>
            </a:xfrm>
            <a:custGeom>
              <a:avLst/>
              <a:gdLst/>
              <a:ahLst/>
              <a:cxnLst/>
              <a:rect l="l" t="t" r="r" b="b"/>
              <a:pathLst>
                <a:path w="914400" h="457200" extrusionOk="0">
                  <a:moveTo>
                    <a:pt x="838200" y="0"/>
                  </a:moveTo>
                  <a:lnTo>
                    <a:pt x="76200" y="0"/>
                  </a:lnTo>
                  <a:lnTo>
                    <a:pt x="48220" y="6548"/>
                  </a:lnTo>
                  <a:lnTo>
                    <a:pt x="23812" y="23812"/>
                  </a:lnTo>
                  <a:lnTo>
                    <a:pt x="6548" y="48220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6548" y="408979"/>
                  </a:lnTo>
                  <a:lnTo>
                    <a:pt x="23812" y="433387"/>
                  </a:lnTo>
                  <a:lnTo>
                    <a:pt x="48220" y="450651"/>
                  </a:lnTo>
                  <a:lnTo>
                    <a:pt x="76200" y="457200"/>
                  </a:lnTo>
                  <a:lnTo>
                    <a:pt x="838200" y="457200"/>
                  </a:lnTo>
                  <a:lnTo>
                    <a:pt x="866179" y="450651"/>
                  </a:lnTo>
                  <a:lnTo>
                    <a:pt x="890587" y="433387"/>
                  </a:lnTo>
                  <a:lnTo>
                    <a:pt x="907851" y="408979"/>
                  </a:lnTo>
                  <a:lnTo>
                    <a:pt x="914400" y="381000"/>
                  </a:lnTo>
                  <a:lnTo>
                    <a:pt x="914400" y="76200"/>
                  </a:lnTo>
                  <a:lnTo>
                    <a:pt x="907851" y="48220"/>
                  </a:lnTo>
                  <a:lnTo>
                    <a:pt x="890587" y="23812"/>
                  </a:lnTo>
                  <a:lnTo>
                    <a:pt x="866179" y="6548"/>
                  </a:lnTo>
                  <a:lnTo>
                    <a:pt x="838200" y="0"/>
                  </a:lnTo>
                  <a:close/>
                </a:path>
              </a:pathLst>
            </a:custGeom>
            <a:solidFill>
              <a:srgbClr val="33CC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9"/>
            <p:cNvSpPr/>
            <p:nvPr/>
          </p:nvSpPr>
          <p:spPr>
            <a:xfrm>
              <a:off x="3276600" y="3505200"/>
              <a:ext cx="914400" cy="457200"/>
            </a:xfrm>
            <a:custGeom>
              <a:avLst/>
              <a:gdLst/>
              <a:ahLst/>
              <a:cxnLst/>
              <a:rect l="l" t="t" r="r" b="b"/>
              <a:pathLst>
                <a:path w="914400" h="457200" extrusionOk="0">
                  <a:moveTo>
                    <a:pt x="76200" y="0"/>
                  </a:moveTo>
                  <a:lnTo>
                    <a:pt x="48220" y="6548"/>
                  </a:lnTo>
                  <a:lnTo>
                    <a:pt x="23812" y="23812"/>
                  </a:lnTo>
                  <a:lnTo>
                    <a:pt x="6548" y="48220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6548" y="408979"/>
                  </a:lnTo>
                  <a:lnTo>
                    <a:pt x="23812" y="433387"/>
                  </a:lnTo>
                  <a:lnTo>
                    <a:pt x="48220" y="450651"/>
                  </a:lnTo>
                  <a:lnTo>
                    <a:pt x="76200" y="457200"/>
                  </a:lnTo>
                  <a:lnTo>
                    <a:pt x="838200" y="457200"/>
                  </a:lnTo>
                  <a:lnTo>
                    <a:pt x="866179" y="450651"/>
                  </a:lnTo>
                  <a:lnTo>
                    <a:pt x="890587" y="433387"/>
                  </a:lnTo>
                  <a:lnTo>
                    <a:pt x="907851" y="408979"/>
                  </a:lnTo>
                  <a:lnTo>
                    <a:pt x="914400" y="381000"/>
                  </a:lnTo>
                  <a:lnTo>
                    <a:pt x="914400" y="76200"/>
                  </a:lnTo>
                  <a:lnTo>
                    <a:pt x="907851" y="48220"/>
                  </a:lnTo>
                  <a:lnTo>
                    <a:pt x="890587" y="23812"/>
                  </a:lnTo>
                  <a:lnTo>
                    <a:pt x="866179" y="6548"/>
                  </a:lnTo>
                  <a:lnTo>
                    <a:pt x="838200" y="0"/>
                  </a:lnTo>
                  <a:lnTo>
                    <a:pt x="76200" y="0"/>
                  </a:lnTo>
                  <a:close/>
                </a:path>
                <a:path w="914400" h="457200" extrusionOk="0">
                  <a:moveTo>
                    <a:pt x="0" y="0"/>
                  </a:moveTo>
                  <a:lnTo>
                    <a:pt x="0" y="0"/>
                  </a:lnTo>
                </a:path>
                <a:path w="914400" h="457200" extrusionOk="0">
                  <a:moveTo>
                    <a:pt x="914400" y="457200"/>
                  </a:moveTo>
                  <a:lnTo>
                    <a:pt x="914400" y="45720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3" name="Google Shape;193;p9"/>
          <p:cNvSpPr txBox="1"/>
          <p:nvPr/>
        </p:nvSpPr>
        <p:spPr>
          <a:xfrm>
            <a:off x="3522979" y="3599179"/>
            <a:ext cx="421005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</a:t>
            </a:r>
            <a:endParaRPr sz="1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94" name="Google Shape;194;p9"/>
          <p:cNvGrpSpPr/>
          <p:nvPr/>
        </p:nvGrpSpPr>
        <p:grpSpPr>
          <a:xfrm>
            <a:off x="4953000" y="3505200"/>
            <a:ext cx="838200" cy="457200"/>
            <a:chOff x="4953000" y="3505200"/>
            <a:chExt cx="838200" cy="457200"/>
          </a:xfrm>
        </p:grpSpPr>
        <p:sp>
          <p:nvSpPr>
            <p:cNvPr id="195" name="Google Shape;195;p9"/>
            <p:cNvSpPr/>
            <p:nvPr/>
          </p:nvSpPr>
          <p:spPr>
            <a:xfrm>
              <a:off x="4953000" y="3505200"/>
              <a:ext cx="838200" cy="457200"/>
            </a:xfrm>
            <a:custGeom>
              <a:avLst/>
              <a:gdLst/>
              <a:ahLst/>
              <a:cxnLst/>
              <a:rect l="l" t="t" r="r" b="b"/>
              <a:pathLst>
                <a:path w="838200" h="457200" extrusionOk="0">
                  <a:moveTo>
                    <a:pt x="762000" y="0"/>
                  </a:moveTo>
                  <a:lnTo>
                    <a:pt x="76200" y="0"/>
                  </a:lnTo>
                  <a:lnTo>
                    <a:pt x="48220" y="6548"/>
                  </a:lnTo>
                  <a:lnTo>
                    <a:pt x="23812" y="23812"/>
                  </a:lnTo>
                  <a:lnTo>
                    <a:pt x="6548" y="48220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6548" y="408979"/>
                  </a:lnTo>
                  <a:lnTo>
                    <a:pt x="23812" y="433387"/>
                  </a:lnTo>
                  <a:lnTo>
                    <a:pt x="48220" y="450651"/>
                  </a:lnTo>
                  <a:lnTo>
                    <a:pt x="76200" y="457200"/>
                  </a:lnTo>
                  <a:lnTo>
                    <a:pt x="762000" y="457200"/>
                  </a:lnTo>
                  <a:lnTo>
                    <a:pt x="789979" y="450651"/>
                  </a:lnTo>
                  <a:lnTo>
                    <a:pt x="814387" y="433387"/>
                  </a:lnTo>
                  <a:lnTo>
                    <a:pt x="831651" y="408979"/>
                  </a:lnTo>
                  <a:lnTo>
                    <a:pt x="838200" y="381000"/>
                  </a:lnTo>
                  <a:lnTo>
                    <a:pt x="838200" y="76200"/>
                  </a:lnTo>
                  <a:lnTo>
                    <a:pt x="831651" y="48220"/>
                  </a:lnTo>
                  <a:lnTo>
                    <a:pt x="814387" y="23812"/>
                  </a:lnTo>
                  <a:lnTo>
                    <a:pt x="789979" y="6548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33CC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9"/>
            <p:cNvSpPr/>
            <p:nvPr/>
          </p:nvSpPr>
          <p:spPr>
            <a:xfrm>
              <a:off x="4953000" y="3505200"/>
              <a:ext cx="838200" cy="457200"/>
            </a:xfrm>
            <a:custGeom>
              <a:avLst/>
              <a:gdLst/>
              <a:ahLst/>
              <a:cxnLst/>
              <a:rect l="l" t="t" r="r" b="b"/>
              <a:pathLst>
                <a:path w="838200" h="457200" extrusionOk="0">
                  <a:moveTo>
                    <a:pt x="76200" y="0"/>
                  </a:moveTo>
                  <a:lnTo>
                    <a:pt x="48220" y="6548"/>
                  </a:lnTo>
                  <a:lnTo>
                    <a:pt x="23812" y="23812"/>
                  </a:lnTo>
                  <a:lnTo>
                    <a:pt x="6548" y="48220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6548" y="408979"/>
                  </a:lnTo>
                  <a:lnTo>
                    <a:pt x="23812" y="433387"/>
                  </a:lnTo>
                  <a:lnTo>
                    <a:pt x="48220" y="450651"/>
                  </a:lnTo>
                  <a:lnTo>
                    <a:pt x="76200" y="457200"/>
                  </a:lnTo>
                  <a:lnTo>
                    <a:pt x="762000" y="457200"/>
                  </a:lnTo>
                  <a:lnTo>
                    <a:pt x="789979" y="450651"/>
                  </a:lnTo>
                  <a:lnTo>
                    <a:pt x="814387" y="433387"/>
                  </a:lnTo>
                  <a:lnTo>
                    <a:pt x="831651" y="408979"/>
                  </a:lnTo>
                  <a:lnTo>
                    <a:pt x="838200" y="381000"/>
                  </a:lnTo>
                  <a:lnTo>
                    <a:pt x="838200" y="76200"/>
                  </a:lnTo>
                  <a:lnTo>
                    <a:pt x="831651" y="48220"/>
                  </a:lnTo>
                  <a:lnTo>
                    <a:pt x="814387" y="23812"/>
                  </a:lnTo>
                  <a:lnTo>
                    <a:pt x="789979" y="6548"/>
                  </a:lnTo>
                  <a:lnTo>
                    <a:pt x="762000" y="0"/>
                  </a:lnTo>
                  <a:lnTo>
                    <a:pt x="76200" y="0"/>
                  </a:lnTo>
                  <a:close/>
                </a:path>
                <a:path w="838200" h="457200" extrusionOk="0">
                  <a:moveTo>
                    <a:pt x="0" y="0"/>
                  </a:moveTo>
                  <a:lnTo>
                    <a:pt x="0" y="0"/>
                  </a:lnTo>
                </a:path>
                <a:path w="838200" h="457200" extrusionOk="0">
                  <a:moveTo>
                    <a:pt x="838200" y="457200"/>
                  </a:moveTo>
                  <a:lnTo>
                    <a:pt x="838200" y="45720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7" name="Google Shape;197;p9"/>
          <p:cNvSpPr txBox="1"/>
          <p:nvPr/>
        </p:nvSpPr>
        <p:spPr>
          <a:xfrm>
            <a:off x="5093970" y="3599179"/>
            <a:ext cx="555625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Array</a:t>
            </a:r>
            <a:endParaRPr sz="1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98" name="Google Shape;198;p9"/>
          <p:cNvGrpSpPr/>
          <p:nvPr/>
        </p:nvGrpSpPr>
        <p:grpSpPr>
          <a:xfrm>
            <a:off x="6172200" y="3505200"/>
            <a:ext cx="914400" cy="457200"/>
            <a:chOff x="6172200" y="3505200"/>
            <a:chExt cx="914400" cy="457200"/>
          </a:xfrm>
        </p:grpSpPr>
        <p:sp>
          <p:nvSpPr>
            <p:cNvPr id="199" name="Google Shape;199;p9"/>
            <p:cNvSpPr/>
            <p:nvPr/>
          </p:nvSpPr>
          <p:spPr>
            <a:xfrm>
              <a:off x="6172200" y="3505200"/>
              <a:ext cx="914400" cy="457200"/>
            </a:xfrm>
            <a:custGeom>
              <a:avLst/>
              <a:gdLst/>
              <a:ahLst/>
              <a:cxnLst/>
              <a:rect l="l" t="t" r="r" b="b"/>
              <a:pathLst>
                <a:path w="914400" h="457200" extrusionOk="0">
                  <a:moveTo>
                    <a:pt x="838200" y="0"/>
                  </a:moveTo>
                  <a:lnTo>
                    <a:pt x="76200" y="0"/>
                  </a:lnTo>
                  <a:lnTo>
                    <a:pt x="48220" y="6548"/>
                  </a:lnTo>
                  <a:lnTo>
                    <a:pt x="23812" y="23812"/>
                  </a:lnTo>
                  <a:lnTo>
                    <a:pt x="6548" y="48220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6548" y="408979"/>
                  </a:lnTo>
                  <a:lnTo>
                    <a:pt x="23812" y="433387"/>
                  </a:lnTo>
                  <a:lnTo>
                    <a:pt x="48220" y="450651"/>
                  </a:lnTo>
                  <a:lnTo>
                    <a:pt x="76200" y="457200"/>
                  </a:lnTo>
                  <a:lnTo>
                    <a:pt x="838200" y="457200"/>
                  </a:lnTo>
                  <a:lnTo>
                    <a:pt x="866179" y="450651"/>
                  </a:lnTo>
                  <a:lnTo>
                    <a:pt x="890587" y="433387"/>
                  </a:lnTo>
                  <a:lnTo>
                    <a:pt x="907851" y="408979"/>
                  </a:lnTo>
                  <a:lnTo>
                    <a:pt x="914400" y="381000"/>
                  </a:lnTo>
                  <a:lnTo>
                    <a:pt x="914400" y="76200"/>
                  </a:lnTo>
                  <a:lnTo>
                    <a:pt x="907851" y="48220"/>
                  </a:lnTo>
                  <a:lnTo>
                    <a:pt x="890587" y="23812"/>
                  </a:lnTo>
                  <a:lnTo>
                    <a:pt x="866179" y="6548"/>
                  </a:lnTo>
                  <a:lnTo>
                    <a:pt x="838200" y="0"/>
                  </a:lnTo>
                  <a:close/>
                </a:path>
              </a:pathLst>
            </a:custGeom>
            <a:solidFill>
              <a:srgbClr val="33CC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9"/>
            <p:cNvSpPr/>
            <p:nvPr/>
          </p:nvSpPr>
          <p:spPr>
            <a:xfrm>
              <a:off x="6172200" y="3505200"/>
              <a:ext cx="914400" cy="457200"/>
            </a:xfrm>
            <a:custGeom>
              <a:avLst/>
              <a:gdLst/>
              <a:ahLst/>
              <a:cxnLst/>
              <a:rect l="l" t="t" r="r" b="b"/>
              <a:pathLst>
                <a:path w="914400" h="457200" extrusionOk="0">
                  <a:moveTo>
                    <a:pt x="76200" y="0"/>
                  </a:moveTo>
                  <a:lnTo>
                    <a:pt x="48220" y="6548"/>
                  </a:lnTo>
                  <a:lnTo>
                    <a:pt x="23812" y="23812"/>
                  </a:lnTo>
                  <a:lnTo>
                    <a:pt x="6548" y="48220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6548" y="408979"/>
                  </a:lnTo>
                  <a:lnTo>
                    <a:pt x="23812" y="433387"/>
                  </a:lnTo>
                  <a:lnTo>
                    <a:pt x="48220" y="450651"/>
                  </a:lnTo>
                  <a:lnTo>
                    <a:pt x="76200" y="457200"/>
                  </a:lnTo>
                  <a:lnTo>
                    <a:pt x="838200" y="457200"/>
                  </a:lnTo>
                  <a:lnTo>
                    <a:pt x="866179" y="450651"/>
                  </a:lnTo>
                  <a:lnTo>
                    <a:pt x="890587" y="433387"/>
                  </a:lnTo>
                  <a:lnTo>
                    <a:pt x="907851" y="408979"/>
                  </a:lnTo>
                  <a:lnTo>
                    <a:pt x="914400" y="381000"/>
                  </a:lnTo>
                  <a:lnTo>
                    <a:pt x="914400" y="76200"/>
                  </a:lnTo>
                  <a:lnTo>
                    <a:pt x="907851" y="48220"/>
                  </a:lnTo>
                  <a:lnTo>
                    <a:pt x="890587" y="23812"/>
                  </a:lnTo>
                  <a:lnTo>
                    <a:pt x="866179" y="6548"/>
                  </a:lnTo>
                  <a:lnTo>
                    <a:pt x="838200" y="0"/>
                  </a:lnTo>
                  <a:lnTo>
                    <a:pt x="76200" y="0"/>
                  </a:lnTo>
                  <a:close/>
                </a:path>
                <a:path w="914400" h="457200" extrusionOk="0">
                  <a:moveTo>
                    <a:pt x="0" y="0"/>
                  </a:moveTo>
                  <a:lnTo>
                    <a:pt x="0" y="0"/>
                  </a:lnTo>
                </a:path>
                <a:path w="914400" h="457200" extrusionOk="0">
                  <a:moveTo>
                    <a:pt x="914400" y="457200"/>
                  </a:moveTo>
                  <a:lnTo>
                    <a:pt x="914400" y="45720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1" name="Google Shape;201;p9"/>
          <p:cNvSpPr txBox="1"/>
          <p:nvPr/>
        </p:nvSpPr>
        <p:spPr>
          <a:xfrm>
            <a:off x="6408420" y="3599179"/>
            <a:ext cx="441959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Lists</a:t>
            </a:r>
            <a:endParaRPr sz="1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02" name="Google Shape;202;p9"/>
          <p:cNvGrpSpPr/>
          <p:nvPr/>
        </p:nvGrpSpPr>
        <p:grpSpPr>
          <a:xfrm>
            <a:off x="7391400" y="3505200"/>
            <a:ext cx="914400" cy="457200"/>
            <a:chOff x="7391400" y="3505200"/>
            <a:chExt cx="914400" cy="457200"/>
          </a:xfrm>
        </p:grpSpPr>
        <p:sp>
          <p:nvSpPr>
            <p:cNvPr id="203" name="Google Shape;203;p9"/>
            <p:cNvSpPr/>
            <p:nvPr/>
          </p:nvSpPr>
          <p:spPr>
            <a:xfrm>
              <a:off x="7391400" y="3505200"/>
              <a:ext cx="914400" cy="457200"/>
            </a:xfrm>
            <a:custGeom>
              <a:avLst/>
              <a:gdLst/>
              <a:ahLst/>
              <a:cxnLst/>
              <a:rect l="l" t="t" r="r" b="b"/>
              <a:pathLst>
                <a:path w="914400" h="457200" extrusionOk="0">
                  <a:moveTo>
                    <a:pt x="838200" y="0"/>
                  </a:moveTo>
                  <a:lnTo>
                    <a:pt x="76200" y="0"/>
                  </a:lnTo>
                  <a:lnTo>
                    <a:pt x="48220" y="6548"/>
                  </a:lnTo>
                  <a:lnTo>
                    <a:pt x="23812" y="23812"/>
                  </a:lnTo>
                  <a:lnTo>
                    <a:pt x="6548" y="48220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6548" y="408979"/>
                  </a:lnTo>
                  <a:lnTo>
                    <a:pt x="23812" y="433387"/>
                  </a:lnTo>
                  <a:lnTo>
                    <a:pt x="48220" y="450651"/>
                  </a:lnTo>
                  <a:lnTo>
                    <a:pt x="76200" y="457200"/>
                  </a:lnTo>
                  <a:lnTo>
                    <a:pt x="838200" y="457200"/>
                  </a:lnTo>
                  <a:lnTo>
                    <a:pt x="866179" y="450651"/>
                  </a:lnTo>
                  <a:lnTo>
                    <a:pt x="890587" y="433387"/>
                  </a:lnTo>
                  <a:lnTo>
                    <a:pt x="907851" y="408979"/>
                  </a:lnTo>
                  <a:lnTo>
                    <a:pt x="914400" y="381000"/>
                  </a:lnTo>
                  <a:lnTo>
                    <a:pt x="914400" y="76200"/>
                  </a:lnTo>
                  <a:lnTo>
                    <a:pt x="907851" y="48220"/>
                  </a:lnTo>
                  <a:lnTo>
                    <a:pt x="890587" y="23812"/>
                  </a:lnTo>
                  <a:lnTo>
                    <a:pt x="866179" y="6548"/>
                  </a:lnTo>
                  <a:lnTo>
                    <a:pt x="838200" y="0"/>
                  </a:lnTo>
                  <a:close/>
                </a:path>
              </a:pathLst>
            </a:custGeom>
            <a:solidFill>
              <a:srgbClr val="33CC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204;p9"/>
            <p:cNvSpPr/>
            <p:nvPr/>
          </p:nvSpPr>
          <p:spPr>
            <a:xfrm>
              <a:off x="7391400" y="3505200"/>
              <a:ext cx="914400" cy="457200"/>
            </a:xfrm>
            <a:custGeom>
              <a:avLst/>
              <a:gdLst/>
              <a:ahLst/>
              <a:cxnLst/>
              <a:rect l="l" t="t" r="r" b="b"/>
              <a:pathLst>
                <a:path w="914400" h="457200" extrusionOk="0">
                  <a:moveTo>
                    <a:pt x="76200" y="0"/>
                  </a:moveTo>
                  <a:lnTo>
                    <a:pt x="48220" y="6548"/>
                  </a:lnTo>
                  <a:lnTo>
                    <a:pt x="23812" y="23812"/>
                  </a:lnTo>
                  <a:lnTo>
                    <a:pt x="6548" y="48220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6548" y="408979"/>
                  </a:lnTo>
                  <a:lnTo>
                    <a:pt x="23812" y="433387"/>
                  </a:lnTo>
                  <a:lnTo>
                    <a:pt x="48220" y="450651"/>
                  </a:lnTo>
                  <a:lnTo>
                    <a:pt x="76200" y="457200"/>
                  </a:lnTo>
                  <a:lnTo>
                    <a:pt x="838200" y="457200"/>
                  </a:lnTo>
                  <a:lnTo>
                    <a:pt x="866179" y="450651"/>
                  </a:lnTo>
                  <a:lnTo>
                    <a:pt x="890587" y="433387"/>
                  </a:lnTo>
                  <a:lnTo>
                    <a:pt x="907851" y="408979"/>
                  </a:lnTo>
                  <a:lnTo>
                    <a:pt x="914400" y="381000"/>
                  </a:lnTo>
                  <a:lnTo>
                    <a:pt x="914400" y="76200"/>
                  </a:lnTo>
                  <a:lnTo>
                    <a:pt x="907851" y="48220"/>
                  </a:lnTo>
                  <a:lnTo>
                    <a:pt x="890587" y="23812"/>
                  </a:lnTo>
                  <a:lnTo>
                    <a:pt x="866179" y="6548"/>
                  </a:lnTo>
                  <a:lnTo>
                    <a:pt x="838200" y="0"/>
                  </a:lnTo>
                  <a:lnTo>
                    <a:pt x="76200" y="0"/>
                  </a:lnTo>
                  <a:close/>
                </a:path>
                <a:path w="914400" h="457200" extrusionOk="0">
                  <a:moveTo>
                    <a:pt x="0" y="0"/>
                  </a:moveTo>
                  <a:lnTo>
                    <a:pt x="0" y="0"/>
                  </a:lnTo>
                </a:path>
                <a:path w="914400" h="457200" extrusionOk="0">
                  <a:moveTo>
                    <a:pt x="914400" y="457200"/>
                  </a:moveTo>
                  <a:lnTo>
                    <a:pt x="914400" y="45720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5" name="Google Shape;205;p9"/>
          <p:cNvSpPr txBox="1"/>
          <p:nvPr/>
        </p:nvSpPr>
        <p:spPr>
          <a:xfrm>
            <a:off x="7633969" y="3599179"/>
            <a:ext cx="429259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Files</a:t>
            </a:r>
            <a:endParaRPr sz="1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06" name="Google Shape;206;p9"/>
          <p:cNvGrpSpPr/>
          <p:nvPr/>
        </p:nvGrpSpPr>
        <p:grpSpPr>
          <a:xfrm>
            <a:off x="5334000" y="4572000"/>
            <a:ext cx="1066800" cy="533400"/>
            <a:chOff x="5334000" y="4572000"/>
            <a:chExt cx="1066800" cy="533400"/>
          </a:xfrm>
        </p:grpSpPr>
        <p:sp>
          <p:nvSpPr>
            <p:cNvPr id="207" name="Google Shape;207;p9"/>
            <p:cNvSpPr/>
            <p:nvPr/>
          </p:nvSpPr>
          <p:spPr>
            <a:xfrm>
              <a:off x="5334000" y="4572000"/>
              <a:ext cx="1066800" cy="533400"/>
            </a:xfrm>
            <a:custGeom>
              <a:avLst/>
              <a:gdLst/>
              <a:ahLst/>
              <a:cxnLst/>
              <a:rect l="l" t="t" r="r" b="b"/>
              <a:pathLst>
                <a:path w="1066800" h="533400" extrusionOk="0">
                  <a:moveTo>
                    <a:pt x="977900" y="0"/>
                  </a:moveTo>
                  <a:lnTo>
                    <a:pt x="88900" y="0"/>
                  </a:lnTo>
                  <a:lnTo>
                    <a:pt x="55721" y="7639"/>
                  </a:lnTo>
                  <a:lnTo>
                    <a:pt x="27304" y="27781"/>
                  </a:lnTo>
                  <a:lnTo>
                    <a:pt x="7461" y="56257"/>
                  </a:lnTo>
                  <a:lnTo>
                    <a:pt x="0" y="88900"/>
                  </a:lnTo>
                  <a:lnTo>
                    <a:pt x="0" y="444500"/>
                  </a:lnTo>
                  <a:lnTo>
                    <a:pt x="7461" y="477142"/>
                  </a:lnTo>
                  <a:lnTo>
                    <a:pt x="27304" y="505618"/>
                  </a:lnTo>
                  <a:lnTo>
                    <a:pt x="55721" y="525760"/>
                  </a:lnTo>
                  <a:lnTo>
                    <a:pt x="88900" y="533400"/>
                  </a:lnTo>
                  <a:lnTo>
                    <a:pt x="977900" y="533400"/>
                  </a:lnTo>
                  <a:lnTo>
                    <a:pt x="1010542" y="525760"/>
                  </a:lnTo>
                  <a:lnTo>
                    <a:pt x="1039018" y="505618"/>
                  </a:lnTo>
                  <a:lnTo>
                    <a:pt x="1059160" y="477142"/>
                  </a:lnTo>
                  <a:lnTo>
                    <a:pt x="1066800" y="444500"/>
                  </a:lnTo>
                  <a:lnTo>
                    <a:pt x="1066800" y="88900"/>
                  </a:lnTo>
                  <a:lnTo>
                    <a:pt x="1059160" y="56257"/>
                  </a:lnTo>
                  <a:lnTo>
                    <a:pt x="1039018" y="27781"/>
                  </a:lnTo>
                  <a:lnTo>
                    <a:pt x="1010542" y="7639"/>
                  </a:lnTo>
                  <a:lnTo>
                    <a:pt x="977900" y="0"/>
                  </a:lnTo>
                  <a:close/>
                </a:path>
              </a:pathLst>
            </a:custGeom>
            <a:solidFill>
              <a:srgbClr val="33CC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9"/>
            <p:cNvSpPr/>
            <p:nvPr/>
          </p:nvSpPr>
          <p:spPr>
            <a:xfrm>
              <a:off x="5334000" y="4572000"/>
              <a:ext cx="1066800" cy="533400"/>
            </a:xfrm>
            <a:custGeom>
              <a:avLst/>
              <a:gdLst/>
              <a:ahLst/>
              <a:cxnLst/>
              <a:rect l="l" t="t" r="r" b="b"/>
              <a:pathLst>
                <a:path w="1066800" h="533400" extrusionOk="0">
                  <a:moveTo>
                    <a:pt x="88900" y="0"/>
                  </a:moveTo>
                  <a:lnTo>
                    <a:pt x="55721" y="7639"/>
                  </a:lnTo>
                  <a:lnTo>
                    <a:pt x="27304" y="27781"/>
                  </a:lnTo>
                  <a:lnTo>
                    <a:pt x="7461" y="56257"/>
                  </a:lnTo>
                  <a:lnTo>
                    <a:pt x="0" y="88900"/>
                  </a:lnTo>
                  <a:lnTo>
                    <a:pt x="0" y="444500"/>
                  </a:lnTo>
                  <a:lnTo>
                    <a:pt x="7461" y="477142"/>
                  </a:lnTo>
                  <a:lnTo>
                    <a:pt x="27304" y="505618"/>
                  </a:lnTo>
                  <a:lnTo>
                    <a:pt x="55721" y="525760"/>
                  </a:lnTo>
                  <a:lnTo>
                    <a:pt x="88900" y="533400"/>
                  </a:lnTo>
                  <a:lnTo>
                    <a:pt x="977900" y="533400"/>
                  </a:lnTo>
                  <a:lnTo>
                    <a:pt x="1010542" y="525760"/>
                  </a:lnTo>
                  <a:lnTo>
                    <a:pt x="1039018" y="505618"/>
                  </a:lnTo>
                  <a:lnTo>
                    <a:pt x="1059160" y="477142"/>
                  </a:lnTo>
                  <a:lnTo>
                    <a:pt x="1066800" y="444500"/>
                  </a:lnTo>
                  <a:lnTo>
                    <a:pt x="1066800" y="88900"/>
                  </a:lnTo>
                  <a:lnTo>
                    <a:pt x="1059160" y="56257"/>
                  </a:lnTo>
                  <a:lnTo>
                    <a:pt x="1039018" y="27781"/>
                  </a:lnTo>
                  <a:lnTo>
                    <a:pt x="1010542" y="7639"/>
                  </a:lnTo>
                  <a:lnTo>
                    <a:pt x="977900" y="0"/>
                  </a:lnTo>
                  <a:lnTo>
                    <a:pt x="88900" y="0"/>
                  </a:lnTo>
                  <a:close/>
                </a:path>
                <a:path w="1066800" h="533400" extrusionOk="0">
                  <a:moveTo>
                    <a:pt x="0" y="0"/>
                  </a:moveTo>
                  <a:lnTo>
                    <a:pt x="0" y="0"/>
                  </a:lnTo>
                </a:path>
                <a:path w="1066800" h="533400" extrusionOk="0">
                  <a:moveTo>
                    <a:pt x="1066800" y="533400"/>
                  </a:moveTo>
                  <a:lnTo>
                    <a:pt x="1066800" y="53340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9" name="Google Shape;209;p9"/>
          <p:cNvSpPr txBox="1"/>
          <p:nvPr/>
        </p:nvSpPr>
        <p:spPr>
          <a:xfrm>
            <a:off x="5406390" y="4704079"/>
            <a:ext cx="921385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Linear list</a:t>
            </a:r>
            <a:endParaRPr sz="1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10" name="Google Shape;210;p9"/>
          <p:cNvGrpSpPr/>
          <p:nvPr/>
        </p:nvGrpSpPr>
        <p:grpSpPr>
          <a:xfrm>
            <a:off x="7086600" y="4572000"/>
            <a:ext cx="1066800" cy="533400"/>
            <a:chOff x="7086600" y="4572000"/>
            <a:chExt cx="1066800" cy="533400"/>
          </a:xfrm>
        </p:grpSpPr>
        <p:sp>
          <p:nvSpPr>
            <p:cNvPr id="211" name="Google Shape;211;p9"/>
            <p:cNvSpPr/>
            <p:nvPr/>
          </p:nvSpPr>
          <p:spPr>
            <a:xfrm>
              <a:off x="7086600" y="4572000"/>
              <a:ext cx="1066800" cy="533400"/>
            </a:xfrm>
            <a:custGeom>
              <a:avLst/>
              <a:gdLst/>
              <a:ahLst/>
              <a:cxnLst/>
              <a:rect l="l" t="t" r="r" b="b"/>
              <a:pathLst>
                <a:path w="1066800" h="533400" extrusionOk="0">
                  <a:moveTo>
                    <a:pt x="977900" y="0"/>
                  </a:moveTo>
                  <a:lnTo>
                    <a:pt x="88900" y="0"/>
                  </a:lnTo>
                  <a:lnTo>
                    <a:pt x="56257" y="7639"/>
                  </a:lnTo>
                  <a:lnTo>
                    <a:pt x="27781" y="27781"/>
                  </a:lnTo>
                  <a:lnTo>
                    <a:pt x="7639" y="56257"/>
                  </a:lnTo>
                  <a:lnTo>
                    <a:pt x="0" y="88900"/>
                  </a:lnTo>
                  <a:lnTo>
                    <a:pt x="0" y="444500"/>
                  </a:lnTo>
                  <a:lnTo>
                    <a:pt x="7639" y="477142"/>
                  </a:lnTo>
                  <a:lnTo>
                    <a:pt x="27781" y="505618"/>
                  </a:lnTo>
                  <a:lnTo>
                    <a:pt x="56257" y="525760"/>
                  </a:lnTo>
                  <a:lnTo>
                    <a:pt x="88900" y="533400"/>
                  </a:lnTo>
                  <a:lnTo>
                    <a:pt x="977900" y="533400"/>
                  </a:lnTo>
                  <a:lnTo>
                    <a:pt x="1010542" y="525760"/>
                  </a:lnTo>
                  <a:lnTo>
                    <a:pt x="1039018" y="505618"/>
                  </a:lnTo>
                  <a:lnTo>
                    <a:pt x="1059160" y="477142"/>
                  </a:lnTo>
                  <a:lnTo>
                    <a:pt x="1066800" y="444500"/>
                  </a:lnTo>
                  <a:lnTo>
                    <a:pt x="1066800" y="88900"/>
                  </a:lnTo>
                  <a:lnTo>
                    <a:pt x="1059160" y="56257"/>
                  </a:lnTo>
                  <a:lnTo>
                    <a:pt x="1039018" y="27781"/>
                  </a:lnTo>
                  <a:lnTo>
                    <a:pt x="1010542" y="7639"/>
                  </a:lnTo>
                  <a:lnTo>
                    <a:pt x="977900" y="0"/>
                  </a:lnTo>
                  <a:close/>
                </a:path>
              </a:pathLst>
            </a:custGeom>
            <a:solidFill>
              <a:srgbClr val="33CC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9"/>
            <p:cNvSpPr/>
            <p:nvPr/>
          </p:nvSpPr>
          <p:spPr>
            <a:xfrm>
              <a:off x="7086600" y="4572000"/>
              <a:ext cx="1066800" cy="533400"/>
            </a:xfrm>
            <a:custGeom>
              <a:avLst/>
              <a:gdLst/>
              <a:ahLst/>
              <a:cxnLst/>
              <a:rect l="l" t="t" r="r" b="b"/>
              <a:pathLst>
                <a:path w="1066800" h="533400" extrusionOk="0">
                  <a:moveTo>
                    <a:pt x="88900" y="0"/>
                  </a:moveTo>
                  <a:lnTo>
                    <a:pt x="56257" y="7639"/>
                  </a:lnTo>
                  <a:lnTo>
                    <a:pt x="27781" y="27781"/>
                  </a:lnTo>
                  <a:lnTo>
                    <a:pt x="7639" y="56257"/>
                  </a:lnTo>
                  <a:lnTo>
                    <a:pt x="0" y="88900"/>
                  </a:lnTo>
                  <a:lnTo>
                    <a:pt x="0" y="444500"/>
                  </a:lnTo>
                  <a:lnTo>
                    <a:pt x="7639" y="477142"/>
                  </a:lnTo>
                  <a:lnTo>
                    <a:pt x="27781" y="505618"/>
                  </a:lnTo>
                  <a:lnTo>
                    <a:pt x="56257" y="525760"/>
                  </a:lnTo>
                  <a:lnTo>
                    <a:pt x="88900" y="533400"/>
                  </a:lnTo>
                  <a:lnTo>
                    <a:pt x="977900" y="533400"/>
                  </a:lnTo>
                  <a:lnTo>
                    <a:pt x="1010542" y="525760"/>
                  </a:lnTo>
                  <a:lnTo>
                    <a:pt x="1039018" y="505618"/>
                  </a:lnTo>
                  <a:lnTo>
                    <a:pt x="1059160" y="477142"/>
                  </a:lnTo>
                  <a:lnTo>
                    <a:pt x="1066800" y="444500"/>
                  </a:lnTo>
                  <a:lnTo>
                    <a:pt x="1066800" y="88900"/>
                  </a:lnTo>
                  <a:lnTo>
                    <a:pt x="1059160" y="56257"/>
                  </a:lnTo>
                  <a:lnTo>
                    <a:pt x="1039018" y="27781"/>
                  </a:lnTo>
                  <a:lnTo>
                    <a:pt x="1010542" y="7639"/>
                  </a:lnTo>
                  <a:lnTo>
                    <a:pt x="977900" y="0"/>
                  </a:lnTo>
                  <a:lnTo>
                    <a:pt x="88900" y="0"/>
                  </a:lnTo>
                  <a:close/>
                </a:path>
                <a:path w="1066800" h="533400" extrusionOk="0">
                  <a:moveTo>
                    <a:pt x="0" y="0"/>
                  </a:moveTo>
                  <a:lnTo>
                    <a:pt x="0" y="0"/>
                  </a:lnTo>
                </a:path>
                <a:path w="1066800" h="533400" extrusionOk="0">
                  <a:moveTo>
                    <a:pt x="1066800" y="533400"/>
                  </a:moveTo>
                  <a:lnTo>
                    <a:pt x="1066800" y="53340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3" name="Google Shape;213;p9"/>
          <p:cNvSpPr txBox="1"/>
          <p:nvPr/>
        </p:nvSpPr>
        <p:spPr>
          <a:xfrm>
            <a:off x="7082790" y="4582159"/>
            <a:ext cx="1023619" cy="51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407034" marR="5080" lvl="0" indent="-39497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 Linear  list</a:t>
            </a:r>
            <a:endParaRPr sz="1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14" name="Google Shape;214;p9"/>
          <p:cNvGrpSpPr/>
          <p:nvPr/>
        </p:nvGrpSpPr>
        <p:grpSpPr>
          <a:xfrm>
            <a:off x="761999" y="2895600"/>
            <a:ext cx="7086600" cy="3352800"/>
            <a:chOff x="761999" y="2895600"/>
            <a:chExt cx="7086600" cy="3352800"/>
          </a:xfrm>
        </p:grpSpPr>
        <p:sp>
          <p:nvSpPr>
            <p:cNvPr id="215" name="Google Shape;215;p9"/>
            <p:cNvSpPr/>
            <p:nvPr/>
          </p:nvSpPr>
          <p:spPr>
            <a:xfrm>
              <a:off x="761999" y="2895600"/>
              <a:ext cx="7086600" cy="1676400"/>
            </a:xfrm>
            <a:custGeom>
              <a:avLst/>
              <a:gdLst/>
              <a:ahLst/>
              <a:cxnLst/>
              <a:rect l="l" t="t" r="r" b="b"/>
              <a:pathLst>
                <a:path w="7086600" h="1676400" extrusionOk="0">
                  <a:moveTo>
                    <a:pt x="5867400" y="1066800"/>
                  </a:moveTo>
                  <a:lnTo>
                    <a:pt x="5867400" y="1371600"/>
                  </a:lnTo>
                </a:path>
                <a:path w="7086600" h="1676400" extrusionOk="0">
                  <a:moveTo>
                    <a:pt x="5105400" y="1371600"/>
                  </a:moveTo>
                  <a:lnTo>
                    <a:pt x="6858000" y="1371600"/>
                  </a:lnTo>
                </a:path>
                <a:path w="7086600" h="1676400" extrusionOk="0">
                  <a:moveTo>
                    <a:pt x="5105400" y="1371600"/>
                  </a:moveTo>
                  <a:lnTo>
                    <a:pt x="5105400" y="1676400"/>
                  </a:lnTo>
                </a:path>
                <a:path w="7086600" h="1676400" extrusionOk="0">
                  <a:moveTo>
                    <a:pt x="6858000" y="1371600"/>
                  </a:moveTo>
                  <a:lnTo>
                    <a:pt x="6858000" y="1676400"/>
                  </a:lnTo>
                </a:path>
                <a:path w="7086600" h="1676400" extrusionOk="0">
                  <a:moveTo>
                    <a:pt x="4648200" y="304800"/>
                  </a:moveTo>
                  <a:lnTo>
                    <a:pt x="7086600" y="304800"/>
                  </a:lnTo>
                </a:path>
                <a:path w="7086600" h="1676400" extrusionOk="0">
                  <a:moveTo>
                    <a:pt x="7086600" y="304800"/>
                  </a:moveTo>
                  <a:lnTo>
                    <a:pt x="7086600" y="609600"/>
                  </a:lnTo>
                </a:path>
                <a:path w="7086600" h="1676400" extrusionOk="0">
                  <a:moveTo>
                    <a:pt x="4648200" y="304800"/>
                  </a:moveTo>
                  <a:lnTo>
                    <a:pt x="4648200" y="609600"/>
                  </a:lnTo>
                </a:path>
                <a:path w="7086600" h="1676400" extrusionOk="0">
                  <a:moveTo>
                    <a:pt x="5867400" y="0"/>
                  </a:moveTo>
                  <a:lnTo>
                    <a:pt x="5867400" y="304800"/>
                  </a:lnTo>
                </a:path>
                <a:path w="7086600" h="1676400" extrusionOk="0">
                  <a:moveTo>
                    <a:pt x="1524000" y="0"/>
                  </a:moveTo>
                  <a:lnTo>
                    <a:pt x="1524000" y="304800"/>
                  </a:lnTo>
                </a:path>
                <a:path w="7086600" h="1676400" extrusionOk="0">
                  <a:moveTo>
                    <a:pt x="0" y="304800"/>
                  </a:moveTo>
                  <a:lnTo>
                    <a:pt x="2971800" y="304800"/>
                  </a:lnTo>
                </a:path>
                <a:path w="7086600" h="1676400" extrusionOk="0">
                  <a:moveTo>
                    <a:pt x="0" y="304800"/>
                  </a:moveTo>
                  <a:lnTo>
                    <a:pt x="0" y="609600"/>
                  </a:lnTo>
                </a:path>
                <a:path w="7086600" h="1676400" extrusionOk="0">
                  <a:moveTo>
                    <a:pt x="990600" y="304800"/>
                  </a:moveTo>
                  <a:lnTo>
                    <a:pt x="990600" y="609600"/>
                  </a:lnTo>
                </a:path>
                <a:path w="7086600" h="1676400" extrusionOk="0">
                  <a:moveTo>
                    <a:pt x="1981200" y="304800"/>
                  </a:moveTo>
                  <a:lnTo>
                    <a:pt x="1981200" y="609600"/>
                  </a:lnTo>
                </a:path>
                <a:path w="7086600" h="1676400" extrusionOk="0">
                  <a:moveTo>
                    <a:pt x="2971800" y="304800"/>
                  </a:moveTo>
                  <a:lnTo>
                    <a:pt x="2971800" y="609600"/>
                  </a:lnTo>
                </a:path>
              </a:pathLst>
            </a:custGeom>
            <a:noFill/>
            <a:ln w="255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9"/>
            <p:cNvSpPr/>
            <p:nvPr/>
          </p:nvSpPr>
          <p:spPr>
            <a:xfrm>
              <a:off x="3581399" y="5715000"/>
              <a:ext cx="1066800" cy="533400"/>
            </a:xfrm>
            <a:custGeom>
              <a:avLst/>
              <a:gdLst/>
              <a:ahLst/>
              <a:cxnLst/>
              <a:rect l="l" t="t" r="r" b="b"/>
              <a:pathLst>
                <a:path w="1066800" h="533400" extrusionOk="0">
                  <a:moveTo>
                    <a:pt x="977900" y="0"/>
                  </a:moveTo>
                  <a:lnTo>
                    <a:pt x="88900" y="0"/>
                  </a:lnTo>
                  <a:lnTo>
                    <a:pt x="55721" y="7639"/>
                  </a:lnTo>
                  <a:lnTo>
                    <a:pt x="27304" y="27781"/>
                  </a:lnTo>
                  <a:lnTo>
                    <a:pt x="7461" y="56257"/>
                  </a:lnTo>
                  <a:lnTo>
                    <a:pt x="0" y="88900"/>
                  </a:lnTo>
                  <a:lnTo>
                    <a:pt x="0" y="444500"/>
                  </a:lnTo>
                  <a:lnTo>
                    <a:pt x="7461" y="477142"/>
                  </a:lnTo>
                  <a:lnTo>
                    <a:pt x="27304" y="505618"/>
                  </a:lnTo>
                  <a:lnTo>
                    <a:pt x="55721" y="525760"/>
                  </a:lnTo>
                  <a:lnTo>
                    <a:pt x="88900" y="533400"/>
                  </a:lnTo>
                  <a:lnTo>
                    <a:pt x="977900" y="533400"/>
                  </a:lnTo>
                  <a:lnTo>
                    <a:pt x="1010542" y="525760"/>
                  </a:lnTo>
                  <a:lnTo>
                    <a:pt x="1039018" y="505618"/>
                  </a:lnTo>
                  <a:lnTo>
                    <a:pt x="1059160" y="477142"/>
                  </a:lnTo>
                  <a:lnTo>
                    <a:pt x="1066800" y="444500"/>
                  </a:lnTo>
                  <a:lnTo>
                    <a:pt x="1066800" y="88900"/>
                  </a:lnTo>
                  <a:lnTo>
                    <a:pt x="1059160" y="56257"/>
                  </a:lnTo>
                  <a:lnTo>
                    <a:pt x="1039018" y="27781"/>
                  </a:lnTo>
                  <a:lnTo>
                    <a:pt x="1010542" y="7639"/>
                  </a:lnTo>
                  <a:lnTo>
                    <a:pt x="977900" y="0"/>
                  </a:lnTo>
                  <a:close/>
                </a:path>
              </a:pathLst>
            </a:custGeom>
            <a:solidFill>
              <a:srgbClr val="33CC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9"/>
            <p:cNvSpPr/>
            <p:nvPr/>
          </p:nvSpPr>
          <p:spPr>
            <a:xfrm>
              <a:off x="3581399" y="5715000"/>
              <a:ext cx="1066800" cy="533400"/>
            </a:xfrm>
            <a:custGeom>
              <a:avLst/>
              <a:gdLst/>
              <a:ahLst/>
              <a:cxnLst/>
              <a:rect l="l" t="t" r="r" b="b"/>
              <a:pathLst>
                <a:path w="1066800" h="533400" extrusionOk="0">
                  <a:moveTo>
                    <a:pt x="88900" y="0"/>
                  </a:moveTo>
                  <a:lnTo>
                    <a:pt x="55721" y="7639"/>
                  </a:lnTo>
                  <a:lnTo>
                    <a:pt x="27304" y="27781"/>
                  </a:lnTo>
                  <a:lnTo>
                    <a:pt x="7461" y="56257"/>
                  </a:lnTo>
                  <a:lnTo>
                    <a:pt x="0" y="88900"/>
                  </a:lnTo>
                  <a:lnTo>
                    <a:pt x="0" y="444500"/>
                  </a:lnTo>
                  <a:lnTo>
                    <a:pt x="7461" y="477142"/>
                  </a:lnTo>
                  <a:lnTo>
                    <a:pt x="27304" y="505618"/>
                  </a:lnTo>
                  <a:lnTo>
                    <a:pt x="55721" y="525760"/>
                  </a:lnTo>
                  <a:lnTo>
                    <a:pt x="88900" y="533400"/>
                  </a:lnTo>
                  <a:lnTo>
                    <a:pt x="977900" y="533400"/>
                  </a:lnTo>
                  <a:lnTo>
                    <a:pt x="1010542" y="525760"/>
                  </a:lnTo>
                  <a:lnTo>
                    <a:pt x="1039018" y="505618"/>
                  </a:lnTo>
                  <a:lnTo>
                    <a:pt x="1059160" y="477142"/>
                  </a:lnTo>
                  <a:lnTo>
                    <a:pt x="1066800" y="444500"/>
                  </a:lnTo>
                  <a:lnTo>
                    <a:pt x="1066800" y="88900"/>
                  </a:lnTo>
                  <a:lnTo>
                    <a:pt x="1059160" y="56257"/>
                  </a:lnTo>
                  <a:lnTo>
                    <a:pt x="1039018" y="27781"/>
                  </a:lnTo>
                  <a:lnTo>
                    <a:pt x="1010542" y="7639"/>
                  </a:lnTo>
                  <a:lnTo>
                    <a:pt x="977900" y="0"/>
                  </a:lnTo>
                  <a:lnTo>
                    <a:pt x="88900" y="0"/>
                  </a:lnTo>
                  <a:close/>
                </a:path>
                <a:path w="1066800" h="533400" extrusionOk="0">
                  <a:moveTo>
                    <a:pt x="0" y="0"/>
                  </a:moveTo>
                  <a:lnTo>
                    <a:pt x="0" y="0"/>
                  </a:lnTo>
                </a:path>
                <a:path w="1066800" h="533400" extrusionOk="0">
                  <a:moveTo>
                    <a:pt x="1066800" y="533400"/>
                  </a:moveTo>
                  <a:lnTo>
                    <a:pt x="1066800" y="53340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8" name="Google Shape;218;p9"/>
          <p:cNvSpPr txBox="1"/>
          <p:nvPr/>
        </p:nvSpPr>
        <p:spPr>
          <a:xfrm>
            <a:off x="3860800" y="5847079"/>
            <a:ext cx="50927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Stack</a:t>
            </a:r>
            <a:endParaRPr sz="1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19" name="Google Shape;219;p9"/>
          <p:cNvGrpSpPr/>
          <p:nvPr/>
        </p:nvGrpSpPr>
        <p:grpSpPr>
          <a:xfrm>
            <a:off x="5334000" y="5715000"/>
            <a:ext cx="1066800" cy="533400"/>
            <a:chOff x="5334000" y="5715000"/>
            <a:chExt cx="1066800" cy="533400"/>
          </a:xfrm>
        </p:grpSpPr>
        <p:sp>
          <p:nvSpPr>
            <p:cNvPr id="220" name="Google Shape;220;p9"/>
            <p:cNvSpPr/>
            <p:nvPr/>
          </p:nvSpPr>
          <p:spPr>
            <a:xfrm>
              <a:off x="5334000" y="5715000"/>
              <a:ext cx="1066800" cy="533400"/>
            </a:xfrm>
            <a:custGeom>
              <a:avLst/>
              <a:gdLst/>
              <a:ahLst/>
              <a:cxnLst/>
              <a:rect l="l" t="t" r="r" b="b"/>
              <a:pathLst>
                <a:path w="1066800" h="533400" extrusionOk="0">
                  <a:moveTo>
                    <a:pt x="977900" y="0"/>
                  </a:moveTo>
                  <a:lnTo>
                    <a:pt x="88900" y="0"/>
                  </a:lnTo>
                  <a:lnTo>
                    <a:pt x="55721" y="7639"/>
                  </a:lnTo>
                  <a:lnTo>
                    <a:pt x="27304" y="27781"/>
                  </a:lnTo>
                  <a:lnTo>
                    <a:pt x="7461" y="56257"/>
                  </a:lnTo>
                  <a:lnTo>
                    <a:pt x="0" y="88900"/>
                  </a:lnTo>
                  <a:lnTo>
                    <a:pt x="0" y="444500"/>
                  </a:lnTo>
                  <a:lnTo>
                    <a:pt x="7461" y="477142"/>
                  </a:lnTo>
                  <a:lnTo>
                    <a:pt x="27304" y="505618"/>
                  </a:lnTo>
                  <a:lnTo>
                    <a:pt x="55721" y="525760"/>
                  </a:lnTo>
                  <a:lnTo>
                    <a:pt x="88900" y="533400"/>
                  </a:lnTo>
                  <a:lnTo>
                    <a:pt x="977900" y="533400"/>
                  </a:lnTo>
                  <a:lnTo>
                    <a:pt x="1010542" y="525760"/>
                  </a:lnTo>
                  <a:lnTo>
                    <a:pt x="1039018" y="505618"/>
                  </a:lnTo>
                  <a:lnTo>
                    <a:pt x="1059160" y="477142"/>
                  </a:lnTo>
                  <a:lnTo>
                    <a:pt x="1066800" y="444500"/>
                  </a:lnTo>
                  <a:lnTo>
                    <a:pt x="1066800" y="88900"/>
                  </a:lnTo>
                  <a:lnTo>
                    <a:pt x="1059160" y="56257"/>
                  </a:lnTo>
                  <a:lnTo>
                    <a:pt x="1039018" y="27781"/>
                  </a:lnTo>
                  <a:lnTo>
                    <a:pt x="1010542" y="7639"/>
                  </a:lnTo>
                  <a:lnTo>
                    <a:pt x="977900" y="0"/>
                  </a:lnTo>
                  <a:close/>
                </a:path>
              </a:pathLst>
            </a:custGeom>
            <a:solidFill>
              <a:srgbClr val="33CC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9"/>
            <p:cNvSpPr/>
            <p:nvPr/>
          </p:nvSpPr>
          <p:spPr>
            <a:xfrm>
              <a:off x="5334000" y="5715000"/>
              <a:ext cx="1066800" cy="533400"/>
            </a:xfrm>
            <a:custGeom>
              <a:avLst/>
              <a:gdLst/>
              <a:ahLst/>
              <a:cxnLst/>
              <a:rect l="l" t="t" r="r" b="b"/>
              <a:pathLst>
                <a:path w="1066800" h="533400" extrusionOk="0">
                  <a:moveTo>
                    <a:pt x="88900" y="0"/>
                  </a:moveTo>
                  <a:lnTo>
                    <a:pt x="55721" y="7639"/>
                  </a:lnTo>
                  <a:lnTo>
                    <a:pt x="27304" y="27781"/>
                  </a:lnTo>
                  <a:lnTo>
                    <a:pt x="7461" y="56257"/>
                  </a:lnTo>
                  <a:lnTo>
                    <a:pt x="0" y="88900"/>
                  </a:lnTo>
                  <a:lnTo>
                    <a:pt x="0" y="444500"/>
                  </a:lnTo>
                  <a:lnTo>
                    <a:pt x="7461" y="477142"/>
                  </a:lnTo>
                  <a:lnTo>
                    <a:pt x="27304" y="505618"/>
                  </a:lnTo>
                  <a:lnTo>
                    <a:pt x="55721" y="525760"/>
                  </a:lnTo>
                  <a:lnTo>
                    <a:pt x="88900" y="533400"/>
                  </a:lnTo>
                  <a:lnTo>
                    <a:pt x="977900" y="533400"/>
                  </a:lnTo>
                  <a:lnTo>
                    <a:pt x="1010542" y="525760"/>
                  </a:lnTo>
                  <a:lnTo>
                    <a:pt x="1039018" y="505618"/>
                  </a:lnTo>
                  <a:lnTo>
                    <a:pt x="1059160" y="477142"/>
                  </a:lnTo>
                  <a:lnTo>
                    <a:pt x="1066800" y="444500"/>
                  </a:lnTo>
                  <a:lnTo>
                    <a:pt x="1066800" y="88900"/>
                  </a:lnTo>
                  <a:lnTo>
                    <a:pt x="1059160" y="56257"/>
                  </a:lnTo>
                  <a:lnTo>
                    <a:pt x="1039018" y="27781"/>
                  </a:lnTo>
                  <a:lnTo>
                    <a:pt x="1010542" y="7639"/>
                  </a:lnTo>
                  <a:lnTo>
                    <a:pt x="977900" y="0"/>
                  </a:lnTo>
                  <a:lnTo>
                    <a:pt x="88900" y="0"/>
                  </a:lnTo>
                  <a:close/>
                </a:path>
                <a:path w="1066800" h="533400" extrusionOk="0">
                  <a:moveTo>
                    <a:pt x="0" y="0"/>
                  </a:moveTo>
                  <a:lnTo>
                    <a:pt x="0" y="0"/>
                  </a:lnTo>
                </a:path>
                <a:path w="1066800" h="533400" extrusionOk="0">
                  <a:moveTo>
                    <a:pt x="1066800" y="533400"/>
                  </a:moveTo>
                  <a:lnTo>
                    <a:pt x="1066800" y="53340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2" name="Google Shape;222;p9"/>
          <p:cNvSpPr txBox="1"/>
          <p:nvPr/>
        </p:nvSpPr>
        <p:spPr>
          <a:xfrm>
            <a:off x="5533390" y="5847079"/>
            <a:ext cx="66675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Queues</a:t>
            </a:r>
            <a:endParaRPr sz="1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23" name="Google Shape;223;p9"/>
          <p:cNvGrpSpPr/>
          <p:nvPr/>
        </p:nvGrpSpPr>
        <p:grpSpPr>
          <a:xfrm>
            <a:off x="4114800" y="5105400"/>
            <a:ext cx="3505200" cy="1143000"/>
            <a:chOff x="4114800" y="5105400"/>
            <a:chExt cx="3505200" cy="1143000"/>
          </a:xfrm>
        </p:grpSpPr>
        <p:sp>
          <p:nvSpPr>
            <p:cNvPr id="224" name="Google Shape;224;p9"/>
            <p:cNvSpPr/>
            <p:nvPr/>
          </p:nvSpPr>
          <p:spPr>
            <a:xfrm>
              <a:off x="4114800" y="5105400"/>
              <a:ext cx="1752600" cy="609600"/>
            </a:xfrm>
            <a:custGeom>
              <a:avLst/>
              <a:gdLst/>
              <a:ahLst/>
              <a:cxnLst/>
              <a:rect l="l" t="t" r="r" b="b"/>
              <a:pathLst>
                <a:path w="1752600" h="609600" extrusionOk="0">
                  <a:moveTo>
                    <a:pt x="1524000" y="0"/>
                  </a:moveTo>
                  <a:lnTo>
                    <a:pt x="1524000" y="304800"/>
                  </a:lnTo>
                </a:path>
                <a:path w="1752600" h="609600" extrusionOk="0">
                  <a:moveTo>
                    <a:pt x="0" y="304800"/>
                  </a:moveTo>
                  <a:lnTo>
                    <a:pt x="1752600" y="304800"/>
                  </a:lnTo>
                </a:path>
                <a:path w="1752600" h="609600" extrusionOk="0">
                  <a:moveTo>
                    <a:pt x="0" y="304800"/>
                  </a:moveTo>
                  <a:lnTo>
                    <a:pt x="0" y="609600"/>
                  </a:lnTo>
                </a:path>
                <a:path w="1752600" h="609600" extrusionOk="0">
                  <a:moveTo>
                    <a:pt x="1752600" y="304800"/>
                  </a:moveTo>
                  <a:lnTo>
                    <a:pt x="1752600" y="609600"/>
                  </a:lnTo>
                </a:path>
              </a:pathLst>
            </a:custGeom>
            <a:noFill/>
            <a:ln w="255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9"/>
            <p:cNvSpPr/>
            <p:nvPr/>
          </p:nvSpPr>
          <p:spPr>
            <a:xfrm>
              <a:off x="6553200" y="5715000"/>
              <a:ext cx="1066800" cy="533400"/>
            </a:xfrm>
            <a:custGeom>
              <a:avLst/>
              <a:gdLst/>
              <a:ahLst/>
              <a:cxnLst/>
              <a:rect l="l" t="t" r="r" b="b"/>
              <a:pathLst>
                <a:path w="1066800" h="533400" extrusionOk="0">
                  <a:moveTo>
                    <a:pt x="977900" y="0"/>
                  </a:moveTo>
                  <a:lnTo>
                    <a:pt x="88900" y="0"/>
                  </a:lnTo>
                  <a:lnTo>
                    <a:pt x="55721" y="7639"/>
                  </a:lnTo>
                  <a:lnTo>
                    <a:pt x="27305" y="27781"/>
                  </a:lnTo>
                  <a:lnTo>
                    <a:pt x="7461" y="56257"/>
                  </a:lnTo>
                  <a:lnTo>
                    <a:pt x="0" y="88900"/>
                  </a:lnTo>
                  <a:lnTo>
                    <a:pt x="0" y="444500"/>
                  </a:lnTo>
                  <a:lnTo>
                    <a:pt x="7461" y="477142"/>
                  </a:lnTo>
                  <a:lnTo>
                    <a:pt x="27304" y="505618"/>
                  </a:lnTo>
                  <a:lnTo>
                    <a:pt x="55721" y="525760"/>
                  </a:lnTo>
                  <a:lnTo>
                    <a:pt x="88900" y="533400"/>
                  </a:lnTo>
                  <a:lnTo>
                    <a:pt x="977900" y="533400"/>
                  </a:lnTo>
                  <a:lnTo>
                    <a:pt x="1010542" y="525760"/>
                  </a:lnTo>
                  <a:lnTo>
                    <a:pt x="1039018" y="505618"/>
                  </a:lnTo>
                  <a:lnTo>
                    <a:pt x="1059160" y="477142"/>
                  </a:lnTo>
                  <a:lnTo>
                    <a:pt x="1066800" y="444500"/>
                  </a:lnTo>
                  <a:lnTo>
                    <a:pt x="1066800" y="88900"/>
                  </a:lnTo>
                  <a:lnTo>
                    <a:pt x="1059160" y="56257"/>
                  </a:lnTo>
                  <a:lnTo>
                    <a:pt x="1039018" y="27781"/>
                  </a:lnTo>
                  <a:lnTo>
                    <a:pt x="1010542" y="7639"/>
                  </a:lnTo>
                  <a:lnTo>
                    <a:pt x="977900" y="0"/>
                  </a:lnTo>
                  <a:close/>
                </a:path>
              </a:pathLst>
            </a:custGeom>
            <a:solidFill>
              <a:srgbClr val="33CC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9"/>
            <p:cNvSpPr/>
            <p:nvPr/>
          </p:nvSpPr>
          <p:spPr>
            <a:xfrm>
              <a:off x="6553200" y="5715000"/>
              <a:ext cx="1066800" cy="533400"/>
            </a:xfrm>
            <a:custGeom>
              <a:avLst/>
              <a:gdLst/>
              <a:ahLst/>
              <a:cxnLst/>
              <a:rect l="l" t="t" r="r" b="b"/>
              <a:pathLst>
                <a:path w="1066800" h="533400" extrusionOk="0">
                  <a:moveTo>
                    <a:pt x="88900" y="0"/>
                  </a:moveTo>
                  <a:lnTo>
                    <a:pt x="55721" y="7639"/>
                  </a:lnTo>
                  <a:lnTo>
                    <a:pt x="27305" y="27781"/>
                  </a:lnTo>
                  <a:lnTo>
                    <a:pt x="7461" y="56257"/>
                  </a:lnTo>
                  <a:lnTo>
                    <a:pt x="0" y="88900"/>
                  </a:lnTo>
                  <a:lnTo>
                    <a:pt x="0" y="444500"/>
                  </a:lnTo>
                  <a:lnTo>
                    <a:pt x="7461" y="477142"/>
                  </a:lnTo>
                  <a:lnTo>
                    <a:pt x="27304" y="505618"/>
                  </a:lnTo>
                  <a:lnTo>
                    <a:pt x="55721" y="525760"/>
                  </a:lnTo>
                  <a:lnTo>
                    <a:pt x="88900" y="533400"/>
                  </a:lnTo>
                  <a:lnTo>
                    <a:pt x="977900" y="533400"/>
                  </a:lnTo>
                  <a:lnTo>
                    <a:pt x="1010542" y="525760"/>
                  </a:lnTo>
                  <a:lnTo>
                    <a:pt x="1039018" y="505618"/>
                  </a:lnTo>
                  <a:lnTo>
                    <a:pt x="1059160" y="477142"/>
                  </a:lnTo>
                  <a:lnTo>
                    <a:pt x="1066800" y="444500"/>
                  </a:lnTo>
                  <a:lnTo>
                    <a:pt x="1066800" y="88900"/>
                  </a:lnTo>
                  <a:lnTo>
                    <a:pt x="1059160" y="56257"/>
                  </a:lnTo>
                  <a:lnTo>
                    <a:pt x="1039018" y="27781"/>
                  </a:lnTo>
                  <a:lnTo>
                    <a:pt x="1010542" y="7639"/>
                  </a:lnTo>
                  <a:lnTo>
                    <a:pt x="977900" y="0"/>
                  </a:lnTo>
                  <a:lnTo>
                    <a:pt x="88900" y="0"/>
                  </a:lnTo>
                  <a:close/>
                </a:path>
                <a:path w="1066800" h="533400" extrusionOk="0">
                  <a:moveTo>
                    <a:pt x="0" y="0"/>
                  </a:moveTo>
                  <a:lnTo>
                    <a:pt x="0" y="0"/>
                  </a:lnTo>
                </a:path>
                <a:path w="1066800" h="533400" extrusionOk="0">
                  <a:moveTo>
                    <a:pt x="1066800" y="533400"/>
                  </a:moveTo>
                  <a:lnTo>
                    <a:pt x="1066800" y="53340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7" name="Google Shape;227;p9"/>
          <p:cNvSpPr txBox="1"/>
          <p:nvPr/>
        </p:nvSpPr>
        <p:spPr>
          <a:xfrm>
            <a:off x="6746240" y="5847079"/>
            <a:ext cx="67945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</a:t>
            </a:r>
            <a:endParaRPr sz="1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28" name="Google Shape;228;p9"/>
          <p:cNvGrpSpPr/>
          <p:nvPr/>
        </p:nvGrpSpPr>
        <p:grpSpPr>
          <a:xfrm>
            <a:off x="7772400" y="5715000"/>
            <a:ext cx="1066800" cy="533400"/>
            <a:chOff x="7772400" y="5715000"/>
            <a:chExt cx="1066800" cy="533400"/>
          </a:xfrm>
        </p:grpSpPr>
        <p:sp>
          <p:nvSpPr>
            <p:cNvPr id="229" name="Google Shape;229;p9"/>
            <p:cNvSpPr/>
            <p:nvPr/>
          </p:nvSpPr>
          <p:spPr>
            <a:xfrm>
              <a:off x="7772400" y="5715000"/>
              <a:ext cx="1066800" cy="533400"/>
            </a:xfrm>
            <a:custGeom>
              <a:avLst/>
              <a:gdLst/>
              <a:ahLst/>
              <a:cxnLst/>
              <a:rect l="l" t="t" r="r" b="b"/>
              <a:pathLst>
                <a:path w="1066800" h="533400" extrusionOk="0">
                  <a:moveTo>
                    <a:pt x="977900" y="0"/>
                  </a:moveTo>
                  <a:lnTo>
                    <a:pt x="88900" y="0"/>
                  </a:lnTo>
                  <a:lnTo>
                    <a:pt x="56257" y="7639"/>
                  </a:lnTo>
                  <a:lnTo>
                    <a:pt x="27781" y="27781"/>
                  </a:lnTo>
                  <a:lnTo>
                    <a:pt x="7639" y="56257"/>
                  </a:lnTo>
                  <a:lnTo>
                    <a:pt x="0" y="88900"/>
                  </a:lnTo>
                  <a:lnTo>
                    <a:pt x="0" y="444500"/>
                  </a:lnTo>
                  <a:lnTo>
                    <a:pt x="7639" y="477142"/>
                  </a:lnTo>
                  <a:lnTo>
                    <a:pt x="27781" y="505618"/>
                  </a:lnTo>
                  <a:lnTo>
                    <a:pt x="56257" y="525760"/>
                  </a:lnTo>
                  <a:lnTo>
                    <a:pt x="88900" y="533400"/>
                  </a:lnTo>
                  <a:lnTo>
                    <a:pt x="977900" y="533400"/>
                  </a:lnTo>
                  <a:lnTo>
                    <a:pt x="1010542" y="525760"/>
                  </a:lnTo>
                  <a:lnTo>
                    <a:pt x="1039018" y="505618"/>
                  </a:lnTo>
                  <a:lnTo>
                    <a:pt x="1059160" y="477142"/>
                  </a:lnTo>
                  <a:lnTo>
                    <a:pt x="1066800" y="444500"/>
                  </a:lnTo>
                  <a:lnTo>
                    <a:pt x="1066800" y="88900"/>
                  </a:lnTo>
                  <a:lnTo>
                    <a:pt x="1059160" y="56257"/>
                  </a:lnTo>
                  <a:lnTo>
                    <a:pt x="1039018" y="27781"/>
                  </a:lnTo>
                  <a:lnTo>
                    <a:pt x="1010542" y="7639"/>
                  </a:lnTo>
                  <a:lnTo>
                    <a:pt x="977900" y="0"/>
                  </a:lnTo>
                  <a:close/>
                </a:path>
              </a:pathLst>
            </a:custGeom>
            <a:solidFill>
              <a:srgbClr val="33CC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9"/>
            <p:cNvSpPr/>
            <p:nvPr/>
          </p:nvSpPr>
          <p:spPr>
            <a:xfrm>
              <a:off x="7772400" y="5715000"/>
              <a:ext cx="1066800" cy="533400"/>
            </a:xfrm>
            <a:custGeom>
              <a:avLst/>
              <a:gdLst/>
              <a:ahLst/>
              <a:cxnLst/>
              <a:rect l="l" t="t" r="r" b="b"/>
              <a:pathLst>
                <a:path w="1066800" h="533400" extrusionOk="0">
                  <a:moveTo>
                    <a:pt x="88900" y="0"/>
                  </a:moveTo>
                  <a:lnTo>
                    <a:pt x="56257" y="7639"/>
                  </a:lnTo>
                  <a:lnTo>
                    <a:pt x="27781" y="27781"/>
                  </a:lnTo>
                  <a:lnTo>
                    <a:pt x="7639" y="56257"/>
                  </a:lnTo>
                  <a:lnTo>
                    <a:pt x="0" y="88900"/>
                  </a:lnTo>
                  <a:lnTo>
                    <a:pt x="0" y="444500"/>
                  </a:lnTo>
                  <a:lnTo>
                    <a:pt x="7639" y="477142"/>
                  </a:lnTo>
                  <a:lnTo>
                    <a:pt x="27781" y="505618"/>
                  </a:lnTo>
                  <a:lnTo>
                    <a:pt x="56257" y="525760"/>
                  </a:lnTo>
                  <a:lnTo>
                    <a:pt x="88900" y="533400"/>
                  </a:lnTo>
                  <a:lnTo>
                    <a:pt x="977900" y="533400"/>
                  </a:lnTo>
                  <a:lnTo>
                    <a:pt x="1010542" y="525760"/>
                  </a:lnTo>
                  <a:lnTo>
                    <a:pt x="1039018" y="505618"/>
                  </a:lnTo>
                  <a:lnTo>
                    <a:pt x="1059160" y="477142"/>
                  </a:lnTo>
                  <a:lnTo>
                    <a:pt x="1066800" y="444500"/>
                  </a:lnTo>
                  <a:lnTo>
                    <a:pt x="1066800" y="88900"/>
                  </a:lnTo>
                  <a:lnTo>
                    <a:pt x="1059160" y="56257"/>
                  </a:lnTo>
                  <a:lnTo>
                    <a:pt x="1039018" y="27781"/>
                  </a:lnTo>
                  <a:lnTo>
                    <a:pt x="1010542" y="7639"/>
                  </a:lnTo>
                  <a:lnTo>
                    <a:pt x="977900" y="0"/>
                  </a:lnTo>
                  <a:lnTo>
                    <a:pt x="88900" y="0"/>
                  </a:lnTo>
                  <a:close/>
                </a:path>
                <a:path w="1066800" h="533400" extrusionOk="0">
                  <a:moveTo>
                    <a:pt x="0" y="0"/>
                  </a:moveTo>
                  <a:lnTo>
                    <a:pt x="0" y="0"/>
                  </a:lnTo>
                </a:path>
                <a:path w="1066800" h="533400" extrusionOk="0">
                  <a:moveTo>
                    <a:pt x="1066800" y="533400"/>
                  </a:moveTo>
                  <a:lnTo>
                    <a:pt x="1066800" y="53340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1" name="Google Shape;231;p9"/>
          <p:cNvSpPr txBox="1"/>
          <p:nvPr/>
        </p:nvSpPr>
        <p:spPr>
          <a:xfrm>
            <a:off x="8050530" y="5847079"/>
            <a:ext cx="509270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Trees</a:t>
            </a:r>
            <a:endParaRPr sz="1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6629400" y="3200400"/>
            <a:ext cx="1981200" cy="2514600"/>
          </a:xfrm>
          <a:custGeom>
            <a:avLst/>
            <a:gdLst/>
            <a:ahLst/>
            <a:cxnLst/>
            <a:rect l="l" t="t" r="r" b="b"/>
            <a:pathLst>
              <a:path w="1981200" h="2514600" extrusionOk="0">
                <a:moveTo>
                  <a:pt x="990600" y="1905000"/>
                </a:moveTo>
                <a:lnTo>
                  <a:pt x="990600" y="2209800"/>
                </a:lnTo>
              </a:path>
              <a:path w="1981200" h="2514600" extrusionOk="0">
                <a:moveTo>
                  <a:pt x="228600" y="2209800"/>
                </a:moveTo>
                <a:lnTo>
                  <a:pt x="1981200" y="2209800"/>
                </a:lnTo>
              </a:path>
              <a:path w="1981200" h="2514600" extrusionOk="0">
                <a:moveTo>
                  <a:pt x="228600" y="2209800"/>
                </a:moveTo>
                <a:lnTo>
                  <a:pt x="228600" y="2514600"/>
                </a:lnTo>
              </a:path>
              <a:path w="1981200" h="2514600" extrusionOk="0">
                <a:moveTo>
                  <a:pt x="1981200" y="2209800"/>
                </a:moveTo>
                <a:lnTo>
                  <a:pt x="1981200" y="2514600"/>
                </a:lnTo>
              </a:path>
              <a:path w="1981200" h="2514600" extrusionOk="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255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"/>
          <p:cNvSpPr txBox="1"/>
          <p:nvPr/>
        </p:nvSpPr>
        <p:spPr>
          <a:xfrm>
            <a:off x="8403335" y="6453327"/>
            <a:ext cx="231775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78787"/>
                </a:solidFill>
                <a:latin typeface="Calibri"/>
                <a:ea typeface="Calibri"/>
                <a:cs typeface="Calibri"/>
                <a:sym typeface="Calibri"/>
              </a:rPr>
              <a:pPr marL="38100" marR="0" lvl="0" indent="0" algn="l" rtl="0">
                <a:lnSpc>
                  <a:spcPct val="10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10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 txBox="1">
            <a:spLocks noGrp="1"/>
          </p:cNvSpPr>
          <p:nvPr>
            <p:ph type="title"/>
          </p:nvPr>
        </p:nvSpPr>
        <p:spPr>
          <a:xfrm>
            <a:off x="2395854" y="245109"/>
            <a:ext cx="4347845" cy="696595"/>
          </a:xfrm>
          <a:prstGeom prst="rect">
            <a:avLst/>
          </a:prstGeom>
          <a:solidFill>
            <a:srgbClr val="538CD5"/>
          </a:solidFill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/>
              <a:t>Abstract Data Type</a:t>
            </a:r>
            <a:endParaRPr/>
          </a:p>
        </p:txBody>
      </p:sp>
      <p:sp>
        <p:nvSpPr>
          <p:cNvPr id="239" name="Google Shape;239;p10"/>
          <p:cNvSpPr txBox="1"/>
          <p:nvPr/>
        </p:nvSpPr>
        <p:spPr>
          <a:xfrm>
            <a:off x="535634" y="1302257"/>
            <a:ext cx="8303565" cy="553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355600" marR="508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abstract data type, sometimes abbreviated  </a:t>
            </a:r>
            <a:r>
              <a:rPr lang="en-US" sz="3200" b="1" i="0" u="none" strike="noStrike" cap="none">
                <a:solidFill>
                  <a:srgbClr val="E36C0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ADT</a:t>
            </a:r>
            <a:r>
              <a:rPr lang="en-US" sz="3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a logical description of how we </a:t>
            </a:r>
            <a:r>
              <a:rPr lang="en-US" sz="3200" b="1" i="0" u="none" strike="noStrike" cap="none">
                <a:solidFill>
                  <a:srgbClr val="E36C0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view  the data and the operations </a:t>
            </a: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that are allowed  without regard to </a:t>
            </a:r>
            <a:r>
              <a:rPr lang="en-US" sz="3200" b="1" i="0" u="none" strike="noStrike" cap="none">
                <a:solidFill>
                  <a:srgbClr val="E36C0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they will be  implemented.</a:t>
            </a:r>
            <a:endParaRPr sz="3200" b="1" i="0" u="none" strike="noStrike" cap="none">
              <a:solidFill>
                <a:srgbClr val="E36C0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6350" lvl="0" indent="-342900" algn="just" rtl="0">
              <a:lnSpc>
                <a:spcPct val="100000"/>
              </a:lnSpc>
              <a:spcBef>
                <a:spcPts val="79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providing this level of abstraction, we are  creating </a:t>
            </a:r>
            <a:r>
              <a:rPr lang="en-US" sz="3200" b="1" i="0" u="none" strike="noStrike" cap="none">
                <a:solidFill>
                  <a:srgbClr val="E36C0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encapsulation around the data</a:t>
            </a: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The  idea is that by encapsulating the details of the  implementation, we are hiding them from the  user‘s view. This is called </a:t>
            </a:r>
            <a:r>
              <a:rPr lang="en-US" sz="3200" b="1" i="0" u="none" strike="noStrike" cap="none">
                <a:solidFill>
                  <a:srgbClr val="E36C0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information hiding</a:t>
            </a:r>
            <a:r>
              <a:rPr lang="en-US" sz="3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3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1"/>
          <p:cNvSpPr/>
          <p:nvPr/>
        </p:nvSpPr>
        <p:spPr>
          <a:xfrm>
            <a:off x="990600" y="1295400"/>
            <a:ext cx="7162800" cy="446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</a:t>
            </a:r>
            <a:r>
              <a:rPr lang="en-US" sz="2400" b="0" i="1" u="none" strike="noStrike" cap="none">
                <a:solidFill>
                  <a:srgbClr val="CC3300"/>
                </a:solidFill>
                <a:latin typeface="Calibri"/>
                <a:ea typeface="Calibri"/>
                <a:cs typeface="Calibri"/>
                <a:sym typeface="Calibri"/>
              </a:rPr>
              <a:t>abstract data type(ADT)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a data type that is organized in such a way that </a:t>
            </a:r>
            <a:r>
              <a:rPr lang="en-US" sz="2400" b="0" i="0" u="none" strike="noStrike" cap="non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the specification of the objects and the operations on the objects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separated from </a:t>
            </a:r>
            <a:r>
              <a:rPr lang="en-US" sz="2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the representation of the objects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 sz="2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the implementation of the operations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Operation specification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 name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types of arguments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type of the results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Implementation independent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2"/>
          <p:cNvSpPr txBox="1">
            <a:spLocks noGrp="1"/>
          </p:cNvSpPr>
          <p:nvPr>
            <p:ph type="title"/>
          </p:nvPr>
        </p:nvSpPr>
        <p:spPr>
          <a:xfrm>
            <a:off x="762000" y="228600"/>
            <a:ext cx="7696200" cy="6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2400" b="1" u="sng"/>
              <a:t>*Structure 1.1:</a:t>
            </a:r>
            <a:r>
              <a:rPr lang="en-US" sz="2400" u="sng"/>
              <a:t>Abstract data type </a:t>
            </a:r>
            <a:r>
              <a:rPr lang="en-US" sz="2400" i="1" u="sng"/>
              <a:t>Natural_Number </a:t>
            </a:r>
            <a:r>
              <a:rPr lang="en-US" sz="2400" u="sng"/>
              <a:t/>
            </a:r>
            <a:br>
              <a:rPr lang="en-US" sz="2400" u="sng"/>
            </a:br>
            <a:r>
              <a:rPr lang="en-US" sz="2000" b="1"/>
              <a:t>structure</a:t>
            </a:r>
            <a:r>
              <a:rPr lang="en-US" sz="2000"/>
              <a:t> Natural_Number is</a:t>
            </a:r>
            <a:br>
              <a:rPr lang="en-US" sz="2000"/>
            </a:br>
            <a:r>
              <a:rPr lang="en-US" sz="2000"/>
              <a:t>    </a:t>
            </a:r>
            <a:r>
              <a:rPr lang="en-US" sz="2000" b="1"/>
              <a:t>objects</a:t>
            </a:r>
            <a:r>
              <a:rPr lang="en-US" sz="2000"/>
              <a:t>:  an ordered subrange of the integers starting at zero and ending </a:t>
            </a:r>
            <a:br>
              <a:rPr lang="en-US" sz="2000"/>
            </a:br>
            <a:r>
              <a:rPr lang="en-US" sz="2000"/>
              <a:t>	     at the maximum integer (</a:t>
            </a:r>
            <a:r>
              <a:rPr lang="en-US" sz="2000" i="1"/>
              <a:t>INT_MAX</a:t>
            </a:r>
            <a:r>
              <a:rPr lang="en-US" sz="2000"/>
              <a:t>) on the computer</a:t>
            </a:r>
            <a:br>
              <a:rPr lang="en-US" sz="2000"/>
            </a:br>
            <a:r>
              <a:rPr lang="en-US" sz="2000"/>
              <a:t>    </a:t>
            </a:r>
            <a:r>
              <a:rPr lang="en-US" sz="2000" b="1"/>
              <a:t>functions</a:t>
            </a:r>
            <a:r>
              <a:rPr lang="en-US" sz="2000"/>
              <a:t>:</a:t>
            </a:r>
            <a:br>
              <a:rPr lang="en-US" sz="2000"/>
            </a:br>
            <a:r>
              <a:rPr lang="en-US" sz="2000"/>
              <a:t>       for all x, y ∈ </a:t>
            </a:r>
            <a:r>
              <a:rPr lang="en-US" sz="2000" i="1"/>
              <a:t>Nat_Number</a:t>
            </a:r>
            <a:r>
              <a:rPr lang="en-US" sz="2000"/>
              <a:t>; </a:t>
            </a:r>
            <a:r>
              <a:rPr lang="en-US" sz="2000" i="1"/>
              <a:t>TRUE, FALSE ∈ Boolean</a:t>
            </a:r>
            <a:br>
              <a:rPr lang="en-US" sz="2000" i="1"/>
            </a:br>
            <a:r>
              <a:rPr lang="en-US" sz="2000"/>
              <a:t>       and where +, -, &lt;, and == are the usual integer operations.</a:t>
            </a:r>
            <a:br>
              <a:rPr lang="en-US" sz="2000"/>
            </a:br>
            <a:r>
              <a:rPr lang="en-US" sz="2000"/>
              <a:t>       </a:t>
            </a:r>
            <a:r>
              <a:rPr lang="en-US" sz="2000" i="1"/>
              <a:t>Nat_No </a:t>
            </a:r>
            <a:r>
              <a:rPr lang="en-US" sz="2000"/>
              <a:t>Zero (  )        	::=  0</a:t>
            </a:r>
            <a:br>
              <a:rPr lang="en-US" sz="2000"/>
            </a:br>
            <a:r>
              <a:rPr lang="en-US" sz="2000"/>
              <a:t>       </a:t>
            </a:r>
            <a:r>
              <a:rPr lang="en-US" sz="2000" i="1"/>
              <a:t>Boolean</a:t>
            </a:r>
            <a:r>
              <a:rPr lang="en-US" sz="2000"/>
              <a:t>  Is_Zero(x)   	::= </a:t>
            </a:r>
            <a:r>
              <a:rPr lang="en-US" sz="2000" b="1"/>
              <a:t>if </a:t>
            </a:r>
            <a:r>
              <a:rPr lang="en-US" sz="2000"/>
              <a:t>(x) </a:t>
            </a:r>
            <a:r>
              <a:rPr lang="en-US" sz="2000" b="1"/>
              <a:t>return</a:t>
            </a:r>
            <a:r>
              <a:rPr lang="en-US" sz="2000"/>
              <a:t> </a:t>
            </a:r>
            <a:r>
              <a:rPr lang="en-US" sz="2000" i="1"/>
              <a:t>FALSE</a:t>
            </a:r>
            <a:r>
              <a:rPr lang="en-US" sz="2000"/>
              <a:t/>
            </a:r>
            <a:br>
              <a:rPr lang="en-US" sz="2000"/>
            </a:br>
            <a:r>
              <a:rPr lang="en-US" sz="2000"/>
              <a:t>                                                 </a:t>
            </a:r>
            <a:r>
              <a:rPr lang="en-US" sz="2000" b="1"/>
              <a:t>else return</a:t>
            </a:r>
            <a:r>
              <a:rPr lang="en-US" sz="2000"/>
              <a:t> </a:t>
            </a:r>
            <a:r>
              <a:rPr lang="en-US" sz="2000" i="1"/>
              <a:t>TRUE</a:t>
            </a:r>
            <a:br>
              <a:rPr lang="en-US" sz="2000" i="1"/>
            </a:br>
            <a:r>
              <a:rPr lang="en-US" sz="2000"/>
              <a:t>       </a:t>
            </a:r>
            <a:r>
              <a:rPr lang="en-US" sz="2000" i="1"/>
              <a:t>Nat_No</a:t>
            </a:r>
            <a:r>
              <a:rPr lang="en-US" sz="2000"/>
              <a:t> Add(x, y)      	::= </a:t>
            </a:r>
            <a:r>
              <a:rPr lang="en-US" sz="2000" b="1"/>
              <a:t>if </a:t>
            </a:r>
            <a:r>
              <a:rPr lang="en-US" sz="2000"/>
              <a:t>((x+y) &lt;= </a:t>
            </a:r>
            <a:r>
              <a:rPr lang="en-US" sz="2000" i="1"/>
              <a:t>INT_MAX</a:t>
            </a:r>
            <a:r>
              <a:rPr lang="en-US" sz="2000"/>
              <a:t>) </a:t>
            </a:r>
            <a:r>
              <a:rPr lang="en-US" sz="2000" b="1"/>
              <a:t>return</a:t>
            </a:r>
            <a:r>
              <a:rPr lang="en-US" sz="2000"/>
              <a:t> x+y </a:t>
            </a:r>
            <a:br>
              <a:rPr lang="en-US" sz="2000"/>
            </a:br>
            <a:r>
              <a:rPr lang="en-US" sz="2000"/>
              <a:t>                                                 </a:t>
            </a:r>
            <a:r>
              <a:rPr lang="en-US" sz="2000" b="1"/>
              <a:t>else return</a:t>
            </a:r>
            <a:r>
              <a:rPr lang="en-US" sz="2000"/>
              <a:t> </a:t>
            </a:r>
            <a:r>
              <a:rPr lang="en-US" sz="2000" i="1"/>
              <a:t>INT_MAX</a:t>
            </a:r>
            <a:r>
              <a:rPr lang="en-US" sz="2000"/>
              <a:t/>
            </a:r>
            <a:br>
              <a:rPr lang="en-US" sz="2000"/>
            </a:br>
            <a:r>
              <a:rPr lang="en-US" sz="2000"/>
              <a:t>       </a:t>
            </a:r>
            <a:r>
              <a:rPr lang="en-US" sz="2000" i="1"/>
              <a:t>Boolean</a:t>
            </a:r>
            <a:r>
              <a:rPr lang="en-US" sz="2000"/>
              <a:t> Equal(x,y)   	::= </a:t>
            </a:r>
            <a:r>
              <a:rPr lang="en-US" sz="2000" b="1"/>
              <a:t>if </a:t>
            </a:r>
            <a:r>
              <a:rPr lang="en-US" sz="2000"/>
              <a:t>(x== y) </a:t>
            </a:r>
            <a:r>
              <a:rPr lang="en-US" sz="2000" b="1"/>
              <a:t>return</a:t>
            </a:r>
            <a:r>
              <a:rPr lang="en-US" sz="2000"/>
              <a:t> </a:t>
            </a:r>
            <a:r>
              <a:rPr lang="en-US" sz="2000" i="1"/>
              <a:t>TRUE</a:t>
            </a:r>
            <a:br>
              <a:rPr lang="en-US" sz="2000" i="1"/>
            </a:br>
            <a:r>
              <a:rPr lang="en-US" sz="2000"/>
              <a:t>                                                </a:t>
            </a:r>
            <a:r>
              <a:rPr lang="en-US" sz="2000" b="1"/>
              <a:t>else return</a:t>
            </a:r>
            <a:r>
              <a:rPr lang="en-US" sz="2000"/>
              <a:t> </a:t>
            </a:r>
            <a:r>
              <a:rPr lang="en-US" sz="2000" i="1"/>
              <a:t>FALSE</a:t>
            </a:r>
            <a:r>
              <a:rPr lang="en-US" sz="2000"/>
              <a:t/>
            </a:r>
            <a:br>
              <a:rPr lang="en-US" sz="2000"/>
            </a:br>
            <a:r>
              <a:rPr lang="en-US" sz="2000"/>
              <a:t>       </a:t>
            </a:r>
            <a:r>
              <a:rPr lang="en-US" sz="2000" i="1"/>
              <a:t>Nat_No</a:t>
            </a:r>
            <a:r>
              <a:rPr lang="en-US" sz="2000"/>
              <a:t> Successor(x) 	::= </a:t>
            </a:r>
            <a:r>
              <a:rPr lang="en-US" sz="2000" b="1"/>
              <a:t>if</a:t>
            </a:r>
            <a:r>
              <a:rPr lang="en-US" sz="2000"/>
              <a:t> (x == </a:t>
            </a:r>
            <a:r>
              <a:rPr lang="en-US" sz="2000" i="1"/>
              <a:t>INT_MAX</a:t>
            </a:r>
            <a:r>
              <a:rPr lang="en-US" sz="2000"/>
              <a:t>) </a:t>
            </a:r>
            <a:r>
              <a:rPr lang="en-US" sz="2000" b="1"/>
              <a:t>return</a:t>
            </a:r>
            <a:r>
              <a:rPr lang="en-US" sz="2000"/>
              <a:t> x</a:t>
            </a:r>
            <a:br>
              <a:rPr lang="en-US" sz="2000"/>
            </a:br>
            <a:r>
              <a:rPr lang="en-US" sz="2000"/>
              <a:t>                                                 </a:t>
            </a:r>
            <a:r>
              <a:rPr lang="en-US" sz="2000" b="1"/>
              <a:t>else return</a:t>
            </a:r>
            <a:r>
              <a:rPr lang="en-US" sz="2000"/>
              <a:t> x+1</a:t>
            </a:r>
            <a:br>
              <a:rPr lang="en-US" sz="2000"/>
            </a:br>
            <a:r>
              <a:rPr lang="en-US" sz="2000"/>
              <a:t>       </a:t>
            </a:r>
            <a:r>
              <a:rPr lang="en-US" sz="2000" i="1"/>
              <a:t>Nat_No</a:t>
            </a:r>
            <a:r>
              <a:rPr lang="en-US" sz="2000"/>
              <a:t> Subtract(x,y)	::= </a:t>
            </a:r>
            <a:r>
              <a:rPr lang="en-US" sz="2000" b="1"/>
              <a:t>if </a:t>
            </a:r>
            <a:r>
              <a:rPr lang="en-US" sz="2000"/>
              <a:t>(x&lt;y) </a:t>
            </a:r>
            <a:r>
              <a:rPr lang="en-US" sz="2000" b="1"/>
              <a:t>return</a:t>
            </a:r>
            <a:r>
              <a:rPr lang="en-US" sz="2000"/>
              <a:t> 0</a:t>
            </a:r>
            <a:br>
              <a:rPr lang="en-US" sz="2000"/>
            </a:br>
            <a:r>
              <a:rPr lang="en-US" sz="2000"/>
              <a:t>                                                 </a:t>
            </a:r>
            <a:r>
              <a:rPr lang="en-US" sz="2000" b="1"/>
              <a:t>else return</a:t>
            </a:r>
            <a:r>
              <a:rPr lang="en-US" sz="2000"/>
              <a:t> x-y</a:t>
            </a:r>
            <a:br>
              <a:rPr lang="en-US" sz="2000"/>
            </a:br>
            <a:r>
              <a:rPr lang="en-US" sz="2000"/>
              <a:t>    </a:t>
            </a:r>
            <a:r>
              <a:rPr lang="en-US" sz="2000" b="1"/>
              <a:t>end </a:t>
            </a:r>
            <a:r>
              <a:rPr lang="en-US" sz="2000" i="1"/>
              <a:t>Natural_Number</a:t>
            </a:r>
            <a:r>
              <a:rPr lang="en-US" sz="2000"/>
              <a:t>   </a:t>
            </a:r>
            <a:br>
              <a:rPr lang="en-US" sz="2000"/>
            </a:br>
            <a:endParaRPr sz="2400" b="1" u="sng"/>
          </a:p>
        </p:txBody>
      </p:sp>
      <p:sp>
        <p:nvSpPr>
          <p:cNvPr id="250" name="Google Shape;250;p12"/>
          <p:cNvSpPr txBox="1"/>
          <p:nvPr/>
        </p:nvSpPr>
        <p:spPr>
          <a:xfrm>
            <a:off x="6080125" y="5881688"/>
            <a:ext cx="179705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::= is defined 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2"/>
          <p:cNvSpPr/>
          <p:nvPr/>
        </p:nvSpPr>
        <p:spPr>
          <a:xfrm>
            <a:off x="6096000" y="5943600"/>
            <a:ext cx="1752600" cy="3048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3"/>
          <p:cNvSpPr/>
          <p:nvPr/>
        </p:nvSpPr>
        <p:spPr>
          <a:xfrm>
            <a:off x="2286000" y="1782396"/>
            <a:ext cx="4572000" cy="446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699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Traversing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endParaRPr sz="28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Searching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endParaRPr sz="28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Inserting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endParaRPr sz="28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Deleting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endParaRPr sz="28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Sorting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endParaRPr sz="28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Merging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3"/>
          <p:cNvSpPr txBox="1">
            <a:spLocks noGrp="1"/>
          </p:cNvSpPr>
          <p:nvPr>
            <p:ph type="title"/>
          </p:nvPr>
        </p:nvSpPr>
        <p:spPr>
          <a:xfrm>
            <a:off x="1143000" y="0"/>
            <a:ext cx="8001000" cy="1143000"/>
          </a:xfrm>
          <a:prstGeom prst="rect">
            <a:avLst/>
          </a:prstGeom>
          <a:solidFill>
            <a:srgbClr val="538CD5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 b="1"/>
              <a:t>Data Structures Operations </a:t>
            </a:r>
            <a:endParaRPr b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4"/>
          <p:cNvSpPr txBox="1">
            <a:spLocks noGrp="1"/>
          </p:cNvSpPr>
          <p:nvPr>
            <p:ph type="title"/>
          </p:nvPr>
        </p:nvSpPr>
        <p:spPr>
          <a:xfrm>
            <a:off x="1143000" y="0"/>
            <a:ext cx="8001000" cy="1143000"/>
          </a:xfrm>
          <a:prstGeom prst="rect">
            <a:avLst/>
          </a:prstGeom>
          <a:solidFill>
            <a:srgbClr val="538CD5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 b="1"/>
              <a:t>Algorithm</a:t>
            </a:r>
            <a:endParaRPr b="1"/>
          </a:p>
        </p:txBody>
      </p:sp>
      <p:sp>
        <p:nvSpPr>
          <p:cNvPr id="263" name="Google Shape;263;p14"/>
          <p:cNvSpPr txBox="1">
            <a:spLocks noGrp="1"/>
          </p:cNvSpPr>
          <p:nvPr>
            <p:ph type="body" idx="1"/>
          </p:nvPr>
        </p:nvSpPr>
        <p:spPr>
          <a:xfrm>
            <a:off x="457200" y="1295400"/>
            <a:ext cx="8229600" cy="4830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Definition</a:t>
            </a:r>
            <a:br>
              <a:rPr lang="en-US" sz="2800"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An </a:t>
            </a:r>
            <a:r>
              <a:rPr lang="en-US" sz="2800" i="1">
                <a:solidFill>
                  <a:srgbClr val="CC3300"/>
                </a:solidFill>
                <a:latin typeface="Calibri"/>
                <a:ea typeface="Calibri"/>
                <a:cs typeface="Calibri"/>
                <a:sym typeface="Calibri"/>
              </a:rPr>
              <a:t>algorithm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is a finite set of instructions that accomplishes a particular task.</a:t>
            </a:r>
            <a:endParaRPr/>
          </a:p>
          <a:p>
            <a:pPr marL="355600" marR="9525" lvl="0" indent="-342900" algn="just" rtl="0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The word algorithm originates from the Arabic  word </a:t>
            </a:r>
            <a:r>
              <a:rPr lang="en-US" sz="2800" b="1">
                <a:latin typeface="Calibri"/>
                <a:ea typeface="Calibri"/>
                <a:cs typeface="Calibri"/>
                <a:sym typeface="Calibri"/>
              </a:rPr>
              <a:t>Algorism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which is linked to the name of the  Arabic Mathematician </a:t>
            </a:r>
            <a:r>
              <a:rPr lang="en-US" sz="2800" b="1">
                <a:latin typeface="Calibri"/>
                <a:ea typeface="Calibri"/>
                <a:cs typeface="Calibri"/>
                <a:sym typeface="Calibri"/>
              </a:rPr>
              <a:t>AI Khwarizmi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355600" marR="5080" lvl="0" indent="-342900" algn="just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1">
                <a:latin typeface="Calibri"/>
                <a:ea typeface="Calibri"/>
                <a:cs typeface="Calibri"/>
                <a:sym typeface="Calibri"/>
              </a:rPr>
              <a:t>AI Khwarizmi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is considered to be the first  algorithm designer for adding numbers.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/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 </a:t>
            </a:r>
            <a:endParaRPr/>
          </a:p>
          <a:p>
            <a:pPr marL="34290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5"/>
          <p:cNvSpPr txBox="1">
            <a:spLocks noGrp="1"/>
          </p:cNvSpPr>
          <p:nvPr>
            <p:ph type="title"/>
          </p:nvPr>
        </p:nvSpPr>
        <p:spPr>
          <a:xfrm>
            <a:off x="1143000" y="0"/>
            <a:ext cx="8001000" cy="1143000"/>
          </a:xfrm>
          <a:prstGeom prst="rect">
            <a:avLst/>
          </a:prstGeom>
          <a:solidFill>
            <a:srgbClr val="538CD5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 b="1"/>
              <a:t>Characteristics of Algorithms</a:t>
            </a:r>
            <a:endParaRPr/>
          </a:p>
        </p:txBody>
      </p:sp>
      <p:sp>
        <p:nvSpPr>
          <p:cNvPr id="269" name="Google Shape;269;p15"/>
          <p:cNvSpPr txBox="1">
            <a:spLocks noGrp="1"/>
          </p:cNvSpPr>
          <p:nvPr>
            <p:ph type="body" idx="1"/>
          </p:nvPr>
        </p:nvSpPr>
        <p:spPr>
          <a:xfrm>
            <a:off x="457200" y="1295400"/>
            <a:ext cx="8229600" cy="4830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4295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lang="en-US" sz="3200"/>
              <a:t>Input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lang="en-US" sz="3200"/>
              <a:t>Output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lang="en-US" sz="3200"/>
              <a:t>Definiteness: </a:t>
            </a:r>
            <a:r>
              <a:rPr lang="en-US" sz="3200">
                <a:solidFill>
                  <a:srgbClr val="008000"/>
                </a:solidFill>
              </a:rPr>
              <a:t>clear and unambiguous</a:t>
            </a:r>
            <a:endParaRPr sz="3200"/>
          </a:p>
          <a:p>
            <a:pPr marL="742950" lvl="1" indent="-2857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lang="en-US" sz="3200"/>
              <a:t>Finiteness: </a:t>
            </a:r>
            <a:r>
              <a:rPr lang="en-US" sz="3200">
                <a:solidFill>
                  <a:srgbClr val="008000"/>
                </a:solidFill>
              </a:rPr>
              <a:t>terminate after a finite number of steps</a:t>
            </a:r>
            <a:endParaRPr sz="3200"/>
          </a:p>
          <a:p>
            <a:pPr marL="742950" lvl="1" indent="-2857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lang="en-US" sz="3200"/>
              <a:t>Effectiveness: </a:t>
            </a:r>
            <a:r>
              <a:rPr lang="en-US" sz="3200">
                <a:solidFill>
                  <a:srgbClr val="008000"/>
                </a:solidFill>
              </a:rPr>
              <a:t>instruction is basic enough to be carried out</a:t>
            </a:r>
            <a:endParaRPr sz="3200"/>
          </a:p>
          <a:p>
            <a:pPr marL="34290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6"/>
          <p:cNvSpPr txBox="1">
            <a:spLocks noGrp="1"/>
          </p:cNvSpPr>
          <p:nvPr>
            <p:ph type="title"/>
          </p:nvPr>
        </p:nvSpPr>
        <p:spPr>
          <a:xfrm>
            <a:off x="1219200" y="1"/>
            <a:ext cx="7620000" cy="1219199"/>
          </a:xfrm>
          <a:prstGeom prst="rect">
            <a:avLst/>
          </a:prstGeom>
          <a:solidFill>
            <a:srgbClr val="538CD5"/>
          </a:solidFill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marR="508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00"/>
              <a:buFont typeface="Calibri"/>
              <a:buNone/>
            </a:pPr>
            <a:r>
              <a:rPr lang="en-US" sz="3900"/>
              <a:t>Find Greatest Common Divisor of  Two Nonnegative</a:t>
            </a:r>
            <a:endParaRPr sz="3900"/>
          </a:p>
        </p:txBody>
      </p:sp>
      <p:sp>
        <p:nvSpPr>
          <p:cNvPr id="275" name="Google Shape;275;p16"/>
          <p:cNvSpPr txBox="1"/>
          <p:nvPr/>
        </p:nvSpPr>
        <p:spPr>
          <a:xfrm>
            <a:off x="457200" y="1447800"/>
            <a:ext cx="8329929" cy="335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527685" marR="0" lvl="0" indent="-51561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C68"/>
              </a:buClr>
              <a:buSzPts val="2550"/>
              <a:buFont typeface="Calibri"/>
              <a:buAutoNum type="arabicPeriod"/>
            </a:pPr>
            <a:r>
              <a:rPr lang="en-US" sz="3200" b="1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Euclid’s algorithm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gcd</a:t>
            </a:r>
            <a:r>
              <a:rPr lang="en-US" sz="32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 n) = gcd(n, m mod n)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gcd</a:t>
            </a:r>
            <a:r>
              <a:rPr lang="en-US" sz="32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(60, 24) = gcd(24, 12) = gcd(12, 0) = 12.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27685" marR="1085215" lvl="0" indent="-515619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83C68"/>
              </a:buClr>
              <a:buSzPts val="2550"/>
              <a:buFont typeface="Calibri"/>
              <a:buAutoNum type="arabicPeriod" startAt="2"/>
            </a:pPr>
            <a:r>
              <a:rPr lang="en-US"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Consecutive integer checking  algorithm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95910" marR="5080" lvl="0" indent="-283844" algn="l" rtl="0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>
                <a:srgbClr val="B83C68"/>
              </a:buClr>
              <a:buSzPts val="2550"/>
              <a:buFont typeface="Quattrocento Sans"/>
              <a:buChar char="⚫"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numbers 60 and 24, the algorithm will  try first 24, then 23, and so on, until it  reaches 12, where it stops.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0" name="Google Shape;280;p17"/>
          <p:cNvGrpSpPr/>
          <p:nvPr/>
        </p:nvGrpSpPr>
        <p:grpSpPr>
          <a:xfrm>
            <a:off x="1193291" y="89915"/>
            <a:ext cx="7664196" cy="1408175"/>
            <a:chOff x="1193291" y="89915"/>
            <a:chExt cx="7664196" cy="1408175"/>
          </a:xfrm>
        </p:grpSpPr>
        <p:pic>
          <p:nvPicPr>
            <p:cNvPr id="281" name="Google Shape;281;p1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193291" y="89915"/>
              <a:ext cx="7664196" cy="81381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2" name="Google Shape;282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93291" y="684275"/>
              <a:ext cx="4183379" cy="81381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3" name="Google Shape;283;p17"/>
          <p:cNvSpPr txBox="1">
            <a:spLocks noGrp="1"/>
          </p:cNvSpPr>
          <p:nvPr>
            <p:ph type="title"/>
          </p:nvPr>
        </p:nvSpPr>
        <p:spPr>
          <a:xfrm>
            <a:off x="1514094" y="220802"/>
            <a:ext cx="6944995" cy="1214755"/>
          </a:xfrm>
          <a:prstGeom prst="rect">
            <a:avLst/>
          </a:prstGeom>
          <a:solidFill>
            <a:srgbClr val="538CD5"/>
          </a:solidFill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marR="508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00"/>
              <a:buFont typeface="Times New Roman"/>
              <a:buNone/>
            </a:pPr>
            <a:r>
              <a:rPr lang="en-US" sz="3900">
                <a:latin typeface="Times New Roman"/>
                <a:ea typeface="Times New Roman"/>
                <a:cs typeface="Times New Roman"/>
                <a:sym typeface="Times New Roman"/>
              </a:rPr>
              <a:t>Find Greatest Common Divisor of  Two Nonnegative</a:t>
            </a:r>
            <a:endParaRPr sz="3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4" name="Google Shape;284;p17"/>
          <p:cNvSpPr txBox="1"/>
          <p:nvPr/>
        </p:nvSpPr>
        <p:spPr>
          <a:xfrm>
            <a:off x="609600" y="2514600"/>
            <a:ext cx="7619999" cy="2292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295910" marR="0" lvl="0" indent="-28384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C68"/>
              </a:buClr>
              <a:buSzPts val="2550"/>
              <a:buFont typeface="Quattrocento Sans"/>
              <a:buChar char="⚫"/>
            </a:pPr>
            <a:r>
              <a:rPr lang="en-US"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Middle-school procedure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37870" marR="5080" lvl="0" indent="-388619" algn="l" rtl="0">
              <a:lnSpc>
                <a:spcPct val="115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the numbers 60 and 24, we get  60 = 2 </a:t>
            </a:r>
            <a:r>
              <a:rPr lang="en-US" sz="32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2 . 3 . 5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3787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24 = 2 </a:t>
            </a:r>
            <a:r>
              <a:rPr lang="en-US" sz="32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2 . 2 . 3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gcd</a:t>
            </a:r>
            <a:r>
              <a:rPr lang="en-US" sz="32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(60, 24) = 2 . 2 . 3 = 12.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8"/>
          <p:cNvSpPr txBox="1">
            <a:spLocks noGrp="1"/>
          </p:cNvSpPr>
          <p:nvPr>
            <p:ph type="title"/>
          </p:nvPr>
        </p:nvSpPr>
        <p:spPr>
          <a:xfrm>
            <a:off x="1514100" y="154700"/>
            <a:ext cx="6014100" cy="689400"/>
          </a:xfrm>
          <a:prstGeom prst="rect">
            <a:avLst/>
          </a:prstGeom>
          <a:solidFill>
            <a:srgbClr val="538CD5"/>
          </a:solidFill>
          <a:ln>
            <a:noFill/>
          </a:ln>
        </p:spPr>
        <p:txBody>
          <a:bodyPr spcFirstLastPara="1" wrap="square" lIns="0" tIns="12050" rIns="0" bIns="0" anchor="ctr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/>
              <a:t>Notion of algorithm</a:t>
            </a:r>
            <a:endParaRPr/>
          </a:p>
        </p:txBody>
      </p:sp>
      <p:grpSp>
        <p:nvGrpSpPr>
          <p:cNvPr id="290" name="Google Shape;290;p18"/>
          <p:cNvGrpSpPr/>
          <p:nvPr/>
        </p:nvGrpSpPr>
        <p:grpSpPr>
          <a:xfrm>
            <a:off x="4339209" y="1428699"/>
            <a:ext cx="1481455" cy="690880"/>
            <a:chOff x="4339209" y="1428699"/>
            <a:chExt cx="1481455" cy="690880"/>
          </a:xfrm>
        </p:grpSpPr>
        <p:sp>
          <p:nvSpPr>
            <p:cNvPr id="291" name="Google Shape;291;p18"/>
            <p:cNvSpPr/>
            <p:nvPr/>
          </p:nvSpPr>
          <p:spPr>
            <a:xfrm>
              <a:off x="4339209" y="1428699"/>
              <a:ext cx="1481455" cy="690880"/>
            </a:xfrm>
            <a:custGeom>
              <a:avLst/>
              <a:gdLst/>
              <a:ahLst/>
              <a:cxnLst/>
              <a:rect l="l" t="t" r="r" b="b"/>
              <a:pathLst>
                <a:path w="1481454" h="690880" extrusionOk="0">
                  <a:moveTo>
                    <a:pt x="1481074" y="0"/>
                  </a:moveTo>
                  <a:lnTo>
                    <a:pt x="0" y="0"/>
                  </a:lnTo>
                  <a:lnTo>
                    <a:pt x="0" y="690422"/>
                  </a:lnTo>
                  <a:lnTo>
                    <a:pt x="1481074" y="690422"/>
                  </a:lnTo>
                  <a:lnTo>
                    <a:pt x="14810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292;p18"/>
            <p:cNvSpPr/>
            <p:nvPr/>
          </p:nvSpPr>
          <p:spPr>
            <a:xfrm>
              <a:off x="4339209" y="1428699"/>
              <a:ext cx="1481455" cy="690880"/>
            </a:xfrm>
            <a:custGeom>
              <a:avLst/>
              <a:gdLst/>
              <a:ahLst/>
              <a:cxnLst/>
              <a:rect l="l" t="t" r="r" b="b"/>
              <a:pathLst>
                <a:path w="1481454" h="690880" extrusionOk="0">
                  <a:moveTo>
                    <a:pt x="0" y="690422"/>
                  </a:moveTo>
                  <a:lnTo>
                    <a:pt x="1481074" y="690422"/>
                  </a:lnTo>
                  <a:lnTo>
                    <a:pt x="1481074" y="0"/>
                  </a:lnTo>
                  <a:lnTo>
                    <a:pt x="0" y="0"/>
                  </a:lnTo>
                  <a:lnTo>
                    <a:pt x="0" y="690422"/>
                  </a:lnTo>
                  <a:close/>
                </a:path>
              </a:pathLst>
            </a:custGeom>
            <a:noFill/>
            <a:ln w="126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3" name="Google Shape;293;p18"/>
          <p:cNvSpPr txBox="1"/>
          <p:nvPr/>
        </p:nvSpPr>
        <p:spPr>
          <a:xfrm>
            <a:off x="4418838" y="1445514"/>
            <a:ext cx="1069975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4" name="Google Shape;294;p18"/>
          <p:cNvGrpSpPr/>
          <p:nvPr/>
        </p:nvGrpSpPr>
        <p:grpSpPr>
          <a:xfrm>
            <a:off x="4339209" y="3123514"/>
            <a:ext cx="1481455" cy="690880"/>
            <a:chOff x="4339209" y="3123514"/>
            <a:chExt cx="1481455" cy="690880"/>
          </a:xfrm>
        </p:grpSpPr>
        <p:sp>
          <p:nvSpPr>
            <p:cNvPr id="295" name="Google Shape;295;p18"/>
            <p:cNvSpPr/>
            <p:nvPr/>
          </p:nvSpPr>
          <p:spPr>
            <a:xfrm>
              <a:off x="4339209" y="3123514"/>
              <a:ext cx="1481455" cy="690880"/>
            </a:xfrm>
            <a:custGeom>
              <a:avLst/>
              <a:gdLst/>
              <a:ahLst/>
              <a:cxnLst/>
              <a:rect l="l" t="t" r="r" b="b"/>
              <a:pathLst>
                <a:path w="1481454" h="690879" extrusionOk="0">
                  <a:moveTo>
                    <a:pt x="1481074" y="0"/>
                  </a:moveTo>
                  <a:lnTo>
                    <a:pt x="0" y="0"/>
                  </a:lnTo>
                  <a:lnTo>
                    <a:pt x="0" y="690422"/>
                  </a:lnTo>
                  <a:lnTo>
                    <a:pt x="1481074" y="690422"/>
                  </a:lnTo>
                  <a:lnTo>
                    <a:pt x="14810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" name="Google Shape;296;p18"/>
            <p:cNvSpPr/>
            <p:nvPr/>
          </p:nvSpPr>
          <p:spPr>
            <a:xfrm>
              <a:off x="4339209" y="3123514"/>
              <a:ext cx="1481455" cy="690880"/>
            </a:xfrm>
            <a:custGeom>
              <a:avLst/>
              <a:gdLst/>
              <a:ahLst/>
              <a:cxnLst/>
              <a:rect l="l" t="t" r="r" b="b"/>
              <a:pathLst>
                <a:path w="1481454" h="690879" extrusionOk="0">
                  <a:moveTo>
                    <a:pt x="0" y="690422"/>
                  </a:moveTo>
                  <a:lnTo>
                    <a:pt x="1481074" y="690422"/>
                  </a:lnTo>
                  <a:lnTo>
                    <a:pt x="1481074" y="0"/>
                  </a:lnTo>
                  <a:lnTo>
                    <a:pt x="0" y="0"/>
                  </a:lnTo>
                  <a:lnTo>
                    <a:pt x="0" y="690422"/>
                  </a:lnTo>
                  <a:close/>
                </a:path>
              </a:pathLst>
            </a:custGeom>
            <a:noFill/>
            <a:ln w="126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7" name="Google Shape;297;p18"/>
          <p:cNvSpPr txBox="1"/>
          <p:nvPr/>
        </p:nvSpPr>
        <p:spPr>
          <a:xfrm>
            <a:off x="4418838" y="3140455"/>
            <a:ext cx="1256665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8" name="Google Shape;298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26864" y="2148839"/>
            <a:ext cx="301751" cy="8595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9" name="Google Shape;299;p18"/>
          <p:cNvGrpSpPr/>
          <p:nvPr/>
        </p:nvGrpSpPr>
        <p:grpSpPr>
          <a:xfrm>
            <a:off x="4123944" y="3749040"/>
            <a:ext cx="1824227" cy="1655063"/>
            <a:chOff x="4123944" y="3749040"/>
            <a:chExt cx="1824227" cy="1655063"/>
          </a:xfrm>
        </p:grpSpPr>
        <p:pic>
          <p:nvPicPr>
            <p:cNvPr id="300" name="Google Shape;300;p18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626863" y="3749040"/>
              <a:ext cx="301751" cy="8549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1" name="Google Shape;301;p18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123944" y="4558284"/>
              <a:ext cx="1824227" cy="84581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2" name="Google Shape;302;p18"/>
          <p:cNvSpPr txBox="1"/>
          <p:nvPr/>
        </p:nvSpPr>
        <p:spPr>
          <a:xfrm>
            <a:off x="4373626" y="4669663"/>
            <a:ext cx="1270000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Computer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3" name="Google Shape;303;p18"/>
          <p:cNvGrpSpPr/>
          <p:nvPr/>
        </p:nvGrpSpPr>
        <p:grpSpPr>
          <a:xfrm>
            <a:off x="2286000" y="4654981"/>
            <a:ext cx="1071880" cy="644525"/>
            <a:chOff x="2286000" y="4654981"/>
            <a:chExt cx="1071880" cy="644525"/>
          </a:xfrm>
        </p:grpSpPr>
        <p:sp>
          <p:nvSpPr>
            <p:cNvPr id="304" name="Google Shape;304;p18"/>
            <p:cNvSpPr/>
            <p:nvPr/>
          </p:nvSpPr>
          <p:spPr>
            <a:xfrm>
              <a:off x="2286000" y="4654981"/>
              <a:ext cx="1071880" cy="644525"/>
            </a:xfrm>
            <a:custGeom>
              <a:avLst/>
              <a:gdLst/>
              <a:ahLst/>
              <a:cxnLst/>
              <a:rect l="l" t="t" r="r" b="b"/>
              <a:pathLst>
                <a:path w="1071879" h="644525" extrusionOk="0">
                  <a:moveTo>
                    <a:pt x="1071359" y="0"/>
                  </a:moveTo>
                  <a:lnTo>
                    <a:pt x="0" y="0"/>
                  </a:lnTo>
                  <a:lnTo>
                    <a:pt x="0" y="644093"/>
                  </a:lnTo>
                  <a:lnTo>
                    <a:pt x="1071359" y="644093"/>
                  </a:lnTo>
                  <a:lnTo>
                    <a:pt x="10713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" name="Google Shape;305;p18"/>
            <p:cNvSpPr/>
            <p:nvPr/>
          </p:nvSpPr>
          <p:spPr>
            <a:xfrm>
              <a:off x="2286000" y="4654981"/>
              <a:ext cx="1071880" cy="644525"/>
            </a:xfrm>
            <a:custGeom>
              <a:avLst/>
              <a:gdLst/>
              <a:ahLst/>
              <a:cxnLst/>
              <a:rect l="l" t="t" r="r" b="b"/>
              <a:pathLst>
                <a:path w="1071879" h="644525" extrusionOk="0">
                  <a:moveTo>
                    <a:pt x="0" y="644093"/>
                  </a:moveTo>
                  <a:lnTo>
                    <a:pt x="1071359" y="644093"/>
                  </a:lnTo>
                  <a:lnTo>
                    <a:pt x="1071359" y="0"/>
                  </a:lnTo>
                  <a:lnTo>
                    <a:pt x="0" y="0"/>
                  </a:lnTo>
                  <a:lnTo>
                    <a:pt x="0" y="644093"/>
                  </a:lnTo>
                  <a:close/>
                </a:path>
              </a:pathLst>
            </a:custGeom>
            <a:noFill/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6" name="Google Shape;306;p18"/>
          <p:cNvSpPr txBox="1"/>
          <p:nvPr/>
        </p:nvSpPr>
        <p:spPr>
          <a:xfrm>
            <a:off x="2377820" y="4670501"/>
            <a:ext cx="684530" cy="391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7" name="Google Shape;307;p18"/>
          <p:cNvGrpSpPr/>
          <p:nvPr/>
        </p:nvGrpSpPr>
        <p:grpSpPr>
          <a:xfrm>
            <a:off x="6637655" y="4654981"/>
            <a:ext cx="1435100" cy="644525"/>
            <a:chOff x="6637655" y="4654981"/>
            <a:chExt cx="1435100" cy="644525"/>
          </a:xfrm>
        </p:grpSpPr>
        <p:sp>
          <p:nvSpPr>
            <p:cNvPr id="308" name="Google Shape;308;p18"/>
            <p:cNvSpPr/>
            <p:nvPr/>
          </p:nvSpPr>
          <p:spPr>
            <a:xfrm>
              <a:off x="6637655" y="4654981"/>
              <a:ext cx="1435100" cy="644525"/>
            </a:xfrm>
            <a:custGeom>
              <a:avLst/>
              <a:gdLst/>
              <a:ahLst/>
              <a:cxnLst/>
              <a:rect l="l" t="t" r="r" b="b"/>
              <a:pathLst>
                <a:path w="1435100" h="644525" extrusionOk="0">
                  <a:moveTo>
                    <a:pt x="1434719" y="0"/>
                  </a:moveTo>
                  <a:lnTo>
                    <a:pt x="0" y="0"/>
                  </a:lnTo>
                  <a:lnTo>
                    <a:pt x="0" y="644093"/>
                  </a:lnTo>
                  <a:lnTo>
                    <a:pt x="1434719" y="644093"/>
                  </a:lnTo>
                  <a:lnTo>
                    <a:pt x="143471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" name="Google Shape;309;p18"/>
            <p:cNvSpPr/>
            <p:nvPr/>
          </p:nvSpPr>
          <p:spPr>
            <a:xfrm>
              <a:off x="6637655" y="4654981"/>
              <a:ext cx="1435100" cy="644525"/>
            </a:xfrm>
            <a:custGeom>
              <a:avLst/>
              <a:gdLst/>
              <a:ahLst/>
              <a:cxnLst/>
              <a:rect l="l" t="t" r="r" b="b"/>
              <a:pathLst>
                <a:path w="1435100" h="644525" extrusionOk="0">
                  <a:moveTo>
                    <a:pt x="0" y="644093"/>
                  </a:moveTo>
                  <a:lnTo>
                    <a:pt x="1434719" y="644093"/>
                  </a:lnTo>
                  <a:lnTo>
                    <a:pt x="1434719" y="0"/>
                  </a:lnTo>
                  <a:lnTo>
                    <a:pt x="0" y="0"/>
                  </a:lnTo>
                  <a:lnTo>
                    <a:pt x="0" y="644093"/>
                  </a:lnTo>
                  <a:close/>
                </a:path>
              </a:pathLst>
            </a:custGeom>
            <a:noFill/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0" name="Google Shape;310;p18"/>
          <p:cNvSpPr txBox="1"/>
          <p:nvPr/>
        </p:nvSpPr>
        <p:spPr>
          <a:xfrm>
            <a:off x="6867525" y="4670501"/>
            <a:ext cx="911860" cy="391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1" name="Google Shape;311;p1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278123" y="4846320"/>
            <a:ext cx="1193291" cy="301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1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682996" y="4713732"/>
            <a:ext cx="1101852" cy="301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" name="Google Shape;317;p19"/>
          <p:cNvGrpSpPr/>
          <p:nvPr/>
        </p:nvGrpSpPr>
        <p:grpSpPr>
          <a:xfrm>
            <a:off x="2176272" y="1572767"/>
            <a:ext cx="3934967" cy="2668524"/>
            <a:chOff x="2176272" y="1572767"/>
            <a:chExt cx="3934967" cy="2668524"/>
          </a:xfrm>
        </p:grpSpPr>
        <p:pic>
          <p:nvPicPr>
            <p:cNvPr id="318" name="Google Shape;318;p1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482596" y="1581911"/>
              <a:ext cx="3131820" cy="569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9" name="Google Shape;319;p1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683763" y="1572767"/>
              <a:ext cx="2729484" cy="4358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0" name="Google Shape;320;p19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555113" y="1628825"/>
              <a:ext cx="2987420" cy="4255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1" name="Google Shape;321;p19"/>
            <p:cNvSpPr/>
            <p:nvPr/>
          </p:nvSpPr>
          <p:spPr>
            <a:xfrm>
              <a:off x="2555113" y="1628825"/>
              <a:ext cx="2987675" cy="426084"/>
            </a:xfrm>
            <a:custGeom>
              <a:avLst/>
              <a:gdLst/>
              <a:ahLst/>
              <a:cxnLst/>
              <a:rect l="l" t="t" r="r" b="b"/>
              <a:pathLst>
                <a:path w="2987675" h="426085" extrusionOk="0">
                  <a:moveTo>
                    <a:pt x="0" y="425526"/>
                  </a:moveTo>
                  <a:lnTo>
                    <a:pt x="2987420" y="425526"/>
                  </a:lnTo>
                  <a:lnTo>
                    <a:pt x="2987420" y="0"/>
                  </a:lnTo>
                  <a:lnTo>
                    <a:pt x="0" y="0"/>
                  </a:lnTo>
                  <a:lnTo>
                    <a:pt x="0" y="425526"/>
                  </a:lnTo>
                  <a:close/>
                </a:path>
              </a:pathLst>
            </a:custGeom>
            <a:noFill/>
            <a:ln w="12675" cap="flat" cmpd="sng">
              <a:solidFill>
                <a:srgbClr val="B83C6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22" name="Google Shape;322;p19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176272" y="2292095"/>
              <a:ext cx="3934967" cy="10911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3" name="Google Shape;323;p19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2313432" y="2284475"/>
              <a:ext cx="3660648" cy="9235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4" name="Google Shape;324;p19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2247646" y="2339289"/>
              <a:ext cx="3791965" cy="94658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5" name="Google Shape;325;p19"/>
            <p:cNvSpPr/>
            <p:nvPr/>
          </p:nvSpPr>
          <p:spPr>
            <a:xfrm>
              <a:off x="2247646" y="2339289"/>
              <a:ext cx="3792220" cy="946785"/>
            </a:xfrm>
            <a:custGeom>
              <a:avLst/>
              <a:gdLst/>
              <a:ahLst/>
              <a:cxnLst/>
              <a:rect l="l" t="t" r="r" b="b"/>
              <a:pathLst>
                <a:path w="3792220" h="946785" extrusionOk="0">
                  <a:moveTo>
                    <a:pt x="0" y="946581"/>
                  </a:moveTo>
                  <a:lnTo>
                    <a:pt x="3791965" y="946581"/>
                  </a:lnTo>
                  <a:lnTo>
                    <a:pt x="3791965" y="0"/>
                  </a:lnTo>
                  <a:lnTo>
                    <a:pt x="0" y="0"/>
                  </a:lnTo>
                  <a:lnTo>
                    <a:pt x="0" y="946581"/>
                  </a:lnTo>
                  <a:close/>
                </a:path>
              </a:pathLst>
            </a:custGeom>
            <a:noFill/>
            <a:ln w="12700" cap="flat" cmpd="sng">
              <a:solidFill>
                <a:srgbClr val="B83C6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26" name="Google Shape;326;p19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3692652" y="2014727"/>
              <a:ext cx="283463" cy="4922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7" name="Google Shape;327;p19"/>
            <p:cNvSpPr/>
            <p:nvPr/>
          </p:nvSpPr>
          <p:spPr>
            <a:xfrm>
              <a:off x="3796157" y="2055113"/>
              <a:ext cx="76200" cy="284480"/>
            </a:xfrm>
            <a:custGeom>
              <a:avLst/>
              <a:gdLst/>
              <a:ahLst/>
              <a:cxnLst/>
              <a:rect l="l" t="t" r="r" b="b"/>
              <a:pathLst>
                <a:path w="76200" h="284480" extrusionOk="0">
                  <a:moveTo>
                    <a:pt x="31750" y="208025"/>
                  </a:moveTo>
                  <a:lnTo>
                    <a:pt x="0" y="208025"/>
                  </a:lnTo>
                  <a:lnTo>
                    <a:pt x="38100" y="284225"/>
                  </a:lnTo>
                  <a:lnTo>
                    <a:pt x="69850" y="220725"/>
                  </a:lnTo>
                  <a:lnTo>
                    <a:pt x="31750" y="220725"/>
                  </a:lnTo>
                  <a:lnTo>
                    <a:pt x="31750" y="208025"/>
                  </a:lnTo>
                  <a:close/>
                </a:path>
                <a:path w="76200" h="284480" extrusionOk="0">
                  <a:moveTo>
                    <a:pt x="44450" y="0"/>
                  </a:moveTo>
                  <a:lnTo>
                    <a:pt x="31750" y="0"/>
                  </a:lnTo>
                  <a:lnTo>
                    <a:pt x="31750" y="220725"/>
                  </a:lnTo>
                  <a:lnTo>
                    <a:pt x="44450" y="220725"/>
                  </a:lnTo>
                  <a:lnTo>
                    <a:pt x="44450" y="0"/>
                  </a:lnTo>
                  <a:close/>
                </a:path>
                <a:path w="76200" h="284480" extrusionOk="0">
                  <a:moveTo>
                    <a:pt x="76200" y="208025"/>
                  </a:moveTo>
                  <a:lnTo>
                    <a:pt x="44450" y="208025"/>
                  </a:lnTo>
                  <a:lnTo>
                    <a:pt x="44450" y="220725"/>
                  </a:lnTo>
                  <a:lnTo>
                    <a:pt x="69850" y="220725"/>
                  </a:lnTo>
                  <a:lnTo>
                    <a:pt x="76200" y="208025"/>
                  </a:lnTo>
                  <a:close/>
                </a:path>
              </a:pathLst>
            </a:custGeom>
            <a:solidFill>
              <a:srgbClr val="B83C6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28" name="Google Shape;328;p19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2700527" y="3525011"/>
              <a:ext cx="3131820" cy="7162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9" name="Google Shape;329;p19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3119627" y="3515867"/>
              <a:ext cx="2410968" cy="6797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0" name="Google Shape;330;p19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2772918" y="3571671"/>
              <a:ext cx="2987421" cy="5715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1" name="Google Shape;331;p19"/>
            <p:cNvSpPr/>
            <p:nvPr/>
          </p:nvSpPr>
          <p:spPr>
            <a:xfrm>
              <a:off x="2772918" y="3571671"/>
              <a:ext cx="2987675" cy="572135"/>
            </a:xfrm>
            <a:custGeom>
              <a:avLst/>
              <a:gdLst/>
              <a:ahLst/>
              <a:cxnLst/>
              <a:rect l="l" t="t" r="r" b="b"/>
              <a:pathLst>
                <a:path w="2987675" h="572135" extrusionOk="0">
                  <a:moveTo>
                    <a:pt x="0" y="571576"/>
                  </a:moveTo>
                  <a:lnTo>
                    <a:pt x="2987421" y="571576"/>
                  </a:lnTo>
                  <a:lnTo>
                    <a:pt x="2987421" y="0"/>
                  </a:lnTo>
                  <a:lnTo>
                    <a:pt x="0" y="0"/>
                  </a:lnTo>
                  <a:lnTo>
                    <a:pt x="0" y="571576"/>
                  </a:lnTo>
                  <a:close/>
                </a:path>
              </a:pathLst>
            </a:custGeom>
            <a:noFill/>
            <a:ln w="12700" cap="flat" cmpd="sng">
              <a:solidFill>
                <a:srgbClr val="B83C6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2" name="Google Shape;332;p19"/>
          <p:cNvSpPr txBox="1"/>
          <p:nvPr/>
        </p:nvSpPr>
        <p:spPr>
          <a:xfrm>
            <a:off x="2488437" y="1654555"/>
            <a:ext cx="3688333" cy="2494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8290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Understand the problem</a:t>
            </a:r>
            <a:endParaRPr sz="1600" b="0" i="0" u="none" strike="noStrike" cap="none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2065" marR="5080" lvl="0" indent="0" algn="ctr" rtl="0">
              <a:lnSpc>
                <a:spcPct val="100000"/>
              </a:lnSpc>
              <a:spcBef>
                <a:spcPts val="1585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Decide on:	Computational means  Exact vs Approximate solution  Algorithm design technique</a:t>
            </a:r>
            <a:endParaRPr sz="1600" b="0" i="0" u="none" strike="noStrike" cap="none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091565" marR="561975" lvl="0" indent="-27368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n-US" sz="1600" b="1" i="0" u="none" strike="noStrike" cap="none" dirty="0" smtClean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091565" marR="561975" lvl="0" indent="-27368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 smtClean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Design 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an algorithm  Data structures</a:t>
            </a:r>
            <a:endParaRPr sz="1600" b="0" i="0" u="none" strike="noStrike" cap="none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333" name="Google Shape;333;p19"/>
          <p:cNvGrpSpPr/>
          <p:nvPr/>
        </p:nvGrpSpPr>
        <p:grpSpPr>
          <a:xfrm>
            <a:off x="2700527" y="3317747"/>
            <a:ext cx="3131820" cy="1676400"/>
            <a:chOff x="2700527" y="3317747"/>
            <a:chExt cx="3131820" cy="1676400"/>
          </a:xfrm>
        </p:grpSpPr>
        <p:pic>
          <p:nvPicPr>
            <p:cNvPr id="334" name="Google Shape;334;p19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3704844" y="3317747"/>
              <a:ext cx="284988" cy="4236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5" name="Google Shape;335;p19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3808856" y="3357752"/>
              <a:ext cx="76200" cy="21628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6" name="Google Shape;336;p19"/>
            <p:cNvPicPr preferRelativeResize="0"/>
            <p:nvPr/>
          </p:nvPicPr>
          <p:blipFill rotWithShape="1">
            <a:blip r:embed="rId15">
              <a:alphaModFix/>
            </a:blip>
            <a:srcRect/>
            <a:stretch/>
          </p:blipFill>
          <p:spPr>
            <a:xfrm>
              <a:off x="2700527" y="4424171"/>
              <a:ext cx="3131820" cy="569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7" name="Google Shape;337;p19"/>
            <p:cNvPicPr preferRelativeResize="0"/>
            <p:nvPr/>
          </p:nvPicPr>
          <p:blipFill rotWithShape="1">
            <a:blip r:embed="rId16">
              <a:alphaModFix/>
            </a:blip>
            <a:srcRect/>
            <a:stretch/>
          </p:blipFill>
          <p:spPr>
            <a:xfrm>
              <a:off x="3230879" y="4415027"/>
              <a:ext cx="2072640" cy="4358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8" name="Google Shape;338;p19"/>
            <p:cNvPicPr preferRelativeResize="0"/>
            <p:nvPr/>
          </p:nvPicPr>
          <p:blipFill rotWithShape="1">
            <a:blip r:embed="rId17">
              <a:alphaModFix/>
            </a:blip>
            <a:srcRect/>
            <a:stretch/>
          </p:blipFill>
          <p:spPr>
            <a:xfrm>
              <a:off x="2772917" y="4470831"/>
              <a:ext cx="2987421" cy="42552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9" name="Google Shape;339;p19"/>
          <p:cNvSpPr txBox="1"/>
          <p:nvPr/>
        </p:nvSpPr>
        <p:spPr>
          <a:xfrm>
            <a:off x="2772917" y="4470831"/>
            <a:ext cx="2987675" cy="426084"/>
          </a:xfrm>
          <a:prstGeom prst="rect">
            <a:avLst/>
          </a:prstGeom>
          <a:noFill/>
          <a:ln w="12700" cap="flat" cmpd="sng">
            <a:solidFill>
              <a:srgbClr val="B83C6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38100" rIns="0" bIns="0" anchor="t" anchorCtr="0">
            <a:spAutoFit/>
          </a:bodyPr>
          <a:lstStyle/>
          <a:p>
            <a:pPr marL="64579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Prove correctness</a:t>
            </a:r>
            <a:endParaRPr sz="16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340" name="Google Shape;340;p19"/>
          <p:cNvGrpSpPr/>
          <p:nvPr/>
        </p:nvGrpSpPr>
        <p:grpSpPr>
          <a:xfrm>
            <a:off x="2700527" y="4146803"/>
            <a:ext cx="3131820" cy="1557528"/>
            <a:chOff x="2700527" y="4146803"/>
            <a:chExt cx="3131820" cy="1557528"/>
          </a:xfrm>
        </p:grpSpPr>
        <p:pic>
          <p:nvPicPr>
            <p:cNvPr id="341" name="Google Shape;341;p19"/>
            <p:cNvPicPr preferRelativeResize="0"/>
            <p:nvPr/>
          </p:nvPicPr>
          <p:blipFill rotWithShape="1">
            <a:blip r:embed="rId18">
              <a:alphaModFix/>
            </a:blip>
            <a:srcRect/>
            <a:stretch/>
          </p:blipFill>
          <p:spPr>
            <a:xfrm>
              <a:off x="3692652" y="4146803"/>
              <a:ext cx="283463" cy="4922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2" name="Google Shape;342;p19"/>
            <p:cNvSpPr/>
            <p:nvPr/>
          </p:nvSpPr>
          <p:spPr>
            <a:xfrm>
              <a:off x="3796156" y="4186681"/>
              <a:ext cx="76200" cy="284480"/>
            </a:xfrm>
            <a:custGeom>
              <a:avLst/>
              <a:gdLst/>
              <a:ahLst/>
              <a:cxnLst/>
              <a:rect l="l" t="t" r="r" b="b"/>
              <a:pathLst>
                <a:path w="76200" h="284479" extrusionOk="0">
                  <a:moveTo>
                    <a:pt x="31750" y="208026"/>
                  </a:moveTo>
                  <a:lnTo>
                    <a:pt x="0" y="208026"/>
                  </a:lnTo>
                  <a:lnTo>
                    <a:pt x="38100" y="284226"/>
                  </a:lnTo>
                  <a:lnTo>
                    <a:pt x="69850" y="220726"/>
                  </a:lnTo>
                  <a:lnTo>
                    <a:pt x="31750" y="220726"/>
                  </a:lnTo>
                  <a:lnTo>
                    <a:pt x="31750" y="208026"/>
                  </a:lnTo>
                  <a:close/>
                </a:path>
                <a:path w="76200" h="284479" extrusionOk="0">
                  <a:moveTo>
                    <a:pt x="44450" y="0"/>
                  </a:moveTo>
                  <a:lnTo>
                    <a:pt x="31750" y="0"/>
                  </a:lnTo>
                  <a:lnTo>
                    <a:pt x="31750" y="220726"/>
                  </a:lnTo>
                  <a:lnTo>
                    <a:pt x="44450" y="220726"/>
                  </a:lnTo>
                  <a:lnTo>
                    <a:pt x="44450" y="0"/>
                  </a:lnTo>
                  <a:close/>
                </a:path>
                <a:path w="76200" h="284479" extrusionOk="0">
                  <a:moveTo>
                    <a:pt x="76200" y="208026"/>
                  </a:moveTo>
                  <a:lnTo>
                    <a:pt x="44450" y="208026"/>
                  </a:lnTo>
                  <a:lnTo>
                    <a:pt x="44450" y="220726"/>
                  </a:lnTo>
                  <a:lnTo>
                    <a:pt x="69850" y="220726"/>
                  </a:lnTo>
                  <a:lnTo>
                    <a:pt x="76200" y="208026"/>
                  </a:lnTo>
                  <a:close/>
                </a:path>
              </a:pathLst>
            </a:custGeom>
            <a:solidFill>
              <a:srgbClr val="B83C6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43" name="Google Shape;343;p19"/>
            <p:cNvPicPr preferRelativeResize="0"/>
            <p:nvPr/>
          </p:nvPicPr>
          <p:blipFill rotWithShape="1">
            <a:blip r:embed="rId19">
              <a:alphaModFix/>
            </a:blip>
            <a:srcRect/>
            <a:stretch/>
          </p:blipFill>
          <p:spPr>
            <a:xfrm>
              <a:off x="2700527" y="5134355"/>
              <a:ext cx="3131820" cy="569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4" name="Google Shape;344;p19"/>
            <p:cNvPicPr preferRelativeResize="0"/>
            <p:nvPr/>
          </p:nvPicPr>
          <p:blipFill rotWithShape="1">
            <a:blip r:embed="rId20">
              <a:alphaModFix/>
            </a:blip>
            <a:srcRect/>
            <a:stretch/>
          </p:blipFill>
          <p:spPr>
            <a:xfrm>
              <a:off x="3020568" y="5126735"/>
              <a:ext cx="2491739" cy="4358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5" name="Google Shape;345;p19"/>
            <p:cNvPicPr preferRelativeResize="0"/>
            <p:nvPr/>
          </p:nvPicPr>
          <p:blipFill rotWithShape="1">
            <a:blip r:embed="rId21">
              <a:alphaModFix/>
            </a:blip>
            <a:srcRect/>
            <a:stretch/>
          </p:blipFill>
          <p:spPr>
            <a:xfrm>
              <a:off x="2772917" y="5181422"/>
              <a:ext cx="2987421" cy="42631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6" name="Google Shape;346;p19"/>
          <p:cNvSpPr txBox="1"/>
          <p:nvPr/>
        </p:nvSpPr>
        <p:spPr>
          <a:xfrm>
            <a:off x="2772917" y="5181422"/>
            <a:ext cx="2987675" cy="426720"/>
          </a:xfrm>
          <a:prstGeom prst="rect">
            <a:avLst/>
          </a:prstGeom>
          <a:noFill/>
          <a:ln w="12700" cap="flat" cmpd="sng">
            <a:solidFill>
              <a:srgbClr val="B83C6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38725" rIns="0" bIns="0" anchor="t" anchorCtr="0">
            <a:spAutoFit/>
          </a:bodyPr>
          <a:lstStyle/>
          <a:p>
            <a:pPr marL="43497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Analyze the algorithm</a:t>
            </a:r>
            <a:endParaRPr sz="16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347" name="Google Shape;347;p19"/>
          <p:cNvGrpSpPr/>
          <p:nvPr/>
        </p:nvGrpSpPr>
        <p:grpSpPr>
          <a:xfrm>
            <a:off x="2700527" y="4856988"/>
            <a:ext cx="3131820" cy="1560575"/>
            <a:chOff x="2700527" y="4856988"/>
            <a:chExt cx="3131820" cy="1560575"/>
          </a:xfrm>
        </p:grpSpPr>
        <p:pic>
          <p:nvPicPr>
            <p:cNvPr id="348" name="Google Shape;348;p19"/>
            <p:cNvPicPr preferRelativeResize="0"/>
            <p:nvPr/>
          </p:nvPicPr>
          <p:blipFill rotWithShape="1">
            <a:blip r:embed="rId22">
              <a:alphaModFix/>
            </a:blip>
            <a:srcRect/>
            <a:stretch/>
          </p:blipFill>
          <p:spPr>
            <a:xfrm>
              <a:off x="3692652" y="4856988"/>
              <a:ext cx="283463" cy="49225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19"/>
            <p:cNvSpPr/>
            <p:nvPr/>
          </p:nvSpPr>
          <p:spPr>
            <a:xfrm>
              <a:off x="3796156" y="4897247"/>
              <a:ext cx="76200" cy="284480"/>
            </a:xfrm>
            <a:custGeom>
              <a:avLst/>
              <a:gdLst/>
              <a:ahLst/>
              <a:cxnLst/>
              <a:rect l="l" t="t" r="r" b="b"/>
              <a:pathLst>
                <a:path w="76200" h="284479" extrusionOk="0">
                  <a:moveTo>
                    <a:pt x="31750" y="208025"/>
                  </a:moveTo>
                  <a:lnTo>
                    <a:pt x="0" y="208025"/>
                  </a:lnTo>
                  <a:lnTo>
                    <a:pt x="38100" y="284225"/>
                  </a:lnTo>
                  <a:lnTo>
                    <a:pt x="69850" y="220725"/>
                  </a:lnTo>
                  <a:lnTo>
                    <a:pt x="31750" y="220725"/>
                  </a:lnTo>
                  <a:lnTo>
                    <a:pt x="31750" y="208025"/>
                  </a:lnTo>
                  <a:close/>
                </a:path>
                <a:path w="76200" h="284479" extrusionOk="0">
                  <a:moveTo>
                    <a:pt x="44450" y="0"/>
                  </a:moveTo>
                  <a:lnTo>
                    <a:pt x="31750" y="0"/>
                  </a:lnTo>
                  <a:lnTo>
                    <a:pt x="31750" y="220725"/>
                  </a:lnTo>
                  <a:lnTo>
                    <a:pt x="44450" y="220725"/>
                  </a:lnTo>
                  <a:lnTo>
                    <a:pt x="44450" y="0"/>
                  </a:lnTo>
                  <a:close/>
                </a:path>
                <a:path w="76200" h="284479" extrusionOk="0">
                  <a:moveTo>
                    <a:pt x="76200" y="208025"/>
                  </a:moveTo>
                  <a:lnTo>
                    <a:pt x="44450" y="208025"/>
                  </a:lnTo>
                  <a:lnTo>
                    <a:pt x="44450" y="220725"/>
                  </a:lnTo>
                  <a:lnTo>
                    <a:pt x="69850" y="220725"/>
                  </a:lnTo>
                  <a:lnTo>
                    <a:pt x="76200" y="208025"/>
                  </a:lnTo>
                  <a:close/>
                </a:path>
              </a:pathLst>
            </a:custGeom>
            <a:solidFill>
              <a:srgbClr val="B83C6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50" name="Google Shape;350;p19"/>
            <p:cNvPicPr preferRelativeResize="0"/>
            <p:nvPr/>
          </p:nvPicPr>
          <p:blipFill rotWithShape="1">
            <a:blip r:embed="rId23">
              <a:alphaModFix/>
            </a:blip>
            <a:srcRect/>
            <a:stretch/>
          </p:blipFill>
          <p:spPr>
            <a:xfrm>
              <a:off x="2700527" y="5846063"/>
              <a:ext cx="3131820" cy="571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1" name="Google Shape;351;p19"/>
            <p:cNvPicPr preferRelativeResize="0"/>
            <p:nvPr/>
          </p:nvPicPr>
          <p:blipFill rotWithShape="1">
            <a:blip r:embed="rId24">
              <a:alphaModFix/>
            </a:blip>
            <a:srcRect/>
            <a:stretch/>
          </p:blipFill>
          <p:spPr>
            <a:xfrm>
              <a:off x="3144011" y="5836920"/>
              <a:ext cx="2244852" cy="4358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2" name="Google Shape;352;p19"/>
            <p:cNvPicPr preferRelativeResize="0"/>
            <p:nvPr/>
          </p:nvPicPr>
          <p:blipFill rotWithShape="1">
            <a:blip r:embed="rId25">
              <a:alphaModFix/>
            </a:blip>
            <a:srcRect/>
            <a:stretch/>
          </p:blipFill>
          <p:spPr>
            <a:xfrm>
              <a:off x="2772917" y="5891936"/>
              <a:ext cx="2987421" cy="4279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3" name="Google Shape;353;p19"/>
            <p:cNvSpPr/>
            <p:nvPr/>
          </p:nvSpPr>
          <p:spPr>
            <a:xfrm>
              <a:off x="2772917" y="5891936"/>
              <a:ext cx="2987675" cy="427990"/>
            </a:xfrm>
            <a:custGeom>
              <a:avLst/>
              <a:gdLst/>
              <a:ahLst/>
              <a:cxnLst/>
              <a:rect l="l" t="t" r="r" b="b"/>
              <a:pathLst>
                <a:path w="2987675" h="427989" extrusionOk="0">
                  <a:moveTo>
                    <a:pt x="0" y="427901"/>
                  </a:moveTo>
                  <a:lnTo>
                    <a:pt x="2987421" y="427901"/>
                  </a:lnTo>
                  <a:lnTo>
                    <a:pt x="2987421" y="0"/>
                  </a:lnTo>
                  <a:lnTo>
                    <a:pt x="0" y="0"/>
                  </a:lnTo>
                  <a:lnTo>
                    <a:pt x="0" y="427901"/>
                  </a:lnTo>
                  <a:close/>
                </a:path>
              </a:pathLst>
            </a:custGeom>
            <a:noFill/>
            <a:ln w="12700" cap="flat" cmpd="sng">
              <a:solidFill>
                <a:srgbClr val="B83C6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4" name="Google Shape;354;p19"/>
          <p:cNvSpPr txBox="1"/>
          <p:nvPr/>
        </p:nvSpPr>
        <p:spPr>
          <a:xfrm>
            <a:off x="3319017" y="5918708"/>
            <a:ext cx="1894839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Code the algorithm</a:t>
            </a:r>
            <a:endParaRPr sz="16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55" name="Google Shape;355;p19"/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1409700" y="2670048"/>
            <a:ext cx="979932" cy="283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19"/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1435608" y="3883152"/>
            <a:ext cx="1504188" cy="284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19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800100" y="387095"/>
            <a:ext cx="8343900" cy="8138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8" name="Google Shape;358;p19"/>
          <p:cNvGrpSpPr/>
          <p:nvPr/>
        </p:nvGrpSpPr>
        <p:grpSpPr>
          <a:xfrm>
            <a:off x="1395983" y="2740151"/>
            <a:ext cx="5670803" cy="3319273"/>
            <a:chOff x="1395983" y="2740151"/>
            <a:chExt cx="5670803" cy="3319273"/>
          </a:xfrm>
        </p:grpSpPr>
        <p:pic>
          <p:nvPicPr>
            <p:cNvPr id="359" name="Google Shape;359;p19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3692651" y="5567172"/>
              <a:ext cx="283463" cy="49225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0" name="Google Shape;360;p19"/>
            <p:cNvSpPr/>
            <p:nvPr/>
          </p:nvSpPr>
          <p:spPr>
            <a:xfrm>
              <a:off x="3796157" y="5607723"/>
              <a:ext cx="76200" cy="284480"/>
            </a:xfrm>
            <a:custGeom>
              <a:avLst/>
              <a:gdLst/>
              <a:ahLst/>
              <a:cxnLst/>
              <a:rect l="l" t="t" r="r" b="b"/>
              <a:pathLst>
                <a:path w="76200" h="284479" extrusionOk="0">
                  <a:moveTo>
                    <a:pt x="31750" y="208013"/>
                  </a:moveTo>
                  <a:lnTo>
                    <a:pt x="0" y="208013"/>
                  </a:lnTo>
                  <a:lnTo>
                    <a:pt x="38100" y="284213"/>
                  </a:lnTo>
                  <a:lnTo>
                    <a:pt x="69850" y="220713"/>
                  </a:lnTo>
                  <a:lnTo>
                    <a:pt x="31750" y="220713"/>
                  </a:lnTo>
                  <a:lnTo>
                    <a:pt x="31750" y="208013"/>
                  </a:lnTo>
                  <a:close/>
                </a:path>
                <a:path w="76200" h="284479" extrusionOk="0">
                  <a:moveTo>
                    <a:pt x="44450" y="0"/>
                  </a:moveTo>
                  <a:lnTo>
                    <a:pt x="31750" y="0"/>
                  </a:lnTo>
                  <a:lnTo>
                    <a:pt x="31750" y="220713"/>
                  </a:lnTo>
                  <a:lnTo>
                    <a:pt x="44450" y="220713"/>
                  </a:lnTo>
                  <a:lnTo>
                    <a:pt x="44450" y="0"/>
                  </a:lnTo>
                  <a:close/>
                </a:path>
                <a:path w="76200" h="284479" extrusionOk="0">
                  <a:moveTo>
                    <a:pt x="76200" y="208013"/>
                  </a:moveTo>
                  <a:lnTo>
                    <a:pt x="44450" y="208013"/>
                  </a:lnTo>
                  <a:lnTo>
                    <a:pt x="44450" y="220713"/>
                  </a:lnTo>
                  <a:lnTo>
                    <a:pt x="69850" y="220713"/>
                  </a:lnTo>
                  <a:lnTo>
                    <a:pt x="76200" y="208013"/>
                  </a:lnTo>
                  <a:close/>
                </a:path>
              </a:pathLst>
            </a:custGeom>
            <a:solidFill>
              <a:srgbClr val="B83C6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61" name="Google Shape;361;p19"/>
            <p:cNvPicPr preferRelativeResize="0"/>
            <p:nvPr/>
          </p:nvPicPr>
          <p:blipFill rotWithShape="1">
            <a:blip r:embed="rId29">
              <a:alphaModFix/>
            </a:blip>
            <a:srcRect/>
            <a:stretch/>
          </p:blipFill>
          <p:spPr>
            <a:xfrm>
              <a:off x="5686043" y="5326379"/>
              <a:ext cx="1327403" cy="1447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2" name="Google Shape;362;p19"/>
            <p:cNvSpPr/>
            <p:nvPr/>
          </p:nvSpPr>
          <p:spPr>
            <a:xfrm>
              <a:off x="5751702" y="5372480"/>
              <a:ext cx="1196975" cy="1270"/>
            </a:xfrm>
            <a:custGeom>
              <a:avLst/>
              <a:gdLst/>
              <a:ahLst/>
              <a:cxnLst/>
              <a:rect l="l" t="t" r="r" b="b"/>
              <a:pathLst>
                <a:path w="1196975" h="1270" extrusionOk="0">
                  <a:moveTo>
                    <a:pt x="0" y="0"/>
                  </a:moveTo>
                  <a:lnTo>
                    <a:pt x="1196594" y="762"/>
                  </a:lnTo>
                </a:path>
              </a:pathLst>
            </a:custGeom>
            <a:noFill/>
            <a:ln w="12700" cap="flat" cmpd="sng">
              <a:solidFill>
                <a:srgbClr val="B83C6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63" name="Google Shape;363;p19"/>
            <p:cNvPicPr preferRelativeResize="0"/>
            <p:nvPr/>
          </p:nvPicPr>
          <p:blipFill rotWithShape="1">
            <a:blip r:embed="rId30">
              <a:alphaModFix/>
            </a:blip>
            <a:srcRect/>
            <a:stretch/>
          </p:blipFill>
          <p:spPr>
            <a:xfrm>
              <a:off x="6876287" y="3009899"/>
              <a:ext cx="170688" cy="24536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4" name="Google Shape;364;p19"/>
            <p:cNvSpPr/>
            <p:nvPr/>
          </p:nvSpPr>
          <p:spPr>
            <a:xfrm>
              <a:off x="6948297" y="3049777"/>
              <a:ext cx="27305" cy="2323465"/>
            </a:xfrm>
            <a:custGeom>
              <a:avLst/>
              <a:gdLst/>
              <a:ahLst/>
              <a:cxnLst/>
              <a:rect l="l" t="t" r="r" b="b"/>
              <a:pathLst>
                <a:path w="27304" h="2323465" extrusionOk="0">
                  <a:moveTo>
                    <a:pt x="0" y="2323465"/>
                  </a:moveTo>
                  <a:lnTo>
                    <a:pt x="27177" y="0"/>
                  </a:lnTo>
                </a:path>
              </a:pathLst>
            </a:custGeom>
            <a:noFill/>
            <a:ln w="12700" cap="flat" cmpd="sng">
              <a:solidFill>
                <a:srgbClr val="B83C6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65" name="Google Shape;365;p19"/>
            <p:cNvPicPr preferRelativeResize="0"/>
            <p:nvPr/>
          </p:nvPicPr>
          <p:blipFill rotWithShape="1">
            <a:blip r:embed="rId31">
              <a:alphaModFix/>
            </a:blip>
            <a:srcRect/>
            <a:stretch/>
          </p:blipFill>
          <p:spPr>
            <a:xfrm>
              <a:off x="5573268" y="3759707"/>
              <a:ext cx="1431036" cy="2849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6" name="Google Shape;366;p19"/>
            <p:cNvSpPr/>
            <p:nvPr/>
          </p:nvSpPr>
          <p:spPr>
            <a:xfrm>
              <a:off x="5714745" y="3839082"/>
              <a:ext cx="1224280" cy="76200"/>
            </a:xfrm>
            <a:custGeom>
              <a:avLst/>
              <a:gdLst/>
              <a:ahLst/>
              <a:cxnLst/>
              <a:rect l="l" t="t" r="r" b="b"/>
              <a:pathLst>
                <a:path w="1224279" h="76200" extrusionOk="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44450"/>
                  </a:lnTo>
                  <a:lnTo>
                    <a:pt x="63500" y="44450"/>
                  </a:lnTo>
                  <a:lnTo>
                    <a:pt x="63500" y="31750"/>
                  </a:lnTo>
                  <a:lnTo>
                    <a:pt x="76200" y="31750"/>
                  </a:lnTo>
                  <a:lnTo>
                    <a:pt x="76200" y="0"/>
                  </a:lnTo>
                  <a:close/>
                </a:path>
                <a:path w="1224279" h="76200" extrusionOk="0">
                  <a:moveTo>
                    <a:pt x="76200" y="31750"/>
                  </a:moveTo>
                  <a:lnTo>
                    <a:pt x="63500" y="31750"/>
                  </a:lnTo>
                  <a:lnTo>
                    <a:pt x="63500" y="44450"/>
                  </a:lnTo>
                  <a:lnTo>
                    <a:pt x="76200" y="44450"/>
                  </a:lnTo>
                  <a:lnTo>
                    <a:pt x="76200" y="31750"/>
                  </a:lnTo>
                  <a:close/>
                </a:path>
                <a:path w="1224279" h="76200" extrusionOk="0">
                  <a:moveTo>
                    <a:pt x="1223772" y="31750"/>
                  </a:moveTo>
                  <a:lnTo>
                    <a:pt x="76200" y="31750"/>
                  </a:lnTo>
                  <a:lnTo>
                    <a:pt x="76200" y="44450"/>
                  </a:lnTo>
                  <a:lnTo>
                    <a:pt x="1223772" y="44450"/>
                  </a:lnTo>
                  <a:lnTo>
                    <a:pt x="1223772" y="31750"/>
                  </a:lnTo>
                  <a:close/>
                </a:path>
              </a:pathLst>
            </a:custGeom>
            <a:solidFill>
              <a:srgbClr val="B83C6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67" name="Google Shape;367;p19"/>
            <p:cNvPicPr preferRelativeResize="0"/>
            <p:nvPr/>
          </p:nvPicPr>
          <p:blipFill rotWithShape="1">
            <a:blip r:embed="rId32">
              <a:alphaModFix/>
            </a:blip>
            <a:srcRect/>
            <a:stretch/>
          </p:blipFill>
          <p:spPr>
            <a:xfrm>
              <a:off x="1409699" y="4514087"/>
              <a:ext cx="1429512" cy="16459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8" name="Google Shape;368;p19"/>
            <p:cNvSpPr/>
            <p:nvPr/>
          </p:nvSpPr>
          <p:spPr>
            <a:xfrm>
              <a:off x="1475231" y="4560061"/>
              <a:ext cx="1297940" cy="21590"/>
            </a:xfrm>
            <a:custGeom>
              <a:avLst/>
              <a:gdLst/>
              <a:ahLst/>
              <a:cxnLst/>
              <a:rect l="l" t="t" r="r" b="b"/>
              <a:pathLst>
                <a:path w="1297939" h="21589" extrusionOk="0">
                  <a:moveTo>
                    <a:pt x="1297686" y="0"/>
                  </a:moveTo>
                  <a:lnTo>
                    <a:pt x="0" y="21336"/>
                  </a:lnTo>
                </a:path>
              </a:pathLst>
            </a:custGeom>
            <a:noFill/>
            <a:ln w="12675" cap="flat" cmpd="sng">
              <a:solidFill>
                <a:srgbClr val="B83C6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69" name="Google Shape;369;p19"/>
            <p:cNvPicPr preferRelativeResize="0"/>
            <p:nvPr/>
          </p:nvPicPr>
          <p:blipFill rotWithShape="1">
            <a:blip r:embed="rId33">
              <a:alphaModFix/>
            </a:blip>
            <a:srcRect/>
            <a:stretch/>
          </p:blipFill>
          <p:spPr>
            <a:xfrm>
              <a:off x="1395983" y="2740151"/>
              <a:ext cx="150875" cy="196443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0" name="Google Shape;370;p19"/>
            <p:cNvSpPr/>
            <p:nvPr/>
          </p:nvSpPr>
          <p:spPr>
            <a:xfrm>
              <a:off x="1468500" y="2780664"/>
              <a:ext cx="6985" cy="1832610"/>
            </a:xfrm>
            <a:custGeom>
              <a:avLst/>
              <a:gdLst/>
              <a:ahLst/>
              <a:cxnLst/>
              <a:rect l="l" t="t" r="r" b="b"/>
              <a:pathLst>
                <a:path w="6984" h="1832610" extrusionOk="0">
                  <a:moveTo>
                    <a:pt x="0" y="1832356"/>
                  </a:moveTo>
                  <a:lnTo>
                    <a:pt x="6731" y="0"/>
                  </a:lnTo>
                </a:path>
              </a:pathLst>
            </a:custGeom>
            <a:noFill/>
            <a:ln w="12700" cap="flat" cmpd="sng">
              <a:solidFill>
                <a:srgbClr val="B83C6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" name="Google Shape;371;p19"/>
            <p:cNvSpPr/>
            <p:nvPr/>
          </p:nvSpPr>
          <p:spPr>
            <a:xfrm>
              <a:off x="1475232" y="2747517"/>
              <a:ext cx="1323340" cy="1291590"/>
            </a:xfrm>
            <a:custGeom>
              <a:avLst/>
              <a:gdLst/>
              <a:ahLst/>
              <a:cxnLst/>
              <a:rect l="l" t="t" r="r" b="b"/>
              <a:pathLst>
                <a:path w="1323339" h="1291589" extrusionOk="0">
                  <a:moveTo>
                    <a:pt x="760272" y="44577"/>
                  </a:moveTo>
                  <a:lnTo>
                    <a:pt x="708914" y="44577"/>
                  </a:lnTo>
                  <a:lnTo>
                    <a:pt x="696163" y="44577"/>
                  </a:lnTo>
                  <a:lnTo>
                    <a:pt x="695960" y="76200"/>
                  </a:lnTo>
                  <a:lnTo>
                    <a:pt x="760272" y="44577"/>
                  </a:lnTo>
                  <a:close/>
                </a:path>
                <a:path w="1323339" h="1291589" extrusionOk="0">
                  <a:moveTo>
                    <a:pt x="772414" y="38608"/>
                  </a:moveTo>
                  <a:lnTo>
                    <a:pt x="696468" y="0"/>
                  </a:lnTo>
                  <a:lnTo>
                    <a:pt x="696252" y="31788"/>
                  </a:lnTo>
                  <a:lnTo>
                    <a:pt x="0" y="26797"/>
                  </a:lnTo>
                  <a:lnTo>
                    <a:pt x="0" y="39497"/>
                  </a:lnTo>
                  <a:lnTo>
                    <a:pt x="696163" y="44488"/>
                  </a:lnTo>
                  <a:lnTo>
                    <a:pt x="708914" y="44577"/>
                  </a:lnTo>
                  <a:lnTo>
                    <a:pt x="760450" y="44488"/>
                  </a:lnTo>
                  <a:lnTo>
                    <a:pt x="772414" y="38608"/>
                  </a:lnTo>
                  <a:close/>
                </a:path>
                <a:path w="1323339" h="1291589" extrusionOk="0">
                  <a:moveTo>
                    <a:pt x="1323086" y="1252855"/>
                  </a:moveTo>
                  <a:lnTo>
                    <a:pt x="1311173" y="1247013"/>
                  </a:lnTo>
                  <a:lnTo>
                    <a:pt x="1246505" y="1215263"/>
                  </a:lnTo>
                  <a:lnTo>
                    <a:pt x="1246759" y="1247114"/>
                  </a:lnTo>
                  <a:lnTo>
                    <a:pt x="25273" y="1255903"/>
                  </a:lnTo>
                  <a:lnTo>
                    <a:pt x="25400" y="1268603"/>
                  </a:lnTo>
                  <a:lnTo>
                    <a:pt x="1246873" y="1259814"/>
                  </a:lnTo>
                  <a:lnTo>
                    <a:pt x="1247140" y="1291463"/>
                  </a:lnTo>
                  <a:lnTo>
                    <a:pt x="1323086" y="1252855"/>
                  </a:lnTo>
                  <a:close/>
                </a:path>
              </a:pathLst>
            </a:custGeom>
            <a:solidFill>
              <a:srgbClr val="B83C6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72" name="Google Shape;372;p19"/>
            <p:cNvPicPr preferRelativeResize="0"/>
            <p:nvPr/>
          </p:nvPicPr>
          <p:blipFill rotWithShape="1">
            <a:blip r:embed="rId34">
              <a:alphaModFix/>
            </a:blip>
            <a:srcRect/>
            <a:stretch/>
          </p:blipFill>
          <p:spPr>
            <a:xfrm>
              <a:off x="5858255" y="2974847"/>
              <a:ext cx="1208531" cy="2849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3" name="Google Shape;373;p19"/>
            <p:cNvSpPr/>
            <p:nvPr/>
          </p:nvSpPr>
          <p:spPr>
            <a:xfrm>
              <a:off x="6000749" y="3039744"/>
              <a:ext cx="1000760" cy="86995"/>
            </a:xfrm>
            <a:custGeom>
              <a:avLst/>
              <a:gdLst/>
              <a:ahLst/>
              <a:cxnLst/>
              <a:rect l="l" t="t" r="r" b="b"/>
              <a:pathLst>
                <a:path w="1000759" h="86994" extrusionOk="0">
                  <a:moveTo>
                    <a:pt x="74422" y="10540"/>
                  </a:moveTo>
                  <a:lnTo>
                    <a:pt x="0" y="52069"/>
                  </a:lnTo>
                  <a:lnTo>
                    <a:pt x="77850" y="86613"/>
                  </a:lnTo>
                  <a:lnTo>
                    <a:pt x="76448" y="55499"/>
                  </a:lnTo>
                  <a:lnTo>
                    <a:pt x="63753" y="55499"/>
                  </a:lnTo>
                  <a:lnTo>
                    <a:pt x="63119" y="42799"/>
                  </a:lnTo>
                  <a:lnTo>
                    <a:pt x="75849" y="42217"/>
                  </a:lnTo>
                  <a:lnTo>
                    <a:pt x="74422" y="10540"/>
                  </a:lnTo>
                  <a:close/>
                </a:path>
                <a:path w="1000759" h="86994" extrusionOk="0">
                  <a:moveTo>
                    <a:pt x="75849" y="42217"/>
                  </a:moveTo>
                  <a:lnTo>
                    <a:pt x="63119" y="42799"/>
                  </a:lnTo>
                  <a:lnTo>
                    <a:pt x="63753" y="55499"/>
                  </a:lnTo>
                  <a:lnTo>
                    <a:pt x="76422" y="54920"/>
                  </a:lnTo>
                  <a:lnTo>
                    <a:pt x="75849" y="42217"/>
                  </a:lnTo>
                  <a:close/>
                </a:path>
                <a:path w="1000759" h="86994" extrusionOk="0">
                  <a:moveTo>
                    <a:pt x="76422" y="54920"/>
                  </a:moveTo>
                  <a:lnTo>
                    <a:pt x="63753" y="55499"/>
                  </a:lnTo>
                  <a:lnTo>
                    <a:pt x="76448" y="55499"/>
                  </a:lnTo>
                  <a:lnTo>
                    <a:pt x="76422" y="54920"/>
                  </a:lnTo>
                  <a:close/>
                </a:path>
                <a:path w="1000759" h="86994" extrusionOk="0">
                  <a:moveTo>
                    <a:pt x="999871" y="0"/>
                  </a:moveTo>
                  <a:lnTo>
                    <a:pt x="75849" y="42217"/>
                  </a:lnTo>
                  <a:lnTo>
                    <a:pt x="76422" y="54920"/>
                  </a:lnTo>
                  <a:lnTo>
                    <a:pt x="1000378" y="12700"/>
                  </a:lnTo>
                  <a:lnTo>
                    <a:pt x="999871" y="0"/>
                  </a:lnTo>
                  <a:close/>
                </a:path>
              </a:pathLst>
            </a:custGeom>
            <a:solidFill>
              <a:srgbClr val="B83C6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4" name="Google Shape;374;p19"/>
          <p:cNvSpPr txBox="1">
            <a:spLocks noGrp="1"/>
          </p:cNvSpPr>
          <p:nvPr>
            <p:ph type="title"/>
          </p:nvPr>
        </p:nvSpPr>
        <p:spPr>
          <a:xfrm>
            <a:off x="1122070" y="517982"/>
            <a:ext cx="7837805" cy="620395"/>
          </a:xfrm>
          <a:prstGeom prst="rect">
            <a:avLst/>
          </a:prstGeom>
          <a:solidFill>
            <a:srgbClr val="538CD5"/>
          </a:solidFill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00"/>
              <a:buFont typeface="Calibri"/>
              <a:buNone/>
            </a:pPr>
            <a:r>
              <a:rPr lang="en-US" sz="3900"/>
              <a:t>Algorithm Design And Analysis Process</a:t>
            </a:r>
            <a:endParaRPr sz="39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93291" y="89915"/>
            <a:ext cx="5980176" cy="813815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20"/>
          <p:cNvSpPr txBox="1">
            <a:spLocks noGrp="1"/>
          </p:cNvSpPr>
          <p:nvPr>
            <p:ph type="title"/>
          </p:nvPr>
        </p:nvSpPr>
        <p:spPr>
          <a:xfrm>
            <a:off x="1514094" y="220802"/>
            <a:ext cx="5337810" cy="620395"/>
          </a:xfrm>
          <a:prstGeom prst="rect">
            <a:avLst/>
          </a:prstGeom>
          <a:solidFill>
            <a:srgbClr val="538CD5"/>
          </a:solidFill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00"/>
              <a:buFont typeface="Calibri"/>
              <a:buNone/>
            </a:pPr>
            <a:r>
              <a:rPr lang="en-US" sz="3900"/>
              <a:t>1.Understand the problem</a:t>
            </a:r>
            <a:endParaRPr sz="3900"/>
          </a:p>
        </p:txBody>
      </p:sp>
      <p:sp>
        <p:nvSpPr>
          <p:cNvPr id="381" name="Google Shape;381;p20"/>
          <p:cNvSpPr txBox="1"/>
          <p:nvPr/>
        </p:nvSpPr>
        <p:spPr>
          <a:xfrm>
            <a:off x="762001" y="1464309"/>
            <a:ext cx="7371714" cy="3304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295910" marR="144780" lvl="0" indent="-28384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C68"/>
              </a:buClr>
              <a:buSzPts val="1434"/>
              <a:buFont typeface="Quattrocento Sans"/>
              <a:buChar char="⚫"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Understand completely the problem  given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09650" marR="0" lvl="1" indent="-57023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83C68"/>
              </a:buClr>
              <a:buSzPts val="2550"/>
              <a:buFont typeface="Noto Sans Symbols"/>
              <a:buChar char="⮚"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09650" marR="0" lvl="1" indent="-57023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83C68"/>
              </a:buClr>
              <a:buSzPts val="2550"/>
              <a:buFont typeface="Noto Sans Symbols"/>
              <a:buChar char="⮚"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B83C68"/>
              </a:buClr>
              <a:buSzPts val="4300"/>
              <a:buFont typeface="Noto Sans Symbols"/>
              <a:buNone/>
            </a:pPr>
            <a:endParaRPr sz="4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95910" marR="5080" lvl="0" indent="-28384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C68"/>
              </a:buClr>
              <a:buSzPts val="2550"/>
              <a:buFont typeface="Quattrocento Sans"/>
              <a:buChar char="⚫"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input to an algorithm specifies an  </a:t>
            </a:r>
            <a:r>
              <a:rPr lang="en-US" sz="3200" b="0" i="0" u="none" strike="noStrike" cap="none">
                <a:solidFill>
                  <a:srgbClr val="892D4E"/>
                </a:solidFill>
                <a:latin typeface="Calibri"/>
                <a:ea typeface="Calibri"/>
                <a:cs typeface="Calibri"/>
                <a:sym typeface="Calibri"/>
              </a:rPr>
              <a:t>instance </a:t>
            </a: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the problem the algorithm  solves.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6" name="Google Shape;386;p21"/>
          <p:cNvGrpSpPr/>
          <p:nvPr/>
        </p:nvGrpSpPr>
        <p:grpSpPr>
          <a:xfrm>
            <a:off x="1193291" y="89915"/>
            <a:ext cx="7723632" cy="1408175"/>
            <a:chOff x="1193291" y="89915"/>
            <a:chExt cx="7723632" cy="1408175"/>
          </a:xfrm>
        </p:grpSpPr>
        <p:pic>
          <p:nvPicPr>
            <p:cNvPr id="387" name="Google Shape;387;p2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193291" y="89915"/>
              <a:ext cx="7723632" cy="81381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8" name="Google Shape;388;p2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93291" y="684275"/>
              <a:ext cx="5963412" cy="81381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9" name="Google Shape;389;p21"/>
          <p:cNvSpPr txBox="1">
            <a:spLocks noGrp="1"/>
          </p:cNvSpPr>
          <p:nvPr>
            <p:ph type="title"/>
          </p:nvPr>
        </p:nvSpPr>
        <p:spPr>
          <a:xfrm>
            <a:off x="1514094" y="220802"/>
            <a:ext cx="6944359" cy="1214755"/>
          </a:xfrm>
          <a:prstGeom prst="rect">
            <a:avLst/>
          </a:prstGeom>
          <a:solidFill>
            <a:srgbClr val="538CD5"/>
          </a:solidFill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marR="508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00"/>
              <a:buFont typeface="Calibri"/>
              <a:buNone/>
            </a:pPr>
            <a:r>
              <a:rPr lang="en-US" sz="3900"/>
              <a:t>2. Ascertaining the Capabilities of  the Computational Device</a:t>
            </a:r>
            <a:endParaRPr sz="3900"/>
          </a:p>
        </p:txBody>
      </p:sp>
      <p:sp>
        <p:nvSpPr>
          <p:cNvPr id="390" name="Google Shape;390;p21"/>
          <p:cNvSpPr txBox="1"/>
          <p:nvPr/>
        </p:nvSpPr>
        <p:spPr>
          <a:xfrm>
            <a:off x="381000" y="1655038"/>
            <a:ext cx="8278241" cy="335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378460" marR="0" lvl="0" indent="-28384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C68"/>
              </a:buClr>
              <a:buSzPts val="2550"/>
              <a:buFont typeface="Quattrocento Sans"/>
              <a:buChar char="⚫"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Sequential Algorithms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10160" lvl="0" indent="0" algn="l" rtl="0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Instructions are executed one after another,  one operation at a time.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38555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Random-access Machine (RAM)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04800" marR="0" lvl="0" indent="-2927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83C68"/>
              </a:buClr>
              <a:buSzPts val="2550"/>
              <a:buFont typeface="Quattrocento Sans"/>
              <a:buChar char="⚫"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Parallel Algorithms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925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Execute operations concurrently( parallel)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5" name="Google Shape;395;p22"/>
          <p:cNvGrpSpPr/>
          <p:nvPr/>
        </p:nvGrpSpPr>
        <p:grpSpPr>
          <a:xfrm>
            <a:off x="1193291" y="89915"/>
            <a:ext cx="7327392" cy="1408175"/>
            <a:chOff x="1193291" y="89915"/>
            <a:chExt cx="7327392" cy="1408175"/>
          </a:xfrm>
        </p:grpSpPr>
        <p:pic>
          <p:nvPicPr>
            <p:cNvPr id="396" name="Google Shape;396;p2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193291" y="89915"/>
              <a:ext cx="7327392" cy="81381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7" name="Google Shape;397;p2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93291" y="684275"/>
              <a:ext cx="6646164" cy="81381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8" name="Google Shape;398;p22"/>
          <p:cNvSpPr txBox="1">
            <a:spLocks noGrp="1"/>
          </p:cNvSpPr>
          <p:nvPr>
            <p:ph type="title"/>
          </p:nvPr>
        </p:nvSpPr>
        <p:spPr>
          <a:xfrm>
            <a:off x="1371600" y="220802"/>
            <a:ext cx="6740778" cy="1213153"/>
          </a:xfrm>
          <a:prstGeom prst="rect">
            <a:avLst/>
          </a:prstGeom>
          <a:solidFill>
            <a:srgbClr val="538CD5"/>
          </a:solidFill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marR="508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00"/>
              <a:buFont typeface="Calibri"/>
              <a:buNone/>
            </a:pPr>
            <a:r>
              <a:rPr lang="en-US" sz="3900"/>
              <a:t>3. Choosing between Exact and  Approximate Problem Solving</a:t>
            </a:r>
            <a:endParaRPr sz="3900"/>
          </a:p>
        </p:txBody>
      </p:sp>
      <p:sp>
        <p:nvSpPr>
          <p:cNvPr id="399" name="Google Shape;399;p22"/>
          <p:cNvSpPr txBox="1"/>
          <p:nvPr/>
        </p:nvSpPr>
        <p:spPr>
          <a:xfrm>
            <a:off x="1143000" y="1905000"/>
            <a:ext cx="7010400" cy="386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295910" marR="0" lvl="0" indent="-283844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83C68"/>
              </a:buClr>
              <a:buSzPts val="2550"/>
              <a:buFont typeface="Quattrocento Sans"/>
              <a:buChar char="⚫"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Exact algorithm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95910" marR="0" lvl="0" indent="-283844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83C68"/>
              </a:buClr>
              <a:buSzPts val="2550"/>
              <a:buFont typeface="Quattrocento Sans"/>
              <a:buChar char="⚫"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Approximation algorithm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01750" marR="0" lvl="1" indent="-802005" algn="l" rtl="0">
              <a:lnSpc>
                <a:spcPct val="150000"/>
              </a:lnSpc>
              <a:spcBef>
                <a:spcPts val="605"/>
              </a:spcBef>
              <a:spcAft>
                <a:spcPts val="0"/>
              </a:spcAft>
              <a:buClr>
                <a:srgbClr val="B83C68"/>
              </a:buClr>
              <a:buSzPts val="2550"/>
              <a:buFont typeface="Noto Sans Symbols"/>
              <a:buChar char="⮚"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Extracting square roots,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89355" marR="0" lvl="1" indent="-68961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B83C68"/>
              </a:buClr>
              <a:buSzPts val="2550"/>
              <a:buFont typeface="Noto Sans Symbols"/>
              <a:buChar char="⮚"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Solving nonlinear equations,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01750" marR="0" lvl="1" indent="-802005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B83C68"/>
              </a:buClr>
              <a:buSzPts val="2550"/>
              <a:buFont typeface="Noto Sans Symbols"/>
              <a:buChar char="⮚"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Evaluating definite integrals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4" name="Google Shape;404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93291" y="88392"/>
            <a:ext cx="7437120" cy="815339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23"/>
          <p:cNvSpPr txBox="1">
            <a:spLocks noGrp="1"/>
          </p:cNvSpPr>
          <p:nvPr>
            <p:ph type="title"/>
          </p:nvPr>
        </p:nvSpPr>
        <p:spPr>
          <a:xfrm>
            <a:off x="1514094" y="222326"/>
            <a:ext cx="6796405" cy="620395"/>
          </a:xfrm>
          <a:prstGeom prst="rect">
            <a:avLst/>
          </a:prstGeom>
          <a:solidFill>
            <a:srgbClr val="538CD5"/>
          </a:solidFill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00"/>
              <a:buFont typeface="Times New Roman"/>
              <a:buNone/>
            </a:pPr>
            <a:r>
              <a:rPr lang="en-US" sz="3900" b="1">
                <a:latin typeface="Times New Roman"/>
                <a:ea typeface="Times New Roman"/>
                <a:cs typeface="Times New Roman"/>
                <a:sym typeface="Times New Roman"/>
              </a:rPr>
              <a:t>4. Algorithm Design Technique</a:t>
            </a:r>
            <a:endParaRPr sz="3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6" name="Google Shape;406;p23"/>
          <p:cNvSpPr txBox="1"/>
          <p:nvPr/>
        </p:nvSpPr>
        <p:spPr>
          <a:xfrm>
            <a:off x="381000" y="1388700"/>
            <a:ext cx="8477021" cy="4263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236220" marR="2347595" lvl="0" indent="-224154" algn="just" rtl="0">
              <a:lnSpc>
                <a:spcPct val="115700"/>
              </a:lnSpc>
              <a:spcBef>
                <a:spcPts val="0"/>
              </a:spcBef>
              <a:spcAft>
                <a:spcPts val="0"/>
              </a:spcAft>
              <a:buClr>
                <a:srgbClr val="B83C68"/>
              </a:buClr>
              <a:buSzPts val="1434"/>
              <a:buFont typeface="Quattrocento Sans"/>
              <a:buChar char="⚫"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algorithm design technique  (“strategy” or “paradigm”)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95910" marR="5080" lvl="0" indent="-58417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General approach to solving problems  algorithmically that is applicable to a variety  of problems from different areas of  computing.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95910" marR="5080" lvl="0" indent="-283844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83C68"/>
              </a:buClr>
              <a:buSzPts val="2550"/>
              <a:buFont typeface="Quattrocento Sans"/>
              <a:buChar char="⚫"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 design techniques make it  possible to classify algorithms according to  an underlying design idea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1" name="Google Shape;411;p24"/>
          <p:cNvGrpSpPr/>
          <p:nvPr/>
        </p:nvGrpSpPr>
        <p:grpSpPr>
          <a:xfrm>
            <a:off x="1193291" y="89915"/>
            <a:ext cx="7740396" cy="1408175"/>
            <a:chOff x="1193291" y="89915"/>
            <a:chExt cx="7740396" cy="1408175"/>
          </a:xfrm>
        </p:grpSpPr>
        <p:pic>
          <p:nvPicPr>
            <p:cNvPr id="412" name="Google Shape;412;p2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193291" y="89915"/>
              <a:ext cx="7740396" cy="81381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3" name="Google Shape;413;p2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93291" y="684275"/>
              <a:ext cx="2749296" cy="81381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14" name="Google Shape;414;p24"/>
          <p:cNvSpPr txBox="1">
            <a:spLocks noGrp="1"/>
          </p:cNvSpPr>
          <p:nvPr>
            <p:ph type="title"/>
          </p:nvPr>
        </p:nvSpPr>
        <p:spPr>
          <a:xfrm>
            <a:off x="1514094" y="220802"/>
            <a:ext cx="6964045" cy="1214755"/>
          </a:xfrm>
          <a:prstGeom prst="rect">
            <a:avLst/>
          </a:prstGeom>
          <a:solidFill>
            <a:srgbClr val="538CD5"/>
          </a:solidFill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marR="508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00"/>
              <a:buFont typeface="Calibri"/>
              <a:buNone/>
            </a:pPr>
            <a:r>
              <a:rPr lang="en-US" sz="3900"/>
              <a:t>5. Designing an Algorithm and Data  Structures</a:t>
            </a:r>
            <a:endParaRPr sz="3900"/>
          </a:p>
        </p:txBody>
      </p:sp>
      <p:sp>
        <p:nvSpPr>
          <p:cNvPr id="415" name="Google Shape;415;p24"/>
          <p:cNvSpPr txBox="1"/>
          <p:nvPr/>
        </p:nvSpPr>
        <p:spPr>
          <a:xfrm>
            <a:off x="457200" y="1752600"/>
            <a:ext cx="8194673" cy="3848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295910" marR="0" lvl="0" indent="-28384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C68"/>
              </a:buClr>
              <a:buSzPts val="2550"/>
              <a:buFont typeface="Quattrocento Sans"/>
              <a:buChar char="⚫"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Several techniques need to be combined,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95910" marR="437515" lvl="0" indent="-28384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83C68"/>
              </a:buClr>
              <a:buSzPts val="2550"/>
              <a:buFont typeface="Quattrocento Sans"/>
              <a:buChar char="⚫"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Hard to pinpoint as applications of the  known design techniques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95910" marR="0" lvl="0" indent="-28384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83C68"/>
              </a:buClr>
              <a:buSzPts val="2550"/>
              <a:buFont typeface="Quattrocento Sans"/>
              <a:buChar char="⚫"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Algorithms+ data structures = programs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36220" marR="1546225" lvl="0" indent="-224154" algn="l" rtl="0">
              <a:lnSpc>
                <a:spcPct val="115599"/>
              </a:lnSpc>
              <a:spcBef>
                <a:spcPts val="5"/>
              </a:spcBef>
              <a:spcAft>
                <a:spcPts val="0"/>
              </a:spcAft>
              <a:buClr>
                <a:srgbClr val="B83C68"/>
              </a:buClr>
              <a:buSzPts val="2550"/>
              <a:buFont typeface="Quattrocento Sans"/>
              <a:buChar char="⚫"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Object-oriented programming  </a:t>
            </a:r>
            <a:r>
              <a:rPr lang="en-US" sz="3200" b="0" i="0" u="none" strike="noStrike" cap="none">
                <a:solidFill>
                  <a:srgbClr val="892D4E"/>
                </a:solidFill>
                <a:latin typeface="Calibri"/>
                <a:ea typeface="Calibri"/>
                <a:cs typeface="Calibri"/>
                <a:sym typeface="Calibri"/>
              </a:rPr>
              <a:t>Data structures </a:t>
            </a: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remain crucially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95910" marR="3492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 for both design and analysis of  algorithms.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5"/>
          <p:cNvSpPr txBox="1">
            <a:spLocks noGrp="1"/>
          </p:cNvSpPr>
          <p:nvPr>
            <p:ph type="title"/>
          </p:nvPr>
        </p:nvSpPr>
        <p:spPr>
          <a:xfrm>
            <a:off x="1428150" y="187244"/>
            <a:ext cx="6701700" cy="1213500"/>
          </a:xfrm>
          <a:prstGeom prst="rect">
            <a:avLst/>
          </a:prstGeom>
          <a:solidFill>
            <a:srgbClr val="538CD5"/>
          </a:solidFill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00"/>
              <a:buFont typeface="Calibri"/>
              <a:buNone/>
            </a:pPr>
            <a:r>
              <a:rPr lang="en-US" sz="3900"/>
              <a:t>Methods of Specifying an Algorithm</a:t>
            </a:r>
            <a:endParaRPr sz="3900"/>
          </a:p>
        </p:txBody>
      </p:sp>
      <p:sp>
        <p:nvSpPr>
          <p:cNvPr id="421" name="Google Shape;421;p25"/>
          <p:cNvSpPr txBox="1"/>
          <p:nvPr/>
        </p:nvSpPr>
        <p:spPr>
          <a:xfrm>
            <a:off x="457200" y="1226921"/>
            <a:ext cx="8296147" cy="4906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296545" marR="0" lvl="0" indent="-283845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3C68"/>
              </a:buClr>
              <a:buSzPts val="2550"/>
              <a:buFont typeface="Quattrocento Sans"/>
              <a:buChar char="⚫"/>
            </a:pPr>
            <a:r>
              <a:rPr lang="en-US" sz="3200" b="0" i="0" u="none" strike="noStrike" cap="none">
                <a:solidFill>
                  <a:srgbClr val="892D4E"/>
                </a:solidFill>
                <a:latin typeface="Calibri"/>
                <a:ea typeface="Calibri"/>
                <a:cs typeface="Calibri"/>
                <a:sym typeface="Calibri"/>
              </a:rPr>
              <a:t>Pseudo code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95910" marR="998219" lvl="0" indent="12065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mixture of a natural language and  programming language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96545" marR="0" lvl="0" indent="-283845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83C68"/>
              </a:buClr>
              <a:buSzPts val="2550"/>
              <a:buFont typeface="Quattrocento Sans"/>
              <a:buChar char="⚫"/>
            </a:pPr>
            <a:r>
              <a:rPr lang="en-US" sz="3200" b="0" i="0" u="none" strike="noStrike" cap="none">
                <a:solidFill>
                  <a:srgbClr val="892D4E"/>
                </a:solidFill>
                <a:latin typeface="Calibri"/>
                <a:ea typeface="Calibri"/>
                <a:cs typeface="Calibri"/>
                <a:sym typeface="Calibri"/>
              </a:rPr>
              <a:t>Flowchart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95910" marR="5080" lvl="0" indent="-8255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method of expressing an algorithm by a  collection of connected geometric shapes  containing descriptions of the algorithm’s  steps.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96545" marR="0" lvl="0" indent="-283845" algn="just" rtl="0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>
                <a:srgbClr val="B83C68"/>
              </a:buClr>
              <a:buSzPts val="2550"/>
              <a:buFont typeface="Quattrocento Sans"/>
              <a:buChar char="⚫"/>
            </a:pPr>
            <a:r>
              <a:rPr lang="en-US" sz="3200" b="0" i="0" u="none" strike="noStrike" cap="none">
                <a:solidFill>
                  <a:srgbClr val="892D4E"/>
                </a:solidFill>
                <a:latin typeface="Calibri"/>
                <a:ea typeface="Calibri"/>
                <a:cs typeface="Calibri"/>
                <a:sym typeface="Calibri"/>
              </a:rPr>
              <a:t>Programs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08610" marR="0" lvl="0" indent="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Another way of specifying the algorithm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6"/>
          <p:cNvSpPr txBox="1">
            <a:spLocks noGrp="1"/>
          </p:cNvSpPr>
          <p:nvPr>
            <p:ph type="title"/>
          </p:nvPr>
        </p:nvSpPr>
        <p:spPr>
          <a:xfrm>
            <a:off x="1447800" y="152400"/>
            <a:ext cx="7239000" cy="533400"/>
          </a:xfrm>
          <a:prstGeom prst="rect">
            <a:avLst/>
          </a:prstGeom>
          <a:solidFill>
            <a:srgbClr val="538CD5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/>
            </a:r>
            <a:br>
              <a:rPr lang="en-US"/>
            </a:br>
            <a:r>
              <a:rPr lang="en-US" b="1"/>
              <a:t>Pseudocode</a:t>
            </a:r>
            <a:r>
              <a:rPr lang="en-US"/>
              <a:t/>
            </a:r>
            <a:br>
              <a:rPr lang="en-US"/>
            </a:br>
            <a:endParaRPr/>
          </a:p>
        </p:txBody>
      </p:sp>
      <p:sp>
        <p:nvSpPr>
          <p:cNvPr id="427" name="Google Shape;427;p26"/>
          <p:cNvSpPr txBox="1">
            <a:spLocks noGrp="1"/>
          </p:cNvSpPr>
          <p:nvPr>
            <p:ph type="body" idx="1"/>
          </p:nvPr>
        </p:nvSpPr>
        <p:spPr>
          <a:xfrm>
            <a:off x="457200" y="990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Pseudocode Notations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                precise description of a solution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Algorithm Header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</a:t>
            </a:r>
            <a:r>
              <a:rPr lang="en-US" sz="2100"/>
              <a:t>- A </a:t>
            </a:r>
            <a:r>
              <a:rPr lang="en-US" sz="2100" i="1"/>
              <a:t>header </a:t>
            </a:r>
            <a:r>
              <a:rPr lang="en-US" sz="2100"/>
              <a:t>includes the name of the algorithm, the parameters, 	  and the list of pre and post conditions.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-US" sz="2100"/>
              <a:t>	- The header makes the pseudocode readable.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 </a:t>
            </a:r>
            <a:endParaRPr/>
          </a:p>
          <a:p>
            <a:pPr marL="34290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  <a:p>
            <a:pPr marL="34290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  <p:pic>
        <p:nvPicPr>
          <p:cNvPr id="428" name="Google Shape;428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3699" y="3471851"/>
            <a:ext cx="4951800" cy="197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93699" y="5465176"/>
            <a:ext cx="4728350" cy="127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7"/>
          <p:cNvSpPr txBox="1">
            <a:spLocks noGrp="1"/>
          </p:cNvSpPr>
          <p:nvPr>
            <p:ph type="body" idx="1"/>
          </p:nvPr>
        </p:nvSpPr>
        <p:spPr>
          <a:xfrm>
            <a:off x="381000" y="3048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39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Purpose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 </a:t>
            </a:r>
            <a:endParaRPr/>
          </a:p>
          <a:p>
            <a:pPr marL="34290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  <p:pic>
        <p:nvPicPr>
          <p:cNvPr id="435" name="Google Shape;435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5400" y="1580726"/>
            <a:ext cx="6324600" cy="42866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8"/>
          <p:cNvSpPr txBox="1">
            <a:spLocks noGrp="1"/>
          </p:cNvSpPr>
          <p:nvPr>
            <p:ph type="body" idx="1"/>
          </p:nvPr>
        </p:nvSpPr>
        <p:spPr>
          <a:xfrm>
            <a:off x="457200" y="838200"/>
            <a:ext cx="8229600" cy="528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39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Condition and Return Statements</a:t>
            </a:r>
            <a:endParaRPr/>
          </a:p>
          <a:p>
            <a:pPr marL="34290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  <p:pic>
        <p:nvPicPr>
          <p:cNvPr id="441" name="Google Shape;441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5999" y="1905000"/>
            <a:ext cx="2612571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1030" y="2819400"/>
            <a:ext cx="5489370" cy="409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2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27139" y="2667000"/>
            <a:ext cx="6942859" cy="1647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9"/>
          <p:cNvSpPr txBox="1">
            <a:spLocks noGrp="1"/>
          </p:cNvSpPr>
          <p:nvPr>
            <p:ph type="body" idx="1"/>
          </p:nvPr>
        </p:nvSpPr>
        <p:spPr>
          <a:xfrm>
            <a:off x="381000" y="0"/>
            <a:ext cx="8229600" cy="4678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39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  <a:p>
            <a:pPr marL="34290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Statement Numbers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  <a:p>
            <a:pPr marL="34290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Variables</a:t>
            </a:r>
            <a:endParaRPr/>
          </a:p>
          <a:p>
            <a:pPr marL="34290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  <p:pic>
        <p:nvPicPr>
          <p:cNvPr id="449" name="Google Shape;449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57600" y="1981200"/>
            <a:ext cx="3581400" cy="13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30"/>
          <p:cNvSpPr txBox="1">
            <a:spLocks noGrp="1"/>
          </p:cNvSpPr>
          <p:nvPr>
            <p:ph type="body" idx="1"/>
          </p:nvPr>
        </p:nvSpPr>
        <p:spPr>
          <a:xfrm>
            <a:off x="1066800" y="228600"/>
            <a:ext cx="7620000" cy="65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Statement Constructs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</a:t>
            </a:r>
            <a:r>
              <a:rPr lang="en-US" sz="2400"/>
              <a:t>1. sequence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</a:t>
            </a:r>
            <a:r>
              <a:rPr lang="en-US" sz="2000"/>
              <a:t>2. decision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3. repetition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  <p:pic>
        <p:nvPicPr>
          <p:cNvPr id="455" name="Google Shape;455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90800" y="1143000"/>
            <a:ext cx="5042647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33600" y="4124324"/>
            <a:ext cx="2705100" cy="174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3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34000" y="4267200"/>
            <a:ext cx="3190009" cy="20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1"/>
          <p:cNvSpPr txBox="1">
            <a:spLocks noGrp="1"/>
          </p:cNvSpPr>
          <p:nvPr>
            <p:ph type="title"/>
          </p:nvPr>
        </p:nvSpPr>
        <p:spPr>
          <a:xfrm>
            <a:off x="1143000" y="0"/>
            <a:ext cx="8001000" cy="1143000"/>
          </a:xfrm>
          <a:prstGeom prst="rect">
            <a:avLst/>
          </a:prstGeom>
          <a:solidFill>
            <a:srgbClr val="538CD5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 b="1"/>
              <a:t>Relationship among data , data structures, and algorithms</a:t>
            </a:r>
            <a:endParaRPr/>
          </a:p>
        </p:txBody>
      </p:sp>
      <p:pic>
        <p:nvPicPr>
          <p:cNvPr id="463" name="Google Shape;463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1752600"/>
            <a:ext cx="7391400" cy="312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32"/>
          <p:cNvSpPr txBox="1">
            <a:spLocks noGrp="1"/>
          </p:cNvSpPr>
          <p:nvPr>
            <p:ph type="title"/>
          </p:nvPr>
        </p:nvSpPr>
        <p:spPr>
          <a:xfrm>
            <a:off x="1143000" y="0"/>
            <a:ext cx="8001000" cy="1143000"/>
          </a:xfrm>
          <a:prstGeom prst="rect">
            <a:avLst/>
          </a:prstGeom>
          <a:solidFill>
            <a:srgbClr val="538CD5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 b="1"/>
              <a:t>Implementation of Data Structures</a:t>
            </a:r>
            <a:endParaRPr/>
          </a:p>
        </p:txBody>
      </p:sp>
      <p:sp>
        <p:nvSpPr>
          <p:cNvPr id="469" name="Google Shape;469;p32"/>
          <p:cNvSpPr txBox="1">
            <a:spLocks noGrp="1"/>
          </p:cNvSpPr>
          <p:nvPr>
            <p:ph type="body" idx="1"/>
          </p:nvPr>
        </p:nvSpPr>
        <p:spPr>
          <a:xfrm>
            <a:off x="457200" y="1295400"/>
            <a:ext cx="8229600" cy="4830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b="1" i="1"/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b="1" i="1"/>
              <a:t>Phase I: Specification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b="1" i="1"/>
              <a:t>Phase II: Implementation</a:t>
            </a:r>
            <a:endParaRPr/>
          </a:p>
          <a:p>
            <a:pPr marL="34290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33"/>
          <p:cNvSpPr txBox="1">
            <a:spLocks noGrp="1"/>
          </p:cNvSpPr>
          <p:nvPr>
            <p:ph type="title"/>
          </p:nvPr>
        </p:nvSpPr>
        <p:spPr>
          <a:xfrm>
            <a:off x="1143000" y="0"/>
            <a:ext cx="8001000" cy="1143000"/>
          </a:xfrm>
          <a:prstGeom prst="rect">
            <a:avLst/>
          </a:prstGeom>
          <a:solidFill>
            <a:srgbClr val="538CD5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 b="1"/>
              <a:t>Flowcharts</a:t>
            </a:r>
            <a:endParaRPr/>
          </a:p>
        </p:txBody>
      </p:sp>
      <p:pic>
        <p:nvPicPr>
          <p:cNvPr id="475" name="Google Shape;475;p3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971800" y="2057400"/>
            <a:ext cx="3124200" cy="419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34"/>
          <p:cNvSpPr txBox="1">
            <a:spLocks noGrp="1"/>
          </p:cNvSpPr>
          <p:nvPr>
            <p:ph type="title"/>
          </p:nvPr>
        </p:nvSpPr>
        <p:spPr>
          <a:xfrm>
            <a:off x="1295400" y="0"/>
            <a:ext cx="7620000" cy="628377"/>
          </a:xfrm>
          <a:prstGeom prst="rect">
            <a:avLst/>
          </a:prstGeom>
          <a:solidFill>
            <a:srgbClr val="538CD5"/>
          </a:solidFill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Times New Roman"/>
              <a:buNone/>
            </a:pPr>
            <a:r>
              <a:rPr lang="en-US" sz="4000" b="1" u="none">
                <a:latin typeface="Times New Roman"/>
                <a:ea typeface="Times New Roman"/>
                <a:cs typeface="Times New Roman"/>
                <a:sym typeface="Times New Roman"/>
              </a:rPr>
              <a:t>Algorithm Analysis</a:t>
            </a:r>
            <a:endParaRPr sz="40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481" name="Google Shape;481;p34"/>
          <p:cNvGrpSpPr/>
          <p:nvPr/>
        </p:nvGrpSpPr>
        <p:grpSpPr>
          <a:xfrm>
            <a:off x="547369" y="1541779"/>
            <a:ext cx="2222500" cy="15240"/>
            <a:chOff x="547369" y="1541779"/>
            <a:chExt cx="2222500" cy="15240"/>
          </a:xfrm>
        </p:grpSpPr>
        <p:sp>
          <p:nvSpPr>
            <p:cNvPr id="482" name="Google Shape;482;p34"/>
            <p:cNvSpPr/>
            <p:nvPr/>
          </p:nvSpPr>
          <p:spPr>
            <a:xfrm>
              <a:off x="562609" y="1557019"/>
              <a:ext cx="2207260" cy="0"/>
            </a:xfrm>
            <a:custGeom>
              <a:avLst/>
              <a:gdLst/>
              <a:ahLst/>
              <a:cxnLst/>
              <a:rect l="l" t="t" r="r" b="b"/>
              <a:pathLst>
                <a:path w="2207260" h="120000" extrusionOk="0">
                  <a:moveTo>
                    <a:pt x="0" y="0"/>
                  </a:moveTo>
                  <a:lnTo>
                    <a:pt x="2207260" y="0"/>
                  </a:lnTo>
                </a:path>
              </a:pathLst>
            </a:custGeom>
            <a:noFill/>
            <a:ln w="203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" name="Google Shape;483;p34"/>
            <p:cNvSpPr/>
            <p:nvPr/>
          </p:nvSpPr>
          <p:spPr>
            <a:xfrm>
              <a:off x="547369" y="1541779"/>
              <a:ext cx="2207260" cy="0"/>
            </a:xfrm>
            <a:custGeom>
              <a:avLst/>
              <a:gdLst/>
              <a:ahLst/>
              <a:cxnLst/>
              <a:rect l="l" t="t" r="r" b="b"/>
              <a:pathLst>
                <a:path w="2207260" h="120000" extrusionOk="0">
                  <a:moveTo>
                    <a:pt x="0" y="0"/>
                  </a:moveTo>
                  <a:lnTo>
                    <a:pt x="2207260" y="0"/>
                  </a:lnTo>
                </a:path>
              </a:pathLst>
            </a:custGeom>
            <a:noFill/>
            <a:ln w="20300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84" name="Google Shape;484;p34"/>
          <p:cNvSpPr txBox="1"/>
          <p:nvPr/>
        </p:nvSpPr>
        <p:spPr>
          <a:xfrm>
            <a:off x="534669" y="1192529"/>
            <a:ext cx="7993380" cy="2702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Space complexity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00000"/>
              </a:lnSpc>
              <a:spcBef>
                <a:spcPts val="21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Space complexity of a program is the amount of memory that it needs to run to  completion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Includes,	Instruction space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41500" marR="346964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Space for simple variables  Space for constants; etc.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34"/>
          <p:cNvSpPr txBox="1"/>
          <p:nvPr/>
        </p:nvSpPr>
        <p:spPr>
          <a:xfrm>
            <a:off x="534669" y="4301490"/>
            <a:ext cx="822960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Include,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34"/>
          <p:cNvSpPr txBox="1"/>
          <p:nvPr/>
        </p:nvSpPr>
        <p:spPr>
          <a:xfrm>
            <a:off x="2363470" y="4301490"/>
            <a:ext cx="3046730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Dynamically created variables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34"/>
          <p:cNvSpPr txBox="1"/>
          <p:nvPr/>
        </p:nvSpPr>
        <p:spPr>
          <a:xfrm>
            <a:off x="2363470" y="4850129"/>
            <a:ext cx="2320925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Recursion stack space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5"/>
          <p:cNvSpPr txBox="1">
            <a:spLocks noGrp="1"/>
          </p:cNvSpPr>
          <p:nvPr>
            <p:ph type="title"/>
          </p:nvPr>
        </p:nvSpPr>
        <p:spPr>
          <a:xfrm>
            <a:off x="1219200" y="0"/>
            <a:ext cx="7924800" cy="628377"/>
          </a:xfrm>
          <a:prstGeom prst="rect">
            <a:avLst/>
          </a:prstGeom>
          <a:solidFill>
            <a:srgbClr val="538CD5"/>
          </a:solidFill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 b="1" u="none">
                <a:latin typeface="Calibri"/>
                <a:ea typeface="Calibri"/>
                <a:cs typeface="Calibri"/>
                <a:sym typeface="Calibri"/>
              </a:rPr>
              <a:t>Time complexity</a:t>
            </a:r>
            <a:endParaRPr sz="4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35"/>
          <p:cNvSpPr txBox="1"/>
          <p:nvPr/>
        </p:nvSpPr>
        <p:spPr>
          <a:xfrm>
            <a:off x="598169" y="1131570"/>
            <a:ext cx="7865109" cy="331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5400" marR="177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 complexity of a program is the amount of computer time that it needs to  run to completion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None/>
            </a:pPr>
            <a:endParaRPr sz="18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35280" marR="0" lvl="0" indent="-3098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Dependent on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None/>
            </a:pPr>
            <a:endParaRPr sz="18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25450" marR="0" lvl="0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Machine speed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Arial"/>
              <a:buNone/>
            </a:pPr>
            <a:endParaRPr sz="18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25450" marR="0" lvl="0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Compiler code generation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>
                <a:schemeClr val="dk1"/>
              </a:buClr>
              <a:buSzPts val="1850"/>
              <a:buFont typeface="Arial"/>
              <a:buNone/>
            </a:pPr>
            <a:endParaRPr sz="18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25450" marR="0" lvl="0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Number of inputs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Arial"/>
              <a:buNone/>
            </a:pPr>
            <a:endParaRPr sz="18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25450" marR="0" lvl="0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Number of executed statements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35"/>
          <p:cNvSpPr txBox="1"/>
          <p:nvPr/>
        </p:nvSpPr>
        <p:spPr>
          <a:xfrm>
            <a:off x="610869" y="4947920"/>
            <a:ext cx="207645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➢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35"/>
          <p:cNvSpPr txBox="1"/>
          <p:nvPr/>
        </p:nvSpPr>
        <p:spPr>
          <a:xfrm>
            <a:off x="1049019" y="4972050"/>
            <a:ext cx="5375910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Count the number of operations the program perform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35"/>
          <p:cNvSpPr txBox="1"/>
          <p:nvPr/>
        </p:nvSpPr>
        <p:spPr>
          <a:xfrm>
            <a:off x="610869" y="5496559"/>
            <a:ext cx="207645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➢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35"/>
          <p:cNvSpPr txBox="1"/>
          <p:nvPr/>
        </p:nvSpPr>
        <p:spPr>
          <a:xfrm>
            <a:off x="1049019" y="5520690"/>
            <a:ext cx="4841875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Require to divide the program into distinct steps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36"/>
          <p:cNvSpPr txBox="1">
            <a:spLocks noGrp="1"/>
          </p:cNvSpPr>
          <p:nvPr>
            <p:ph type="title"/>
          </p:nvPr>
        </p:nvSpPr>
        <p:spPr>
          <a:xfrm>
            <a:off x="1143000" y="0"/>
            <a:ext cx="8001000" cy="628377"/>
          </a:xfrm>
          <a:prstGeom prst="rect">
            <a:avLst/>
          </a:prstGeom>
          <a:solidFill>
            <a:srgbClr val="538CD5"/>
          </a:solidFill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 u="none">
                <a:latin typeface="Calibri"/>
                <a:ea typeface="Calibri"/>
                <a:cs typeface="Calibri"/>
                <a:sym typeface="Calibri"/>
              </a:rPr>
              <a:t>Asymptotic Notation:</a:t>
            </a:r>
            <a:endParaRPr sz="4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36"/>
          <p:cNvSpPr txBox="1"/>
          <p:nvPr/>
        </p:nvSpPr>
        <p:spPr>
          <a:xfrm>
            <a:off x="518159" y="1304290"/>
            <a:ext cx="8160384" cy="5158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5600" marR="8255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		choose	the	best	algorithm,	we	need	to	check	efficiency	of  each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algorithm. The efficiency can be measured by computing time  complexity of each algorithm. Asymptotic notation is a shorthand  way to represent the time complexity.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>
                <a:srgbClr val="000000"/>
              </a:buClr>
              <a:buSzPts val="2350"/>
              <a:buFont typeface="Arial"/>
              <a:buNone/>
            </a:pPr>
            <a:endParaRPr sz="2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37909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are three kinds of mathematical notation which are very  useful for this kind of analysis.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>
                <a:srgbClr val="000000"/>
              </a:buClr>
              <a:buSzPts val="2350"/>
              <a:buFont typeface="Arial"/>
              <a:buNone/>
            </a:pPr>
            <a:endParaRPr sz="2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Big oh (O) Notation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Omega (Ω) Notation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Theta (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Ө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Notation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37"/>
          <p:cNvSpPr txBox="1">
            <a:spLocks noGrp="1"/>
          </p:cNvSpPr>
          <p:nvPr>
            <p:ph type="title"/>
          </p:nvPr>
        </p:nvSpPr>
        <p:spPr>
          <a:xfrm>
            <a:off x="481850" y="1635150"/>
            <a:ext cx="8455800" cy="573000"/>
          </a:xfrm>
          <a:prstGeom prst="rect">
            <a:avLst/>
          </a:prstGeom>
          <a:solidFill>
            <a:srgbClr val="538CD5"/>
          </a:solidFill>
          <a:ln>
            <a:noFill/>
          </a:ln>
        </p:spPr>
        <p:txBody>
          <a:bodyPr spcFirstLastPara="1" wrap="square" lIns="0" tIns="133075" rIns="0" bIns="0" anchor="ctr" anchorCtr="0">
            <a:spAutoFit/>
          </a:bodyPr>
          <a:lstStyle/>
          <a:p>
            <a:pPr marL="297180" marR="5080" lvl="0" indent="-256539" algn="ctr" rtl="0">
              <a:lnSpc>
                <a:spcPct val="113684"/>
              </a:lnSpc>
              <a:spcBef>
                <a:spcPts val="0"/>
              </a:spcBef>
              <a:spcAft>
                <a:spcPts val="0"/>
              </a:spcAft>
              <a:buClr>
                <a:srgbClr val="2CA1BE"/>
              </a:buClr>
              <a:buSzPts val="1800"/>
              <a:buFont typeface="Noto Sans Symbols"/>
              <a:buNone/>
            </a:pPr>
            <a:r>
              <a:rPr lang="en-US" sz="1800">
                <a:solidFill>
                  <a:srgbClr val="2CA1BE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🞂</a:t>
            </a:r>
            <a:r>
              <a:rPr lang="en-US" sz="1800">
                <a:solidFill>
                  <a:srgbClr val="2CA1B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700"/>
              <a:t>Running time of an algorithm as a function of  input size</a:t>
            </a:r>
            <a:r>
              <a:rPr lang="en-US" sz="2850" i="1">
                <a:latin typeface="Lucida Sans"/>
                <a:ea typeface="Lucida Sans"/>
                <a:cs typeface="Lucida Sans"/>
                <a:sym typeface="Lucida Sans"/>
              </a:rPr>
              <a:t>n</a:t>
            </a:r>
            <a:r>
              <a:rPr lang="en-US" sz="2700"/>
              <a:t>.</a:t>
            </a:r>
            <a:endParaRPr sz="27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509" name="Google Shape;509;p37"/>
          <p:cNvSpPr txBox="1"/>
          <p:nvPr/>
        </p:nvSpPr>
        <p:spPr>
          <a:xfrm>
            <a:off x="645668" y="2352166"/>
            <a:ext cx="7775575" cy="1767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68605" marR="5080" lvl="0" indent="-25653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2CA1BE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🞂</a:t>
            </a:r>
            <a:r>
              <a:rPr lang="en-US" sz="1800" b="0" i="0" u="none" strike="noStrike" cap="none">
                <a:solidFill>
                  <a:srgbClr val="2CA1B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7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Expressed using only the </a:t>
            </a:r>
            <a:r>
              <a:rPr lang="en-US" sz="2700" b="1" i="0" u="none" strike="noStrike" cap="none">
                <a:solidFill>
                  <a:srgbClr val="CC0000"/>
                </a:solidFill>
                <a:latin typeface="Lucida Sans"/>
                <a:ea typeface="Lucida Sans"/>
                <a:cs typeface="Lucida Sans"/>
                <a:sym typeface="Lucida Sans"/>
              </a:rPr>
              <a:t>highest-order term  </a:t>
            </a:r>
            <a:r>
              <a:rPr lang="en-US" sz="27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in the expression for the exact running time.</a:t>
            </a:r>
            <a:endParaRPr sz="2700" b="0" i="0" u="none" strike="noStrike" cap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39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0" i="0" u="none" strike="noStrike" cap="none">
                <a:solidFill>
                  <a:srgbClr val="2CA1BE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🞂</a:t>
            </a:r>
            <a:r>
              <a:rPr lang="en-US" sz="1900" b="0" i="0" u="none" strike="noStrike" cap="none">
                <a:solidFill>
                  <a:srgbClr val="2CA1B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8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Describes behavior of function in the limit.</a:t>
            </a:r>
            <a:endParaRPr sz="2800" b="0" i="0" u="none" strike="noStrike" cap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2CA1BE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🞂</a:t>
            </a:r>
            <a:r>
              <a:rPr lang="en-US" sz="1800" b="0" i="0" u="none" strike="noStrike" cap="none">
                <a:solidFill>
                  <a:srgbClr val="2CA1B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7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Written using </a:t>
            </a:r>
            <a:r>
              <a:rPr lang="en-US" sz="2850" b="1" i="1" u="none" strike="noStrike" cap="none">
                <a:solidFill>
                  <a:srgbClr val="CC0000"/>
                </a:solidFill>
                <a:latin typeface="Lucida Sans"/>
                <a:ea typeface="Lucida Sans"/>
                <a:cs typeface="Lucida Sans"/>
                <a:sym typeface="Lucida Sans"/>
              </a:rPr>
              <a:t>Asymptotic Notation</a:t>
            </a:r>
            <a:r>
              <a:rPr lang="en-US" sz="2850" b="0" i="1" u="none" strike="noStrike" cap="none">
                <a:solidFill>
                  <a:srgbClr val="CC0000"/>
                </a:solidFill>
                <a:latin typeface="Lucida Sans"/>
                <a:ea typeface="Lucida Sans"/>
                <a:cs typeface="Lucida Sans"/>
                <a:sym typeface="Lucida Sans"/>
              </a:rPr>
              <a:t>.</a:t>
            </a:r>
            <a:endParaRPr sz="2850" b="0" i="0" u="none" strike="noStrike" cap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510" name="Google Shape;510;p37"/>
          <p:cNvSpPr txBox="1"/>
          <p:nvPr/>
        </p:nvSpPr>
        <p:spPr>
          <a:xfrm>
            <a:off x="5987034" y="6557568"/>
            <a:ext cx="666750" cy="176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Comp 122</a:t>
            </a:r>
            <a:endParaRPr sz="1000" b="0" i="0" u="none" strike="noStrike" cap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511" name="Google Shape;511;p37"/>
          <p:cNvSpPr txBox="1">
            <a:spLocks noGrp="1"/>
          </p:cNvSpPr>
          <p:nvPr>
            <p:ph type="title"/>
          </p:nvPr>
        </p:nvSpPr>
        <p:spPr>
          <a:xfrm>
            <a:off x="2457875" y="289200"/>
            <a:ext cx="5225100" cy="657600"/>
          </a:xfrm>
          <a:prstGeom prst="rect">
            <a:avLst/>
          </a:prstGeom>
          <a:solidFill>
            <a:srgbClr val="538CD5"/>
          </a:solidFill>
          <a:ln>
            <a:noFill/>
          </a:ln>
        </p:spPr>
        <p:txBody>
          <a:bodyPr spcFirstLastPara="1" wrap="square" lIns="0" tIns="133075" rIns="0" bIns="0" anchor="ctr" anchorCtr="0">
            <a:spAutoFit/>
          </a:bodyPr>
          <a:lstStyle/>
          <a:p>
            <a:pPr marL="297180" marR="5080" lvl="0" indent="-256538" algn="ctr" rtl="0">
              <a:lnSpc>
                <a:spcPct val="113684"/>
              </a:lnSpc>
              <a:spcBef>
                <a:spcPts val="0"/>
              </a:spcBef>
              <a:spcAft>
                <a:spcPts val="0"/>
              </a:spcAft>
              <a:buClr>
                <a:srgbClr val="2CA1BE"/>
              </a:buClr>
              <a:buSzPts val="1800"/>
              <a:buFont typeface="Noto Sans Symbols"/>
              <a:buNone/>
            </a:pPr>
            <a:r>
              <a:rPr lang="en-US" sz="3400">
                <a:latin typeface="Noto Sans Symbols"/>
                <a:ea typeface="Noto Sans Symbols"/>
                <a:cs typeface="Noto Sans Symbols"/>
                <a:sym typeface="Noto Sans Symbols"/>
              </a:rPr>
              <a:t>Asymptotic Complexity</a:t>
            </a:r>
            <a:endParaRPr sz="4300"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38"/>
          <p:cNvSpPr txBox="1"/>
          <p:nvPr/>
        </p:nvSpPr>
        <p:spPr>
          <a:xfrm>
            <a:off x="914400" y="2438400"/>
            <a:ext cx="5943600" cy="24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0" i="0" u="none" strike="noStrike" cap="none">
                <a:solidFill>
                  <a:srgbClr val="2CA1B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 sz="1900" b="0" i="0" u="none" strike="noStrike" cap="none">
              <a:solidFill>
                <a:srgbClr val="2CA1B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CC0000"/>
                </a:solidFill>
                <a:latin typeface="Lucida Sans"/>
                <a:ea typeface="Lucida Sans"/>
                <a:cs typeface="Lucida Sans"/>
                <a:sym typeface="Lucida Sans"/>
              </a:rPr>
              <a:t>Big Oh Notation:      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CC0000"/>
                </a:solidFill>
                <a:latin typeface="Lucida Sans"/>
                <a:ea typeface="Lucida Sans"/>
                <a:cs typeface="Lucida Sans"/>
                <a:sym typeface="Lucida Sans"/>
              </a:rPr>
              <a:t>Big Theta Notation :      </a:t>
            </a:r>
            <a:r>
              <a:rPr lang="en-US" sz="2800" b="1" i="0" u="none" strike="noStrike" cap="none">
                <a:solidFill>
                  <a:srgbClr val="CC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Θ</a:t>
            </a:r>
            <a:endParaRPr sz="2800" b="0" i="0" u="none" strike="noStrike" cap="none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marL="12700" marR="0" lvl="0" indent="0" algn="l" rtl="0">
              <a:lnSpc>
                <a:spcPct val="200000"/>
              </a:lnSpc>
              <a:spcBef>
                <a:spcPts val="395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CC0000"/>
                </a:solidFill>
                <a:latin typeface="Lucida Sans"/>
                <a:ea typeface="Lucida Sans"/>
                <a:cs typeface="Lucida Sans"/>
                <a:sym typeface="Lucida Sans"/>
              </a:rPr>
              <a:t>Big Omega Notation :    </a:t>
            </a:r>
            <a:r>
              <a:rPr lang="en-US" sz="2800" b="1" i="0" u="none" strike="noStrike" cap="none">
                <a:solidFill>
                  <a:srgbClr val="CC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lang="en-US" sz="1900" b="0" i="0" u="none" strike="noStrike" cap="none">
                <a:solidFill>
                  <a:srgbClr val="2CA1B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 sz="2800" b="0" i="0" u="none" strike="noStrike" cap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517" name="Google Shape;517;p38"/>
          <p:cNvSpPr txBox="1"/>
          <p:nvPr/>
        </p:nvSpPr>
        <p:spPr>
          <a:xfrm>
            <a:off x="5987034" y="6557568"/>
            <a:ext cx="666750" cy="176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Comp 122</a:t>
            </a:r>
            <a:endParaRPr sz="1000" b="0" i="0" u="none" strike="noStrike" cap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518" name="Google Shape;518;p38"/>
          <p:cNvSpPr txBox="1"/>
          <p:nvPr/>
        </p:nvSpPr>
        <p:spPr>
          <a:xfrm>
            <a:off x="1564100" y="201825"/>
            <a:ext cx="6720600" cy="754200"/>
          </a:xfrm>
          <a:prstGeom prst="rect">
            <a:avLst/>
          </a:prstGeom>
          <a:solidFill>
            <a:srgbClr val="538CD5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lang="en-US" sz="3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Asymptotic Notation Types </a:t>
            </a:r>
            <a:endParaRPr sz="37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39"/>
          <p:cNvSpPr/>
          <p:nvPr/>
        </p:nvSpPr>
        <p:spPr>
          <a:xfrm>
            <a:off x="5219700" y="1387347"/>
            <a:ext cx="3819525" cy="384022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39"/>
          <p:cNvSpPr/>
          <p:nvPr/>
        </p:nvSpPr>
        <p:spPr>
          <a:xfrm>
            <a:off x="242315" y="169163"/>
            <a:ext cx="8595360" cy="85039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39"/>
          <p:cNvSpPr txBox="1"/>
          <p:nvPr/>
        </p:nvSpPr>
        <p:spPr>
          <a:xfrm>
            <a:off x="357162" y="1714500"/>
            <a:ext cx="4892675" cy="3637915"/>
          </a:xfrm>
          <a:prstGeom prst="rect">
            <a:avLst/>
          </a:prstGeom>
          <a:solidFill>
            <a:srgbClr val="CCEB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81915" marR="0" lvl="0" indent="0" algn="l" rtl="0">
              <a:lnSpc>
                <a:spcPct val="1145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Let f(n) and g(n) be two</a:t>
            </a:r>
            <a:endParaRPr sz="3200" b="0" i="0" u="none" strike="noStrike" cap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marL="81915" marR="109854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functions then we can  say that </a:t>
            </a:r>
            <a:r>
              <a:rPr lang="en-US" sz="3200" b="0" i="0" u="none" strike="noStrike" cap="none">
                <a:solidFill>
                  <a:srgbClr val="FF0000"/>
                </a:solidFill>
                <a:latin typeface="Lucida Sans"/>
                <a:ea typeface="Lucida Sans"/>
                <a:cs typeface="Lucida Sans"/>
                <a:sym typeface="Lucida Sans"/>
              </a:rPr>
              <a:t>f(n) = </a:t>
            </a:r>
            <a:r>
              <a:rPr lang="en-US" sz="3200" b="1" i="0" u="none" strike="noStrike" cap="none">
                <a:solidFill>
                  <a:srgbClr val="FF0000"/>
                </a:solidFill>
                <a:latin typeface="Lucida Sans"/>
                <a:ea typeface="Lucida Sans"/>
                <a:cs typeface="Lucida Sans"/>
                <a:sym typeface="Lucida Sans"/>
              </a:rPr>
              <a:t>O</a:t>
            </a:r>
            <a:r>
              <a:rPr lang="en-US" sz="3200" b="0" i="0" u="none" strike="noStrike" cap="none">
                <a:solidFill>
                  <a:srgbClr val="FF0000"/>
                </a:solidFill>
                <a:latin typeface="Lucida Sans"/>
                <a:ea typeface="Lucida Sans"/>
                <a:cs typeface="Lucida Sans"/>
                <a:sym typeface="Lucida Sans"/>
              </a:rPr>
              <a:t>(g(n)) </a:t>
            </a:r>
            <a:r>
              <a:rPr lang="en-US" sz="32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if  and only if there exists  positive constants c  and n</a:t>
            </a:r>
            <a:r>
              <a:rPr lang="en-US" sz="16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0</a:t>
            </a:r>
            <a:r>
              <a:rPr lang="en-US" sz="32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, such that</a:t>
            </a:r>
            <a:endParaRPr sz="3200" b="0" i="0" u="none" strike="noStrike" cap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marL="81915" marR="0" lvl="0" indent="0" algn="l" rtl="0">
              <a:lnSpc>
                <a:spcPct val="100000"/>
              </a:lnSpc>
              <a:spcBef>
                <a:spcPts val="765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C00000"/>
                </a:solidFill>
                <a:latin typeface="Lucida Sans"/>
                <a:ea typeface="Lucida Sans"/>
                <a:cs typeface="Lucida Sans"/>
                <a:sym typeface="Lucida Sans"/>
              </a:rPr>
              <a:t>f(n) ≤	cg(n)	for	all	n≥n</a:t>
            </a:r>
            <a:r>
              <a:rPr lang="en-US" sz="1600" b="0" i="0" u="none" strike="noStrike" cap="none">
                <a:solidFill>
                  <a:srgbClr val="C00000"/>
                </a:solidFill>
                <a:latin typeface="Lucida Sans"/>
                <a:ea typeface="Lucida Sans"/>
                <a:cs typeface="Lucida Sans"/>
                <a:sym typeface="Lucida Sans"/>
              </a:rPr>
              <a:t>0</a:t>
            </a:r>
            <a:endParaRPr sz="1600" b="0" i="0" u="none" strike="noStrike" cap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40"/>
          <p:cNvSpPr/>
          <p:nvPr/>
        </p:nvSpPr>
        <p:spPr>
          <a:xfrm>
            <a:off x="201168" y="361188"/>
            <a:ext cx="7392924" cy="84581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40"/>
          <p:cNvSpPr/>
          <p:nvPr/>
        </p:nvSpPr>
        <p:spPr>
          <a:xfrm>
            <a:off x="714349" y="1428775"/>
            <a:ext cx="3357626" cy="54048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40"/>
          <p:cNvSpPr/>
          <p:nvPr/>
        </p:nvSpPr>
        <p:spPr>
          <a:xfrm>
            <a:off x="1785873" y="2857525"/>
            <a:ext cx="6072251" cy="357187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40"/>
          <p:cNvSpPr txBox="1">
            <a:spLocks noGrp="1"/>
          </p:cNvSpPr>
          <p:nvPr>
            <p:ph type="title"/>
          </p:nvPr>
        </p:nvSpPr>
        <p:spPr>
          <a:xfrm>
            <a:off x="578916" y="2298827"/>
            <a:ext cx="2870200" cy="30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/>
              <a:t>Ans: In the given Problem</a:t>
            </a:r>
            <a:endParaRPr sz="18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41"/>
          <p:cNvSpPr/>
          <p:nvPr/>
        </p:nvSpPr>
        <p:spPr>
          <a:xfrm>
            <a:off x="201168" y="361188"/>
            <a:ext cx="7392924" cy="84581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41"/>
          <p:cNvSpPr/>
          <p:nvPr/>
        </p:nvSpPr>
        <p:spPr>
          <a:xfrm>
            <a:off x="785787" y="1500124"/>
            <a:ext cx="2500376" cy="33337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4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2045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53775" rIns="0" bIns="0" anchor="ctr" anchorCtr="0">
            <a:spAutoFit/>
          </a:bodyPr>
          <a:lstStyle/>
          <a:p>
            <a:pPr marL="117475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/>
              <a:t/>
            </a:r>
            <a:br>
              <a:rPr lang="en-US" sz="1800"/>
            </a:br>
            <a:r>
              <a:rPr lang="en-US" sz="1800"/>
              <a:t/>
            </a:r>
            <a:br>
              <a:rPr lang="en-US" sz="1800"/>
            </a:br>
            <a:r>
              <a:rPr lang="en-US" sz="1800"/>
              <a:t/>
            </a:r>
            <a:br>
              <a:rPr lang="en-US" sz="1800"/>
            </a:br>
            <a:r>
              <a:rPr lang="en-US" sz="1800"/>
              <a:t/>
            </a:r>
            <a:br>
              <a:rPr lang="en-US" sz="1800"/>
            </a:br>
            <a:r>
              <a:rPr lang="en-US" sz="1800"/>
              <a:t>Ans: In the given Problem</a:t>
            </a:r>
            <a:endParaRPr sz="1800"/>
          </a:p>
        </p:txBody>
      </p:sp>
      <p:sp>
        <p:nvSpPr>
          <p:cNvPr id="541" name="Google Shape;541;p41"/>
          <p:cNvSpPr/>
          <p:nvPr/>
        </p:nvSpPr>
        <p:spPr>
          <a:xfrm>
            <a:off x="1214412" y="2643251"/>
            <a:ext cx="4286250" cy="142875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41"/>
          <p:cNvSpPr/>
          <p:nvPr/>
        </p:nvSpPr>
        <p:spPr>
          <a:xfrm>
            <a:off x="1142974" y="4071886"/>
            <a:ext cx="3643376" cy="1786001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42"/>
          <p:cNvSpPr/>
          <p:nvPr/>
        </p:nvSpPr>
        <p:spPr>
          <a:xfrm>
            <a:off x="242315" y="118871"/>
            <a:ext cx="8645652" cy="90068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42"/>
          <p:cNvSpPr txBox="1"/>
          <p:nvPr/>
        </p:nvSpPr>
        <p:spPr>
          <a:xfrm>
            <a:off x="250825" y="1954212"/>
            <a:ext cx="4892675" cy="3637915"/>
          </a:xfrm>
          <a:prstGeom prst="rect">
            <a:avLst/>
          </a:prstGeom>
          <a:solidFill>
            <a:srgbClr val="CCEB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81915" marR="0" lvl="0" indent="0" algn="l" rtl="0">
              <a:lnSpc>
                <a:spcPct val="1145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Let f(n) and g(n) be two</a:t>
            </a:r>
            <a:endParaRPr sz="3200" b="0" i="0" u="none" strike="noStrike" cap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marL="81915" marR="14033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functions then we can  say that </a:t>
            </a:r>
            <a:r>
              <a:rPr lang="en-US" sz="3200" b="0" i="0" u="none" strike="noStrike" cap="none">
                <a:solidFill>
                  <a:srgbClr val="FF0000"/>
                </a:solidFill>
                <a:latin typeface="Lucida Sans"/>
                <a:ea typeface="Lucida Sans"/>
                <a:cs typeface="Lucida Sans"/>
                <a:sym typeface="Lucida Sans"/>
              </a:rPr>
              <a:t>f(n) </a:t>
            </a:r>
            <a:r>
              <a:rPr lang="en-US" sz="3200" b="0" i="0" u="none" strike="noStrike" cap="none">
                <a:solidFill>
                  <a:srgbClr val="C00000"/>
                </a:solidFill>
                <a:latin typeface="Lucida Sans"/>
                <a:ea typeface="Lucida Sans"/>
                <a:cs typeface="Lucida Sans"/>
                <a:sym typeface="Lucida Sans"/>
              </a:rPr>
              <a:t>= </a:t>
            </a:r>
            <a:r>
              <a:rPr lang="en-US" sz="3200" b="0" i="0" u="none" strike="noStrike" cap="none">
                <a:solidFill>
                  <a:srgbClr val="C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lang="en-US" sz="3200" b="0" i="0" u="none" strike="noStrike" cap="none">
                <a:solidFill>
                  <a:srgbClr val="FF0000"/>
                </a:solidFill>
                <a:latin typeface="Lucida Sans"/>
                <a:ea typeface="Lucida Sans"/>
                <a:cs typeface="Lucida Sans"/>
                <a:sym typeface="Lucida Sans"/>
              </a:rPr>
              <a:t>(g(n)) </a:t>
            </a:r>
            <a:r>
              <a:rPr lang="en-US" sz="32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if  and only if there exists  positive constants c  and n</a:t>
            </a:r>
            <a:r>
              <a:rPr lang="en-US" sz="16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0</a:t>
            </a:r>
            <a:r>
              <a:rPr lang="en-US" sz="32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, such that</a:t>
            </a:r>
            <a:endParaRPr sz="3200" b="0" i="0" u="none" strike="noStrike" cap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marL="81915" marR="0" lvl="0" indent="0" algn="l" rtl="0">
              <a:lnSpc>
                <a:spcPct val="100000"/>
              </a:lnSpc>
              <a:spcBef>
                <a:spcPts val="765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C00000"/>
                </a:solidFill>
                <a:latin typeface="Lucida Sans"/>
                <a:ea typeface="Lucida Sans"/>
                <a:cs typeface="Lucida Sans"/>
                <a:sym typeface="Lucida Sans"/>
              </a:rPr>
              <a:t>f(n) ≥	cg(n)	for	all	n≥n</a:t>
            </a:r>
            <a:r>
              <a:rPr lang="en-US" sz="1600" b="0" i="0" u="none" strike="noStrike" cap="none">
                <a:solidFill>
                  <a:srgbClr val="C00000"/>
                </a:solidFill>
                <a:latin typeface="Lucida Sans"/>
                <a:ea typeface="Lucida Sans"/>
                <a:cs typeface="Lucida Sans"/>
                <a:sym typeface="Lucida Sans"/>
              </a:rPr>
              <a:t>0</a:t>
            </a:r>
            <a:endParaRPr sz="1600" b="0" i="0" u="none" strike="noStrike" cap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549" name="Google Shape;549;p42"/>
          <p:cNvSpPr/>
          <p:nvPr/>
        </p:nvSpPr>
        <p:spPr>
          <a:xfrm>
            <a:off x="5357876" y="1928761"/>
            <a:ext cx="3573906" cy="3786251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43"/>
          <p:cNvSpPr/>
          <p:nvPr/>
        </p:nvSpPr>
        <p:spPr>
          <a:xfrm>
            <a:off x="201168" y="310895"/>
            <a:ext cx="7388352" cy="89611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43"/>
          <p:cNvSpPr/>
          <p:nvPr/>
        </p:nvSpPr>
        <p:spPr>
          <a:xfrm>
            <a:off x="642912" y="1428673"/>
            <a:ext cx="2714625" cy="31173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43"/>
          <p:cNvSpPr/>
          <p:nvPr/>
        </p:nvSpPr>
        <p:spPr>
          <a:xfrm>
            <a:off x="1428750" y="2000250"/>
            <a:ext cx="4786376" cy="200025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43"/>
          <p:cNvSpPr/>
          <p:nvPr/>
        </p:nvSpPr>
        <p:spPr>
          <a:xfrm>
            <a:off x="1214412" y="4143324"/>
            <a:ext cx="4072001" cy="1643126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4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53775" rIns="0" bIns="0" anchor="ctr" anchorCtr="0">
            <a:spAutoFit/>
          </a:bodyPr>
          <a:lstStyle/>
          <a:p>
            <a:pPr marL="33147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/>
              <a:t>Ans:</a:t>
            </a:r>
            <a:endParaRPr sz="18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44"/>
          <p:cNvSpPr/>
          <p:nvPr/>
        </p:nvSpPr>
        <p:spPr>
          <a:xfrm>
            <a:off x="201168" y="310895"/>
            <a:ext cx="7388352" cy="89611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44"/>
          <p:cNvSpPr/>
          <p:nvPr/>
        </p:nvSpPr>
        <p:spPr>
          <a:xfrm>
            <a:off x="785787" y="1428750"/>
            <a:ext cx="2786126" cy="42862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44"/>
          <p:cNvSpPr/>
          <p:nvPr/>
        </p:nvSpPr>
        <p:spPr>
          <a:xfrm>
            <a:off x="1857375" y="2071636"/>
            <a:ext cx="5072126" cy="4072001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4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5025" rIns="0" bIns="0" anchor="ctr" anchorCtr="0">
            <a:spAutoFit/>
          </a:bodyPr>
          <a:lstStyle/>
          <a:p>
            <a:pPr marL="61722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/>
              <a:t>Ans:</a:t>
            </a:r>
            <a:endParaRPr sz="18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45"/>
          <p:cNvSpPr/>
          <p:nvPr/>
        </p:nvSpPr>
        <p:spPr>
          <a:xfrm>
            <a:off x="274320" y="0"/>
            <a:ext cx="8430768" cy="119329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45"/>
          <p:cNvSpPr/>
          <p:nvPr/>
        </p:nvSpPr>
        <p:spPr>
          <a:xfrm>
            <a:off x="250825" y="1954199"/>
            <a:ext cx="4892675" cy="4253865"/>
          </a:xfrm>
          <a:custGeom>
            <a:avLst/>
            <a:gdLst/>
            <a:ahLst/>
            <a:cxnLst/>
            <a:rect l="l" t="t" r="r" b="b"/>
            <a:pathLst>
              <a:path w="4892675" h="4253865" extrusionOk="0">
                <a:moveTo>
                  <a:pt x="0" y="4253484"/>
                </a:moveTo>
                <a:lnTo>
                  <a:pt x="4892675" y="4253484"/>
                </a:lnTo>
                <a:lnTo>
                  <a:pt x="4892675" y="0"/>
                </a:lnTo>
                <a:lnTo>
                  <a:pt x="0" y="0"/>
                </a:lnTo>
                <a:lnTo>
                  <a:pt x="0" y="4253484"/>
                </a:lnTo>
                <a:close/>
              </a:path>
            </a:pathLst>
          </a:custGeom>
          <a:solidFill>
            <a:srgbClr val="CCEB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45"/>
          <p:cNvSpPr/>
          <p:nvPr/>
        </p:nvSpPr>
        <p:spPr>
          <a:xfrm>
            <a:off x="250825" y="1954199"/>
            <a:ext cx="4892675" cy="4253865"/>
          </a:xfrm>
          <a:custGeom>
            <a:avLst/>
            <a:gdLst/>
            <a:ahLst/>
            <a:cxnLst/>
            <a:rect l="l" t="t" r="r" b="b"/>
            <a:pathLst>
              <a:path w="4892675" h="4253865" extrusionOk="0">
                <a:moveTo>
                  <a:pt x="0" y="4253484"/>
                </a:moveTo>
                <a:lnTo>
                  <a:pt x="4892675" y="4253484"/>
                </a:lnTo>
                <a:lnTo>
                  <a:pt x="4892675" y="0"/>
                </a:lnTo>
                <a:lnTo>
                  <a:pt x="0" y="0"/>
                </a:lnTo>
                <a:lnTo>
                  <a:pt x="0" y="4253484"/>
                </a:lnTo>
                <a:close/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45"/>
          <p:cNvSpPr txBox="1"/>
          <p:nvPr/>
        </p:nvSpPr>
        <p:spPr>
          <a:xfrm>
            <a:off x="329590" y="1941448"/>
            <a:ext cx="4684395" cy="404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Let f(n) and g(n) be two  functions then we can</a:t>
            </a:r>
            <a:endParaRPr sz="3200" b="0" i="0" u="none" strike="noStrike" cap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marL="12700" marR="5080" lvl="0" indent="0" algn="l" rtl="0">
              <a:lnSpc>
                <a:spcPct val="99100"/>
              </a:lnSpc>
              <a:spcBef>
                <a:spcPts val="145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say that </a:t>
            </a:r>
            <a:r>
              <a:rPr lang="en-US" sz="3200" b="0" i="0" u="none" strike="noStrike" cap="none">
                <a:solidFill>
                  <a:srgbClr val="FF0000"/>
                </a:solidFill>
                <a:latin typeface="Lucida Sans"/>
                <a:ea typeface="Lucida Sans"/>
                <a:cs typeface="Lucida Sans"/>
                <a:sym typeface="Lucida Sans"/>
              </a:rPr>
              <a:t>f(n) = </a:t>
            </a:r>
            <a:r>
              <a:rPr lang="en-US" sz="3200" b="0" i="0" u="none" strike="noStrike" cap="none">
                <a:solidFill>
                  <a:srgbClr val="C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Θ</a:t>
            </a:r>
            <a:r>
              <a:rPr lang="en-US" sz="3200" b="0" i="0" u="none" strike="noStrike" cap="none">
                <a:solidFill>
                  <a:srgbClr val="FF0000"/>
                </a:solidFill>
                <a:latin typeface="Lucida Sans"/>
                <a:ea typeface="Lucida Sans"/>
                <a:cs typeface="Lucida Sans"/>
                <a:sym typeface="Lucida Sans"/>
              </a:rPr>
              <a:t>(g(n)) </a:t>
            </a:r>
            <a:r>
              <a:rPr lang="en-US" sz="32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if  and only if there exists  positive constants c</a:t>
            </a:r>
            <a:r>
              <a:rPr lang="en-US" sz="20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1</a:t>
            </a:r>
            <a:r>
              <a:rPr lang="en-US" sz="32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,c</a:t>
            </a:r>
            <a:r>
              <a:rPr lang="en-US" sz="20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2  </a:t>
            </a:r>
            <a:r>
              <a:rPr lang="en-US" sz="32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and n</a:t>
            </a:r>
            <a:r>
              <a:rPr lang="en-US" sz="20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0</a:t>
            </a:r>
            <a:r>
              <a:rPr lang="en-US" sz="32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, such that</a:t>
            </a:r>
            <a:endParaRPr sz="3200" b="0" i="0" u="none" strike="noStrike" cap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marL="12700" marR="366395" lvl="0" indent="0" algn="l" rtl="0">
              <a:lnSpc>
                <a:spcPct val="100000"/>
              </a:lnSpc>
              <a:spcBef>
                <a:spcPts val="765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C00000"/>
                </a:solidFill>
                <a:latin typeface="Lucida Sans"/>
                <a:ea typeface="Lucida Sans"/>
                <a:cs typeface="Lucida Sans"/>
                <a:sym typeface="Lucida Sans"/>
              </a:rPr>
              <a:t>0</a:t>
            </a:r>
            <a:r>
              <a:rPr lang="en-US" sz="3200" b="0" i="0" u="none" strike="noStrike" cap="none">
                <a:solidFill>
                  <a:srgbClr val="C00000"/>
                </a:solidFill>
                <a:latin typeface="Lucida Sans"/>
                <a:ea typeface="Lucida Sans"/>
                <a:cs typeface="Lucida Sans"/>
                <a:sym typeface="Lucida Sans"/>
              </a:rPr>
              <a:t>≤	c</a:t>
            </a:r>
            <a:r>
              <a:rPr lang="en-US" sz="1600" b="0" i="0" u="none" strike="noStrike" cap="none">
                <a:solidFill>
                  <a:srgbClr val="C00000"/>
                </a:solidFill>
                <a:latin typeface="Lucida Sans"/>
                <a:ea typeface="Lucida Sans"/>
                <a:cs typeface="Lucida Sans"/>
                <a:sym typeface="Lucida Sans"/>
              </a:rPr>
              <a:t>1</a:t>
            </a:r>
            <a:r>
              <a:rPr lang="en-US" sz="2800" b="0" i="0" u="none" strike="noStrike" cap="none">
                <a:solidFill>
                  <a:srgbClr val="C00000"/>
                </a:solidFill>
                <a:latin typeface="Lucida Sans"/>
                <a:ea typeface="Lucida Sans"/>
                <a:cs typeface="Lucida Sans"/>
                <a:sym typeface="Lucida Sans"/>
              </a:rPr>
              <a:t>g(n) ≤ f(n) ≤ </a:t>
            </a:r>
            <a:r>
              <a:rPr lang="en-US" sz="3200" b="0" i="0" u="none" strike="noStrike" cap="none">
                <a:solidFill>
                  <a:srgbClr val="C00000"/>
                </a:solidFill>
                <a:latin typeface="Lucida Sans"/>
                <a:ea typeface="Lucida Sans"/>
                <a:cs typeface="Lucida Sans"/>
                <a:sym typeface="Lucida Sans"/>
              </a:rPr>
              <a:t>c</a:t>
            </a:r>
            <a:r>
              <a:rPr lang="en-US" sz="1600" b="0" i="0" u="none" strike="noStrike" cap="none">
                <a:solidFill>
                  <a:srgbClr val="C00000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lang="en-US" sz="2800" b="0" i="0" u="none" strike="noStrike" cap="none">
                <a:solidFill>
                  <a:srgbClr val="C00000"/>
                </a:solidFill>
                <a:latin typeface="Lucida Sans"/>
                <a:ea typeface="Lucida Sans"/>
                <a:cs typeface="Lucida Sans"/>
                <a:sym typeface="Lucida Sans"/>
              </a:rPr>
              <a:t>g(n)  </a:t>
            </a:r>
            <a:r>
              <a:rPr lang="en-US" sz="3200" b="0" i="0" u="none" strike="noStrike" cap="none">
                <a:solidFill>
                  <a:srgbClr val="C00000"/>
                </a:solidFill>
                <a:latin typeface="Lucida Sans"/>
                <a:ea typeface="Lucida Sans"/>
                <a:cs typeface="Lucida Sans"/>
                <a:sym typeface="Lucida Sans"/>
              </a:rPr>
              <a:t>for all	n≥n</a:t>
            </a:r>
            <a:r>
              <a:rPr lang="en-US" sz="1600" b="0" i="0" u="none" strike="noStrike" cap="none">
                <a:solidFill>
                  <a:srgbClr val="C00000"/>
                </a:solidFill>
                <a:latin typeface="Lucida Sans"/>
                <a:ea typeface="Lucida Sans"/>
                <a:cs typeface="Lucida Sans"/>
                <a:sym typeface="Lucida Sans"/>
              </a:rPr>
              <a:t>0</a:t>
            </a:r>
            <a:endParaRPr sz="1600" b="0" i="0" u="none" strike="noStrike" cap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575" name="Google Shape;575;p45"/>
          <p:cNvSpPr/>
          <p:nvPr/>
        </p:nvSpPr>
        <p:spPr>
          <a:xfrm>
            <a:off x="5286375" y="1928825"/>
            <a:ext cx="3857624" cy="37147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46"/>
          <p:cNvSpPr/>
          <p:nvPr/>
        </p:nvSpPr>
        <p:spPr>
          <a:xfrm>
            <a:off x="233172" y="86868"/>
            <a:ext cx="5811012" cy="81381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46"/>
          <p:cNvSpPr/>
          <p:nvPr/>
        </p:nvSpPr>
        <p:spPr>
          <a:xfrm>
            <a:off x="642912" y="928712"/>
            <a:ext cx="2929001" cy="41621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46"/>
          <p:cNvSpPr/>
          <p:nvPr/>
        </p:nvSpPr>
        <p:spPr>
          <a:xfrm>
            <a:off x="714349" y="1500124"/>
            <a:ext cx="7929626" cy="185737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46"/>
          <p:cNvSpPr/>
          <p:nvPr/>
        </p:nvSpPr>
        <p:spPr>
          <a:xfrm>
            <a:off x="571474" y="3357498"/>
            <a:ext cx="8286750" cy="3500498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46"/>
          <p:cNvSpPr txBox="1">
            <a:spLocks noGrp="1"/>
          </p:cNvSpPr>
          <p:nvPr>
            <p:ph type="title"/>
          </p:nvPr>
        </p:nvSpPr>
        <p:spPr>
          <a:xfrm>
            <a:off x="78739" y="1441450"/>
            <a:ext cx="512445" cy="30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/>
              <a:t>Ans:</a:t>
            </a:r>
            <a:endParaRPr sz="18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4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47"/>
          <p:cNvSpPr/>
          <p:nvPr/>
        </p:nvSpPr>
        <p:spPr>
          <a:xfrm>
            <a:off x="499275" y="5944933"/>
            <a:ext cx="4897755" cy="913130"/>
          </a:xfrm>
          <a:custGeom>
            <a:avLst/>
            <a:gdLst/>
            <a:ahLst/>
            <a:cxnLst/>
            <a:rect l="l" t="t" r="r" b="b"/>
            <a:pathLst>
              <a:path w="4897755" h="913129" extrusionOk="0">
                <a:moveTo>
                  <a:pt x="85525" y="21310"/>
                </a:moveTo>
                <a:lnTo>
                  <a:pt x="3636702" y="913064"/>
                </a:lnTo>
                <a:lnTo>
                  <a:pt x="4897406" y="913064"/>
                </a:lnTo>
                <a:lnTo>
                  <a:pt x="85525" y="21310"/>
                </a:lnTo>
                <a:close/>
              </a:path>
              <a:path w="4897755" h="913129" extrusionOk="0">
                <a:moveTo>
                  <a:pt x="660" y="0"/>
                </a:moveTo>
                <a:lnTo>
                  <a:pt x="0" y="5460"/>
                </a:lnTo>
                <a:lnTo>
                  <a:pt x="85525" y="21310"/>
                </a:lnTo>
                <a:lnTo>
                  <a:pt x="660" y="0"/>
                </a:lnTo>
                <a:close/>
              </a:path>
            </a:pathLst>
          </a:custGeom>
          <a:solidFill>
            <a:srgbClr val="9FCADC">
              <a:alpha val="37254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47"/>
          <p:cNvSpPr/>
          <p:nvPr/>
        </p:nvSpPr>
        <p:spPr>
          <a:xfrm>
            <a:off x="485711" y="5939015"/>
            <a:ext cx="3651885" cy="919480"/>
          </a:xfrm>
          <a:custGeom>
            <a:avLst/>
            <a:gdLst/>
            <a:ahLst/>
            <a:cxnLst/>
            <a:rect l="l" t="t" r="r" b="b"/>
            <a:pathLst>
              <a:path w="3651885" h="919479" extrusionOk="0">
                <a:moveTo>
                  <a:pt x="0" y="0"/>
                </a:moveTo>
                <a:lnTo>
                  <a:pt x="7924" y="6349"/>
                </a:lnTo>
                <a:lnTo>
                  <a:pt x="2868874" y="918983"/>
                </a:lnTo>
                <a:lnTo>
                  <a:pt x="3651888" y="91898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47"/>
          <p:cNvSpPr/>
          <p:nvPr/>
        </p:nvSpPr>
        <p:spPr>
          <a:xfrm>
            <a:off x="0" y="5789674"/>
            <a:ext cx="3398520" cy="106832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47"/>
          <p:cNvSpPr/>
          <p:nvPr/>
        </p:nvSpPr>
        <p:spPr>
          <a:xfrm>
            <a:off x="0" y="5784015"/>
            <a:ext cx="3372797" cy="107398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47"/>
          <p:cNvSpPr/>
          <p:nvPr/>
        </p:nvSpPr>
        <p:spPr>
          <a:xfrm>
            <a:off x="201168" y="310895"/>
            <a:ext cx="7278624" cy="89611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47"/>
          <p:cNvSpPr/>
          <p:nvPr/>
        </p:nvSpPr>
        <p:spPr>
          <a:xfrm>
            <a:off x="225425" y="1524000"/>
            <a:ext cx="2654300" cy="2987675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47"/>
          <p:cNvSpPr/>
          <p:nvPr/>
        </p:nvSpPr>
        <p:spPr>
          <a:xfrm>
            <a:off x="3105150" y="1524000"/>
            <a:ext cx="2654300" cy="2987675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47"/>
          <p:cNvSpPr/>
          <p:nvPr/>
        </p:nvSpPr>
        <p:spPr>
          <a:xfrm>
            <a:off x="6107176" y="1524000"/>
            <a:ext cx="2654300" cy="2987675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2" name="Google Shape;602;p48"/>
          <p:cNvGraphicFramePr/>
          <p:nvPr/>
        </p:nvGraphicFramePr>
        <p:xfrm>
          <a:off x="0" y="0"/>
          <a:ext cx="9144000" cy="5229200"/>
        </p:xfrm>
        <a:graphic>
          <a:graphicData uri="http://schemas.openxmlformats.org/drawingml/2006/table">
            <a:tbl>
              <a:tblPr>
                <a:noFill/>
                <a:tableStyleId>{7FAB4F13-66EA-40C8-B0AE-D7A7D81EF6A0}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12800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ANALYSIS TABLE</a:t>
                      </a:r>
                      <a:endParaRPr sz="1800" u="none" strike="noStrike" cap="none"/>
                    </a:p>
                  </a:txBody>
                  <a:tcPr marL="0" marR="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0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Algorithmic</a:t>
                      </a:r>
                      <a:endParaRPr sz="18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5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Steps</a:t>
                      </a:r>
                      <a:endParaRPr sz="1800" u="none" strike="noStrike" cap="none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Operations</a:t>
                      </a:r>
                      <a:endParaRPr sz="1800" u="none" strike="noStrike" cap="none"/>
                    </a:p>
                  </a:txBody>
                  <a:tcPr marL="0" marR="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Time</a:t>
                      </a:r>
                      <a:endParaRPr sz="1800" u="none" strike="noStrike" cap="none"/>
                    </a:p>
                  </a:txBody>
                  <a:tcPr marL="0" marR="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of times /</a:t>
                      </a:r>
                      <a:endParaRPr sz="18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5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Frequency</a:t>
                      </a:r>
                      <a:endParaRPr sz="1800" u="none" strike="noStrike" cap="none"/>
                    </a:p>
                  </a:txBody>
                  <a:tcPr marL="0" marR="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 ← 0</a:t>
                      </a:r>
                      <a:endParaRPr sz="1800" u="none" strike="noStrike" cap="none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←</a:t>
                      </a:r>
                      <a:endParaRPr sz="1800" u="none" strike="noStrike" cap="none"/>
                    </a:p>
                  </a:txBody>
                  <a:tcPr marL="0" marR="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01</a:t>
                      </a:r>
                      <a:endParaRPr sz="1800" u="none" strike="noStrike" cap="none"/>
                    </a:p>
                  </a:txBody>
                  <a:tcPr marL="0" marR="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 u="none" strike="noStrike" cap="none"/>
                    </a:p>
                  </a:txBody>
                  <a:tcPr marL="0" marR="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430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for i ← 1 to n</a:t>
                      </a:r>
                      <a:endParaRPr sz="1800" u="none" strike="noStrike" cap="none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 = i + 1  ← 1</a:t>
                      </a:r>
                      <a:endParaRPr sz="18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5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   + 1</a:t>
                      </a:r>
                      <a:endParaRPr sz="18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5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 &gt; n?      &gt; 1</a:t>
                      </a:r>
                      <a:endParaRPr sz="1800" u="none" strike="noStrike" cap="none"/>
                    </a:p>
                  </a:txBody>
                  <a:tcPr marL="0" marR="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03</a:t>
                      </a:r>
                      <a:endParaRPr sz="1800" u="none" strike="noStrike" cap="none"/>
                    </a:p>
                  </a:txBody>
                  <a:tcPr marL="0" marR="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 + 1</a:t>
                      </a:r>
                      <a:endParaRPr sz="1800" u="none" strike="noStrike" cap="none"/>
                    </a:p>
                  </a:txBody>
                  <a:tcPr marL="0" marR="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0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 </a:t>
                      </a:r>
                      <a:endParaRPr sz="18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5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 ← p + m </a:t>
                      </a:r>
                      <a:endParaRPr sz="1800" u="none" strike="noStrike" cap="none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←1</a:t>
                      </a:r>
                      <a:endParaRPr sz="18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5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+1</a:t>
                      </a:r>
                      <a:endParaRPr sz="1800" u="none" strike="noStrike" cap="none"/>
                    </a:p>
                  </a:txBody>
                  <a:tcPr marL="0" marR="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02</a:t>
                      </a:r>
                      <a:endParaRPr sz="1800" u="none" strike="noStrike" cap="none"/>
                    </a:p>
                  </a:txBody>
                  <a:tcPr marL="0" marR="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1800" u="none" strike="noStrike" cap="none"/>
                    </a:p>
                  </a:txBody>
                  <a:tcPr marL="0" marR="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03" name="Google Shape;603;p48"/>
          <p:cNvSpPr txBox="1"/>
          <p:nvPr/>
        </p:nvSpPr>
        <p:spPr>
          <a:xfrm>
            <a:off x="0" y="5295900"/>
            <a:ext cx="4572000" cy="15621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Computing Time 	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t ∝  1.1 + 3.(n+1) + 2.n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t ∝ 5n + 4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48"/>
          <p:cNvSpPr txBox="1"/>
          <p:nvPr/>
        </p:nvSpPr>
        <p:spPr>
          <a:xfrm>
            <a:off x="4648200" y="5295900"/>
            <a:ext cx="4495800" cy="15621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n is large then 	t  ∝ 5n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t  ∝ 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t = O(n)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49"/>
          <p:cNvSpPr txBox="1"/>
          <p:nvPr/>
        </p:nvSpPr>
        <p:spPr>
          <a:xfrm>
            <a:off x="0" y="0"/>
            <a:ext cx="9144000" cy="2100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49"/>
          <p:cNvSpPr txBox="1"/>
          <p:nvPr/>
        </p:nvSpPr>
        <p:spPr>
          <a:xfrm>
            <a:off x="0" y="2057400"/>
            <a:ext cx="9144000" cy="4656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Introduce a time counter as shown below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{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lang="en-US" sz="24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 ← 0;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p ← 0;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lang="en-US" sz="24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 ← TIME + 1;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for i ← 1 to n do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{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lang="en-US" sz="24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 ← TIME + 3;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p ←  p + m;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lang="en-US" sz="24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 ← TIME + 2</a:t>
            </a:r>
            <a:r>
              <a:rPr lang="en-US" sz="2400" b="1" i="0" u="none" strike="noStrike" cap="none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}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}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49"/>
          <p:cNvSpPr/>
          <p:nvPr/>
        </p:nvSpPr>
        <p:spPr>
          <a:xfrm>
            <a:off x="838200" y="838200"/>
            <a:ext cx="72390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Measuring the computing time 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50"/>
          <p:cNvSpPr txBox="1"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Improved version of the algorithm for * in terms of +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50"/>
          <p:cNvSpPr txBox="1"/>
          <p:nvPr/>
        </p:nvSpPr>
        <p:spPr>
          <a:xfrm>
            <a:off x="0" y="457200"/>
            <a:ext cx="9144000" cy="6116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	: Multiplication by nested addition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		: m , 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		: p ← m * 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 ← 0;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m &gt; n then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{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INDEX ← n;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	ELEMENT ← m;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}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else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{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INDEX ← m;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ELEMENT ← n;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}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	for i ← 1 to INDEX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do p ← p + ELEMENT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2" name="Google Shape;622;p51"/>
          <p:cNvGraphicFramePr/>
          <p:nvPr/>
        </p:nvGraphicFramePr>
        <p:xfrm>
          <a:off x="228600" y="0"/>
          <a:ext cx="8915400" cy="6149950"/>
        </p:xfrm>
        <a:graphic>
          <a:graphicData uri="http://schemas.openxmlformats.org/drawingml/2006/table">
            <a:tbl>
              <a:tblPr>
                <a:noFill/>
                <a:tableStyleId>{7FAB4F13-66EA-40C8-B0AE-D7A7D81EF6A0}</a:tableStyleId>
              </a:tblPr>
              <a:tblGrid>
                <a:gridCol w="237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8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12800"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Analysis of Improved Version of the Algorithm</a:t>
                      </a:r>
                      <a:endParaRPr sz="1800" u="none" strike="noStrike" cap="none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Algorithmic</a:t>
                      </a:r>
                      <a:endParaRPr sz="18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Steps</a:t>
                      </a:r>
                      <a:endParaRPr sz="1800" u="none" strike="noStrike" cap="none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Operations</a:t>
                      </a:r>
                      <a:endParaRPr sz="1800" u="none" strike="noStrike" cap="none"/>
                    </a:p>
                  </a:txBody>
                  <a:tcPr marL="0" marR="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Time</a:t>
                      </a:r>
                      <a:endParaRPr sz="1800" u="none" strike="noStrike" cap="none"/>
                    </a:p>
                  </a:txBody>
                  <a:tcPr marL="0" marR="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of times /</a:t>
                      </a:r>
                      <a:endParaRPr sz="18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Frequency</a:t>
                      </a:r>
                      <a:endParaRPr sz="1800" u="none" strike="noStrike" cap="none"/>
                    </a:p>
                  </a:txBody>
                  <a:tcPr marL="0" marR="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 ← 0 </a:t>
                      </a:r>
                      <a:endParaRPr sz="1800" u="none" strike="noStrike" cap="none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←</a:t>
                      </a:r>
                      <a:endParaRPr sz="1800" u="none" strike="noStrike" cap="none"/>
                    </a:p>
                  </a:txBody>
                  <a:tcPr marL="0" marR="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01</a:t>
                      </a:r>
                      <a:endParaRPr sz="1800" u="none" strike="noStrike" cap="none"/>
                    </a:p>
                  </a:txBody>
                  <a:tcPr marL="0" marR="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 u="none" strike="noStrike" cap="none"/>
                    </a:p>
                  </a:txBody>
                  <a:tcPr marL="0" marR="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90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m &gt; n then</a:t>
                      </a:r>
                      <a:endParaRPr sz="18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…</a:t>
                      </a:r>
                      <a:endParaRPr sz="18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else</a:t>
                      </a:r>
                      <a:endParaRPr sz="18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…</a:t>
                      </a:r>
                      <a:endParaRPr sz="1800" u="none" strike="noStrike" cap="none"/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&gt;……………….1</a:t>
                      </a:r>
                      <a:endParaRPr sz="18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INDEX ← …….1</a:t>
                      </a:r>
                      <a:endParaRPr sz="18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ELEMENT ←…1</a:t>
                      </a:r>
                      <a:endParaRPr sz="1800" u="none" strike="noStrike" cap="none"/>
                    </a:p>
                  </a:txBody>
                  <a:tcPr marL="0" marR="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endParaRPr sz="2000" b="1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03</a:t>
                      </a:r>
                      <a:endParaRPr sz="1800" u="none" strike="noStrike" cap="none"/>
                    </a:p>
                  </a:txBody>
                  <a:tcPr marL="0" marR="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endParaRPr sz="2000" b="1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 u="none" strike="noStrike" cap="none"/>
                    </a:p>
                  </a:txBody>
                  <a:tcPr marL="0" marR="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25525"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for i ← 1 to INDEX</a:t>
                      </a:r>
                      <a:endParaRPr sz="18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endParaRPr sz="2000" b="1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endParaRPr sz="2000" b="1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endParaRPr sz="2000" b="1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p ←p + ELEMENT</a:t>
                      </a:r>
                      <a:endParaRPr sz="18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2000" b="1" i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i = i + 1           ← 1</a:t>
                      </a:r>
                      <a:endParaRPr sz="18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              + 1</a:t>
                      </a:r>
                      <a:endParaRPr sz="18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i  &gt; INDEX?      &gt; 1</a:t>
                      </a:r>
                      <a:endParaRPr sz="1800" u="none" strike="noStrike" cap="none"/>
                    </a:p>
                  </a:txBody>
                  <a:tcPr marL="0" marR="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03</a:t>
                      </a:r>
                      <a:endParaRPr sz="1800" u="none" strike="noStrike" cap="none"/>
                    </a:p>
                  </a:txBody>
                  <a:tcPr marL="0" marR="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INDEX + 1</a:t>
                      </a:r>
                      <a:endParaRPr sz="1800" u="none" strike="noStrike" cap="none"/>
                    </a:p>
                  </a:txBody>
                  <a:tcPr marL="0" marR="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9537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←1</a:t>
                      </a:r>
                      <a:endParaRPr sz="18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56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+1</a:t>
                      </a:r>
                      <a:endParaRPr sz="1800" u="none" strike="noStrike" cap="none"/>
                    </a:p>
                  </a:txBody>
                  <a:tcPr marL="0" marR="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02</a:t>
                      </a:r>
                      <a:endParaRPr sz="1800" u="none" strike="noStrike" cap="none"/>
                    </a:p>
                  </a:txBody>
                  <a:tcPr marL="0" marR="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INDEX</a:t>
                      </a:r>
                      <a:endParaRPr sz="1800" u="none" strike="noStrike" cap="none"/>
                    </a:p>
                  </a:txBody>
                  <a:tcPr marL="0" marR="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23" name="Google Shape;623;p51"/>
          <p:cNvSpPr txBox="1"/>
          <p:nvPr/>
        </p:nvSpPr>
        <p:spPr>
          <a:xfrm>
            <a:off x="0" y="624840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 ∝ (1.1 + 3.1 + 3.(INDEX+1) + 2.INDEX)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52"/>
          <p:cNvSpPr txBox="1"/>
          <p:nvPr/>
        </p:nvSpPr>
        <p:spPr>
          <a:xfrm>
            <a:off x="0" y="304800"/>
            <a:ext cx="9144000" cy="435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t 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∝	(1.1 + 3.1 + 3.(INDEX+1) + 2.INDEX)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∝	(1 + 3 + 3.INDEX + 3 + 2. INDEX)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∝	(5.INDEX + 7)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∝	5.INDEX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∝	INDEX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t = O(INDEX)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ec53480ff4_0_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53</a:t>
            </a:fld>
            <a:endParaRPr/>
          </a:p>
        </p:txBody>
      </p:sp>
      <p:pic>
        <p:nvPicPr>
          <p:cNvPr id="635" name="Google Shape;635;gec53480ff4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52400"/>
            <a:ext cx="8479938" cy="6051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ec53480ff4_0_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54</a:t>
            </a:fld>
            <a:endParaRPr/>
          </a:p>
        </p:txBody>
      </p:sp>
      <p:pic>
        <p:nvPicPr>
          <p:cNvPr id="642" name="Google Shape;642;gec53480ff4_0_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52400"/>
            <a:ext cx="7977500" cy="5922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ec53480ff4_0_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55</a:t>
            </a:fld>
            <a:endParaRPr/>
          </a:p>
        </p:txBody>
      </p:sp>
      <p:pic>
        <p:nvPicPr>
          <p:cNvPr id="649" name="Google Shape;649;gec53480ff4_0_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52400"/>
            <a:ext cx="8271924" cy="620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ec53480ff4_0_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56</a:t>
            </a:fld>
            <a:endParaRPr/>
          </a:p>
        </p:txBody>
      </p:sp>
      <p:pic>
        <p:nvPicPr>
          <p:cNvPr id="656" name="Google Shape;656;gec53480ff4_0_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52400"/>
            <a:ext cx="8534399" cy="640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ea244d44b0_0_0"/>
          <p:cNvSpPr txBox="1">
            <a:spLocks noGrp="1"/>
          </p:cNvSpPr>
          <p:nvPr>
            <p:ph type="sldNum" idx="12"/>
          </p:nvPr>
        </p:nvSpPr>
        <p:spPr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None/>
              </a:pPr>
              <a:t>57</a:t>
            </a:fld>
            <a:endParaRPr/>
          </a:p>
        </p:txBody>
      </p:sp>
      <p:sp>
        <p:nvSpPr>
          <p:cNvPr id="662" name="Google Shape;662;gea244d44b0_0_0"/>
          <p:cNvSpPr txBox="1">
            <a:spLocks noGrp="1"/>
          </p:cNvSpPr>
          <p:nvPr>
            <p:ph type="title" idx="4294967295"/>
          </p:nvPr>
        </p:nvSpPr>
        <p:spPr>
          <a:xfrm>
            <a:off x="670325" y="0"/>
            <a:ext cx="8473800" cy="8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Space Complexity</a:t>
            </a:r>
            <a:br>
              <a:rPr lang="en-US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S(P)=C+S</a:t>
            </a:r>
            <a:r>
              <a:rPr lang="en-US" sz="3600" b="0" i="0" u="none" baseline="-25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(I)</a:t>
            </a:r>
            <a:endParaRPr sz="3600"/>
          </a:p>
        </p:txBody>
      </p:sp>
      <p:sp>
        <p:nvSpPr>
          <p:cNvPr id="663" name="Google Shape;663;gea244d44b0_0_0"/>
          <p:cNvSpPr txBox="1">
            <a:spLocks noGrp="1"/>
          </p:cNvSpPr>
          <p:nvPr>
            <p:ph type="body" idx="4294967295"/>
          </p:nvPr>
        </p:nvSpPr>
        <p:spPr>
          <a:xfrm>
            <a:off x="1371600" y="1219200"/>
            <a:ext cx="7772400" cy="19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Arial"/>
              <a:buChar char="●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Fixed Space Requirements (C)</a:t>
            </a:r>
            <a:b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800" b="0" i="0" u="none" strike="noStrike" cap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Independent of the characteristics of the inputs and outputs</a:t>
            </a: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instruction space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space for simple variables, fixed-size structured variable, constants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Arial"/>
              <a:buChar char="●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Variable Space Requirements (S</a:t>
            </a:r>
            <a:r>
              <a:rPr lang="en-US" sz="28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(I))</a:t>
            </a:r>
            <a:b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800" b="0" i="0" u="none" strike="noStrike" cap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depend on the instance characteristic I</a:t>
            </a: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number, size, values of inputs and outputs associated with I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recursive stack space, formal parameters, local variables, return address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ea244d44b0_0_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58</a:t>
            </a:fld>
            <a:endParaRPr/>
          </a:p>
        </p:txBody>
      </p:sp>
      <p:sp>
        <p:nvSpPr>
          <p:cNvPr id="669" name="Google Shape;669;gea244d44b0_0_7"/>
          <p:cNvSpPr txBox="1">
            <a:spLocks noGrp="1"/>
          </p:cNvSpPr>
          <p:nvPr>
            <p:ph type="title"/>
          </p:nvPr>
        </p:nvSpPr>
        <p:spPr>
          <a:xfrm>
            <a:off x="1173162" y="457200"/>
            <a:ext cx="7772400" cy="55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None/>
            </a:pPr>
            <a:r>
              <a:rPr lang="en-US" sz="2000" b="1" i="0" u="sng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*Program 1.9: </a:t>
            </a:r>
            <a:r>
              <a:rPr lang="en-US" sz="2000" b="0" i="0" u="sng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arithmetic function </a:t>
            </a:r>
            <a:br>
              <a:rPr lang="en-US" sz="2000" b="0" i="0" u="sng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float abc(float a, float b, float c)</a:t>
            </a:r>
            <a:br>
              <a:rPr lang="en-US" sz="2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br>
              <a:rPr lang="en-US" sz="2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return a + b + b * c + (a + b - c) / (a + b) + 4.00;</a:t>
            </a:r>
            <a:br>
              <a:rPr lang="en-US" sz="2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}</a:t>
            </a:r>
            <a:br>
              <a:rPr lang="en-US" sz="2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sz="2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sz="2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sz="2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 b="1" i="0" u="sng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*Program 1.10: </a:t>
            </a:r>
            <a:r>
              <a:rPr lang="en-US" sz="2000" b="0" i="0" u="sng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Iterative function for summing a list of numbers </a:t>
            </a:r>
            <a:br>
              <a:rPr lang="en-US" sz="2000" b="0" i="0" u="sng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float sum(float list[ ], int n)</a:t>
            </a:r>
            <a:br>
              <a:rPr lang="en-US" sz="2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br>
              <a:rPr lang="en-US" sz="2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float tempsum = 0;</a:t>
            </a:r>
            <a:br>
              <a:rPr lang="en-US" sz="2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int i;</a:t>
            </a:r>
            <a:br>
              <a:rPr lang="en-US" sz="2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for (i = 0; i&lt;n; i++)</a:t>
            </a:r>
            <a:br>
              <a:rPr lang="en-US" sz="2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tempsum += list [i];</a:t>
            </a:r>
            <a:br>
              <a:rPr lang="en-US" sz="2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return tempsum;</a:t>
            </a:r>
            <a:br>
              <a:rPr lang="en-US" sz="2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     </a:t>
            </a:r>
            <a:r>
              <a:rPr lang="en-US" sz="2000" b="0" i="0" u="sng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cxnSp>
        <p:nvCxnSpPr>
          <p:cNvPr id="670" name="Google Shape;670;gea244d44b0_0_7"/>
          <p:cNvCxnSpPr/>
          <p:nvPr/>
        </p:nvCxnSpPr>
        <p:spPr>
          <a:xfrm>
            <a:off x="1295400" y="2590800"/>
            <a:ext cx="71628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71" name="Google Shape;671;gea244d44b0_0_7"/>
          <p:cNvSpPr txBox="1"/>
          <p:nvPr/>
        </p:nvSpPr>
        <p:spPr>
          <a:xfrm>
            <a:off x="2819400" y="1905000"/>
            <a:ext cx="1417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400" b="0" i="0" u="none" strike="noStrike" cap="none" baseline="-25000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abc</a:t>
            </a:r>
            <a:r>
              <a:rPr lang="en-US" sz="2400" b="0" i="0" u="none" strike="noStrike" cap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(I) = 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gea244d44b0_0_7"/>
          <p:cNvSpPr txBox="1"/>
          <p:nvPr/>
        </p:nvSpPr>
        <p:spPr>
          <a:xfrm>
            <a:off x="5257800" y="3886200"/>
            <a:ext cx="1474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400" b="0" i="0" u="none" strike="noStrike" cap="none" baseline="-25000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</a:t>
            </a:r>
            <a:r>
              <a:rPr lang="en-US" sz="2400" b="0" i="0" u="none" strike="noStrike" cap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(I) = 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gea244d44b0_0_7"/>
          <p:cNvSpPr txBox="1"/>
          <p:nvPr/>
        </p:nvSpPr>
        <p:spPr>
          <a:xfrm>
            <a:off x="4829824" y="4343400"/>
            <a:ext cx="43143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Recall: pass the address of the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first element of the array &amp;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pass by value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gea244d44b0_0_7"/>
          <p:cNvSpPr/>
          <p:nvPr/>
        </p:nvSpPr>
        <p:spPr>
          <a:xfrm>
            <a:off x="2590800" y="1828800"/>
            <a:ext cx="1752600" cy="609600"/>
          </a:xfrm>
          <a:prstGeom prst="rect">
            <a:avLst/>
          </a:prstGeom>
          <a:noFill/>
          <a:ln w="9525" cap="flat" cmpd="sng">
            <a:solidFill>
              <a:srgbClr val="008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5" name="Google Shape;675;gea244d44b0_0_7"/>
          <p:cNvSpPr/>
          <p:nvPr/>
        </p:nvSpPr>
        <p:spPr>
          <a:xfrm>
            <a:off x="5181600" y="3886200"/>
            <a:ext cx="1600200" cy="533400"/>
          </a:xfrm>
          <a:prstGeom prst="rect">
            <a:avLst/>
          </a:prstGeom>
          <a:noFill/>
          <a:ln w="9525" cap="flat" cmpd="sng">
            <a:solidFill>
              <a:srgbClr val="008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ea244d44b0_0_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1</a:t>
            </a:r>
            <a:endParaRPr/>
          </a:p>
        </p:txBody>
      </p:sp>
      <p:sp>
        <p:nvSpPr>
          <p:cNvPr id="681" name="Google Shape;681;gea244d44b0_0_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59</a:t>
            </a:fld>
            <a:endParaRPr/>
          </a:p>
        </p:txBody>
      </p:sp>
      <p:sp>
        <p:nvSpPr>
          <p:cNvPr id="682" name="Google Shape;682;gea244d44b0_0_19"/>
          <p:cNvSpPr txBox="1">
            <a:spLocks noGrp="1"/>
          </p:cNvSpPr>
          <p:nvPr>
            <p:ph type="title"/>
          </p:nvPr>
        </p:nvSpPr>
        <p:spPr>
          <a:xfrm>
            <a:off x="990600" y="685800"/>
            <a:ext cx="7772400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None/>
            </a:pPr>
            <a:r>
              <a:rPr lang="en-US" sz="2000" b="1" i="0" u="sng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*Program 1.11: </a:t>
            </a:r>
            <a:r>
              <a:rPr lang="en-US" sz="2000" b="0" i="0" u="sng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Recursive function</a:t>
            </a:r>
            <a:r>
              <a:rPr lang="en-US" sz="2000" b="0" i="0" u="sng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summing a list of numbers </a:t>
            </a:r>
            <a:br>
              <a:rPr lang="en-US" sz="2000" b="0" i="0" u="sng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float rsum(float l</a:t>
            </a:r>
            <a:r>
              <a:rPr lang="en-US" sz="2400" b="0" i="0" u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ist[ ]</a:t>
            </a:r>
            <a:r>
              <a:rPr lang="en-US" sz="2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int n)</a:t>
            </a:r>
            <a:br>
              <a:rPr lang="en-US" sz="2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br>
              <a:rPr lang="en-US" sz="2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if (n) return rsum(</a:t>
            </a:r>
            <a:r>
              <a:rPr lang="en-US" sz="2400" b="0" i="0" u="none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list,</a:t>
            </a:r>
            <a:r>
              <a:rPr lang="en-US" sz="2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n-1) + list[n-1];</a:t>
            </a:r>
            <a:br>
              <a:rPr lang="en-US" sz="2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return 0;</a:t>
            </a:r>
            <a:br>
              <a:rPr lang="en-US" sz="2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}</a:t>
            </a:r>
            <a:br>
              <a:rPr lang="en-US" sz="2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sz="2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sz="2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sz="2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sz="2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r>
              <a:rPr lang="en-US" sz="2000" b="1" i="0" u="sng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1.1: </a:t>
            </a:r>
            <a:r>
              <a:rPr lang="en-US" sz="2000" b="0" i="0" u="sng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Space needed for one recursive call of Program 1.11 (p.21)</a:t>
            </a:r>
            <a:br>
              <a:rPr lang="en-US" sz="2000" b="0" i="0" u="sng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 b="0" i="0" u="sng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sz="2000" b="0" i="0" u="sng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/>
          </a:p>
        </p:txBody>
      </p:sp>
      <p:pic>
        <p:nvPicPr>
          <p:cNvPr id="683" name="Google Shape;683;gea244d44b0_0_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94225" y="4049712"/>
            <a:ext cx="3254377" cy="17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684" name="Google Shape;684;gea244d44b0_0_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71600" y="4572000"/>
            <a:ext cx="7051674" cy="1898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85" name="Google Shape;685;gea244d44b0_0_19"/>
          <p:cNvCxnSpPr/>
          <p:nvPr/>
        </p:nvCxnSpPr>
        <p:spPr>
          <a:xfrm>
            <a:off x="1066800" y="2971800"/>
            <a:ext cx="72390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86" name="Google Shape;686;gea244d44b0_0_19"/>
          <p:cNvSpPr txBox="1"/>
          <p:nvPr/>
        </p:nvSpPr>
        <p:spPr>
          <a:xfrm>
            <a:off x="5486400" y="2133600"/>
            <a:ext cx="2511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400" b="0" i="0" u="none" strike="noStrike" cap="none" baseline="-25000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</a:t>
            </a:r>
            <a:r>
              <a:rPr lang="en-US" sz="2400" b="0" i="0" u="none" strike="noStrike" cap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(I)=S</a:t>
            </a:r>
            <a:r>
              <a:rPr lang="en-US" sz="2400" b="0" i="0" u="none" strike="noStrike" cap="none" baseline="-25000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</a:t>
            </a:r>
            <a:r>
              <a:rPr lang="en-US" sz="2400" b="0" i="0" u="none" strike="noStrike" cap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(n)=6n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gea244d44b0_0_19"/>
          <p:cNvSpPr txBox="1"/>
          <p:nvPr/>
        </p:nvSpPr>
        <p:spPr>
          <a:xfrm>
            <a:off x="1050925" y="3241675"/>
            <a:ext cx="1860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Assumptions: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gea244d44b0_0_19"/>
          <p:cNvSpPr/>
          <p:nvPr/>
        </p:nvSpPr>
        <p:spPr>
          <a:xfrm>
            <a:off x="5410200" y="2057400"/>
            <a:ext cx="2667000" cy="609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ec88d3701f_0_0"/>
          <p:cNvSpPr txBox="1">
            <a:spLocks noGrp="1"/>
          </p:cNvSpPr>
          <p:nvPr>
            <p:ph type="title"/>
          </p:nvPr>
        </p:nvSpPr>
        <p:spPr>
          <a:xfrm>
            <a:off x="1143000" y="0"/>
            <a:ext cx="8001000" cy="1143000"/>
          </a:xfrm>
          <a:prstGeom prst="rect">
            <a:avLst/>
          </a:prstGeom>
          <a:solidFill>
            <a:srgbClr val="538CD5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/>
              <a:t>Algorithm Stetargies </a:t>
            </a:r>
            <a:endParaRPr/>
          </a:p>
        </p:txBody>
      </p:sp>
      <p:sp>
        <p:nvSpPr>
          <p:cNvPr id="695" name="Google Shape;695;gec88d3701f_0_0"/>
          <p:cNvSpPr txBox="1">
            <a:spLocks noGrp="1"/>
          </p:cNvSpPr>
          <p:nvPr>
            <p:ph type="body" idx="1"/>
          </p:nvPr>
        </p:nvSpPr>
        <p:spPr>
          <a:xfrm>
            <a:off x="457200" y="1295400"/>
            <a:ext cx="8229600" cy="48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Divide and Conquer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Greedy Method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Dynamic Programming </a:t>
            </a:r>
            <a:endParaRPr/>
          </a:p>
        </p:txBody>
      </p:sp>
      <p:sp>
        <p:nvSpPr>
          <p:cNvPr id="696" name="Google Shape;696;gec88d3701f_0_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60</a:t>
            </a:fld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53"/>
          <p:cNvSpPr txBox="1">
            <a:spLocks noGrp="1"/>
          </p:cNvSpPr>
          <p:nvPr>
            <p:ph type="title"/>
          </p:nvPr>
        </p:nvSpPr>
        <p:spPr>
          <a:xfrm>
            <a:off x="1668779" y="109220"/>
            <a:ext cx="4961255" cy="695960"/>
          </a:xfrm>
          <a:prstGeom prst="rect">
            <a:avLst/>
          </a:prstGeom>
          <a:solidFill>
            <a:srgbClr val="538CD5"/>
          </a:solidFill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4400"/>
              <a:buNone/>
            </a:pPr>
            <a:r>
              <a:rPr lang="en-US"/>
              <a:t>Divide and Conquer</a:t>
            </a:r>
            <a:endParaRPr/>
          </a:p>
        </p:txBody>
      </p:sp>
      <p:sp>
        <p:nvSpPr>
          <p:cNvPr id="702" name="Google Shape;702;p53"/>
          <p:cNvSpPr txBox="1"/>
          <p:nvPr/>
        </p:nvSpPr>
        <p:spPr>
          <a:xfrm>
            <a:off x="534669" y="1634490"/>
            <a:ext cx="7355205" cy="3792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4965" marR="141097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divide </a:t>
            </a: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problem into a number of  subproblems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69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conquer </a:t>
            </a: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subproblems (solve them)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combine </a:t>
            </a: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subproblem solutions to get the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3774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solution to the original problem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endParaRPr sz="4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4965" marR="101346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Note: often the “</a:t>
            </a:r>
            <a:r>
              <a:rPr lang="en-US" sz="2800" b="0" i="0" u="none" strike="noStrike" cap="none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conquer</a:t>
            </a: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” step is done  recursively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56"/>
          <p:cNvSpPr txBox="1">
            <a:spLocks noGrp="1"/>
          </p:cNvSpPr>
          <p:nvPr>
            <p:ph type="title"/>
          </p:nvPr>
        </p:nvSpPr>
        <p:spPr>
          <a:xfrm>
            <a:off x="1943100" y="109220"/>
            <a:ext cx="5024120" cy="695960"/>
          </a:xfrm>
          <a:prstGeom prst="rect">
            <a:avLst/>
          </a:prstGeom>
          <a:solidFill>
            <a:srgbClr val="538CD5"/>
          </a:solidFill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4400"/>
              <a:buNone/>
            </a:pPr>
            <a:r>
              <a:rPr lang="en-US"/>
              <a:t>Divide-and-Conquer</a:t>
            </a:r>
            <a:endParaRPr/>
          </a:p>
        </p:txBody>
      </p:sp>
      <p:sp>
        <p:nvSpPr>
          <p:cNvPr id="708" name="Google Shape;708;p56"/>
          <p:cNvSpPr txBox="1"/>
          <p:nvPr/>
        </p:nvSpPr>
        <p:spPr>
          <a:xfrm>
            <a:off x="534669" y="1634490"/>
            <a:ext cx="7430134" cy="3561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4965" marR="12446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Char char="◆"/>
            </a:pPr>
            <a:r>
              <a:rPr lang="en-U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general methodology for using  recursion to design efficient algorithms</a:t>
            </a: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19734" marR="0" lvl="0" indent="-407034" algn="l" rtl="0">
              <a:lnSpc>
                <a:spcPct val="100000"/>
              </a:lnSpc>
              <a:spcBef>
                <a:spcPts val="79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Char char="◆"/>
            </a:pPr>
            <a:r>
              <a:rPr lang="en-U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solves a problem by:</a:t>
            </a: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55650" marR="0" lvl="1" indent="-286385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Diving the data into parts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55650" marR="0" lvl="1" indent="-286385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Finding sub solutions for each of the parts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55015" marR="5080" lvl="1" indent="-285750" algn="l" rtl="0">
              <a:lnSpc>
                <a:spcPct val="100000"/>
              </a:lnSpc>
              <a:spcBef>
                <a:spcPts val="69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–"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Constructing the final answer from the sub  solutions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64"/>
          <p:cNvSpPr txBox="1">
            <a:spLocks noGrp="1"/>
          </p:cNvSpPr>
          <p:nvPr>
            <p:ph type="title"/>
          </p:nvPr>
        </p:nvSpPr>
        <p:spPr>
          <a:xfrm>
            <a:off x="1668779" y="109220"/>
            <a:ext cx="4961255" cy="695960"/>
          </a:xfrm>
          <a:prstGeom prst="rect">
            <a:avLst/>
          </a:prstGeom>
          <a:solidFill>
            <a:srgbClr val="538CD5"/>
          </a:solidFill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4400"/>
              <a:buNone/>
            </a:pPr>
            <a:r>
              <a:rPr lang="en-US"/>
              <a:t>Divide and Conquer</a:t>
            </a:r>
            <a:endParaRPr/>
          </a:p>
        </p:txBody>
      </p:sp>
      <p:pic>
        <p:nvPicPr>
          <p:cNvPr id="714" name="Google Shape;714;p6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95119" y="3872229"/>
            <a:ext cx="219710" cy="219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5" name="Google Shape;715;p6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95119" y="4314190"/>
            <a:ext cx="219710" cy="219710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64"/>
          <p:cNvSpPr txBox="1"/>
          <p:nvPr/>
        </p:nvSpPr>
        <p:spPr>
          <a:xfrm>
            <a:off x="239150" y="1252025"/>
            <a:ext cx="8904900" cy="5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1895475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Char char="⮚"/>
            </a:pPr>
            <a:r>
              <a:rPr lang="en-U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Based on dividing problem into  subproblems</a:t>
            </a: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-203200" algn="l" rtl="0">
              <a:lnSpc>
                <a:spcPct val="100000"/>
              </a:lnSpc>
              <a:spcBef>
                <a:spcPts val="79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Char char="⮚"/>
            </a:pPr>
            <a:r>
              <a:rPr lang="en-U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Approach</a:t>
            </a: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955165" marR="457200" lvl="0" indent="-583564" algn="l" rtl="0">
              <a:lnSpc>
                <a:spcPct val="119300"/>
              </a:lnSpc>
              <a:spcBef>
                <a:spcPts val="50"/>
              </a:spcBef>
              <a:spcAft>
                <a:spcPts val="0"/>
              </a:spcAft>
              <a:buNone/>
            </a:pPr>
            <a:endParaRPr sz="2800"/>
          </a:p>
          <a:p>
            <a:pPr marL="0" marR="457200" lvl="0" indent="0" algn="l" rtl="0">
              <a:lnSpc>
                <a:spcPct val="1193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en-US" sz="2800"/>
              <a:t>     </a:t>
            </a: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Divide problem into smaller subproblems       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955165" marR="457200" lvl="0" indent="-583564" algn="l" rtl="0">
              <a:lnSpc>
                <a:spcPct val="1193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Subproblems must be of same type  			Subproblems do not need to overlap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84200" marR="0" lvl="0" indent="-457200" algn="l" rtl="0">
              <a:lnSpc>
                <a:spcPct val="100000"/>
              </a:lnSpc>
              <a:spcBef>
                <a:spcPts val="69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⮚"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Solve each subproblem recursively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84200" marR="0" lvl="0" indent="-457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⮚"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Combine solutions to solve original problem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476884" lvl="0" indent="-2032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Char char="⮚"/>
            </a:pPr>
            <a:r>
              <a:rPr lang="en-U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Usually contains two or more recursive  calls</a:t>
            </a: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66"/>
          <p:cNvSpPr txBox="1">
            <a:spLocks noGrp="1"/>
          </p:cNvSpPr>
          <p:nvPr>
            <p:ph type="title"/>
          </p:nvPr>
        </p:nvSpPr>
        <p:spPr>
          <a:xfrm>
            <a:off x="637540" y="109220"/>
            <a:ext cx="7477759" cy="695960"/>
          </a:xfrm>
          <a:prstGeom prst="rect">
            <a:avLst/>
          </a:prstGeom>
          <a:solidFill>
            <a:srgbClr val="538CD5"/>
          </a:solidFill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4400"/>
              <a:buNone/>
            </a:pPr>
            <a:r>
              <a:rPr lang="en-US"/>
              <a:t>Divide-and-conquer technique</a:t>
            </a:r>
            <a:endParaRPr/>
          </a:p>
        </p:txBody>
      </p:sp>
      <p:grpSp>
        <p:nvGrpSpPr>
          <p:cNvPr id="722" name="Google Shape;722;p66"/>
          <p:cNvGrpSpPr/>
          <p:nvPr/>
        </p:nvGrpSpPr>
        <p:grpSpPr>
          <a:xfrm>
            <a:off x="5562600" y="2362200"/>
            <a:ext cx="2286000" cy="838200"/>
            <a:chOff x="5562600" y="2362200"/>
            <a:chExt cx="2286000" cy="838200"/>
          </a:xfrm>
        </p:grpSpPr>
        <p:sp>
          <p:nvSpPr>
            <p:cNvPr id="723" name="Google Shape;723;p66"/>
            <p:cNvSpPr/>
            <p:nvPr/>
          </p:nvSpPr>
          <p:spPr>
            <a:xfrm>
              <a:off x="5562600" y="2362200"/>
              <a:ext cx="2286000" cy="838200"/>
            </a:xfrm>
            <a:custGeom>
              <a:avLst/>
              <a:gdLst/>
              <a:ahLst/>
              <a:cxnLst/>
              <a:rect l="l" t="t" r="r" b="b"/>
              <a:pathLst>
                <a:path w="2286000" h="838200" extrusionOk="0">
                  <a:moveTo>
                    <a:pt x="1143000" y="0"/>
                  </a:moveTo>
                  <a:lnTo>
                    <a:pt x="1074202" y="689"/>
                  </a:lnTo>
                  <a:lnTo>
                    <a:pt x="1006664" y="2733"/>
                  </a:lnTo>
                  <a:lnTo>
                    <a:pt x="940480" y="6099"/>
                  </a:lnTo>
                  <a:lnTo>
                    <a:pt x="875744" y="10752"/>
                  </a:lnTo>
                  <a:lnTo>
                    <a:pt x="812549" y="16657"/>
                  </a:lnTo>
                  <a:lnTo>
                    <a:pt x="750989" y="23780"/>
                  </a:lnTo>
                  <a:lnTo>
                    <a:pt x="691157" y="32087"/>
                  </a:lnTo>
                  <a:lnTo>
                    <a:pt x="633148" y="41543"/>
                  </a:lnTo>
                  <a:lnTo>
                    <a:pt x="577055" y="52114"/>
                  </a:lnTo>
                  <a:lnTo>
                    <a:pt x="522972" y="63766"/>
                  </a:lnTo>
                  <a:lnTo>
                    <a:pt x="470992" y="76463"/>
                  </a:lnTo>
                  <a:lnTo>
                    <a:pt x="421210" y="90173"/>
                  </a:lnTo>
                  <a:lnTo>
                    <a:pt x="373719" y="104860"/>
                  </a:lnTo>
                  <a:lnTo>
                    <a:pt x="328612" y="120491"/>
                  </a:lnTo>
                  <a:lnTo>
                    <a:pt x="285984" y="137030"/>
                  </a:lnTo>
                  <a:lnTo>
                    <a:pt x="245928" y="154443"/>
                  </a:lnTo>
                  <a:lnTo>
                    <a:pt x="208538" y="172697"/>
                  </a:lnTo>
                  <a:lnTo>
                    <a:pt x="173907" y="191756"/>
                  </a:lnTo>
                  <a:lnTo>
                    <a:pt x="113300" y="232154"/>
                  </a:lnTo>
                  <a:lnTo>
                    <a:pt x="64856" y="275362"/>
                  </a:lnTo>
                  <a:lnTo>
                    <a:pt x="29324" y="321106"/>
                  </a:lnTo>
                  <a:lnTo>
                    <a:pt x="7456" y="369110"/>
                  </a:lnTo>
                  <a:lnTo>
                    <a:pt x="0" y="419100"/>
                  </a:lnTo>
                  <a:lnTo>
                    <a:pt x="1879" y="444325"/>
                  </a:lnTo>
                  <a:lnTo>
                    <a:pt x="16635" y="493356"/>
                  </a:lnTo>
                  <a:lnTo>
                    <a:pt x="45429" y="540265"/>
                  </a:lnTo>
                  <a:lnTo>
                    <a:pt x="87510" y="584775"/>
                  </a:lnTo>
                  <a:lnTo>
                    <a:pt x="142130" y="626612"/>
                  </a:lnTo>
                  <a:lnTo>
                    <a:pt x="208538" y="665502"/>
                  </a:lnTo>
                  <a:lnTo>
                    <a:pt x="245928" y="683756"/>
                  </a:lnTo>
                  <a:lnTo>
                    <a:pt x="285984" y="701169"/>
                  </a:lnTo>
                  <a:lnTo>
                    <a:pt x="328612" y="717708"/>
                  </a:lnTo>
                  <a:lnTo>
                    <a:pt x="373719" y="733339"/>
                  </a:lnTo>
                  <a:lnTo>
                    <a:pt x="421210" y="748026"/>
                  </a:lnTo>
                  <a:lnTo>
                    <a:pt x="470992" y="761736"/>
                  </a:lnTo>
                  <a:lnTo>
                    <a:pt x="522972" y="774433"/>
                  </a:lnTo>
                  <a:lnTo>
                    <a:pt x="577055" y="786085"/>
                  </a:lnTo>
                  <a:lnTo>
                    <a:pt x="633148" y="796656"/>
                  </a:lnTo>
                  <a:lnTo>
                    <a:pt x="691157" y="806112"/>
                  </a:lnTo>
                  <a:lnTo>
                    <a:pt x="750989" y="814419"/>
                  </a:lnTo>
                  <a:lnTo>
                    <a:pt x="812549" y="821542"/>
                  </a:lnTo>
                  <a:lnTo>
                    <a:pt x="875744" y="827447"/>
                  </a:lnTo>
                  <a:lnTo>
                    <a:pt x="940480" y="832100"/>
                  </a:lnTo>
                  <a:lnTo>
                    <a:pt x="1006664" y="835466"/>
                  </a:lnTo>
                  <a:lnTo>
                    <a:pt x="1074202" y="837510"/>
                  </a:lnTo>
                  <a:lnTo>
                    <a:pt x="1143000" y="838200"/>
                  </a:lnTo>
                  <a:lnTo>
                    <a:pt x="1211797" y="837510"/>
                  </a:lnTo>
                  <a:lnTo>
                    <a:pt x="1279335" y="835466"/>
                  </a:lnTo>
                  <a:lnTo>
                    <a:pt x="1345519" y="832100"/>
                  </a:lnTo>
                  <a:lnTo>
                    <a:pt x="1410255" y="827447"/>
                  </a:lnTo>
                  <a:lnTo>
                    <a:pt x="1473450" y="821542"/>
                  </a:lnTo>
                  <a:lnTo>
                    <a:pt x="1535010" y="814419"/>
                  </a:lnTo>
                  <a:lnTo>
                    <a:pt x="1594842" y="806112"/>
                  </a:lnTo>
                  <a:lnTo>
                    <a:pt x="1652851" y="796656"/>
                  </a:lnTo>
                  <a:lnTo>
                    <a:pt x="1708944" y="786085"/>
                  </a:lnTo>
                  <a:lnTo>
                    <a:pt x="1763027" y="774433"/>
                  </a:lnTo>
                  <a:lnTo>
                    <a:pt x="1815007" y="761736"/>
                  </a:lnTo>
                  <a:lnTo>
                    <a:pt x="1864789" y="748026"/>
                  </a:lnTo>
                  <a:lnTo>
                    <a:pt x="1912280" y="733339"/>
                  </a:lnTo>
                  <a:lnTo>
                    <a:pt x="1957387" y="717708"/>
                  </a:lnTo>
                  <a:lnTo>
                    <a:pt x="2000015" y="701169"/>
                  </a:lnTo>
                  <a:lnTo>
                    <a:pt x="2040071" y="683756"/>
                  </a:lnTo>
                  <a:lnTo>
                    <a:pt x="2077461" y="665502"/>
                  </a:lnTo>
                  <a:lnTo>
                    <a:pt x="2112092" y="646443"/>
                  </a:lnTo>
                  <a:lnTo>
                    <a:pt x="2172699" y="606045"/>
                  </a:lnTo>
                  <a:lnTo>
                    <a:pt x="2221143" y="562837"/>
                  </a:lnTo>
                  <a:lnTo>
                    <a:pt x="2256675" y="517093"/>
                  </a:lnTo>
                  <a:lnTo>
                    <a:pt x="2278543" y="469089"/>
                  </a:lnTo>
                  <a:lnTo>
                    <a:pt x="2286000" y="419100"/>
                  </a:lnTo>
                  <a:lnTo>
                    <a:pt x="2284120" y="393874"/>
                  </a:lnTo>
                  <a:lnTo>
                    <a:pt x="2269364" y="344843"/>
                  </a:lnTo>
                  <a:lnTo>
                    <a:pt x="2240570" y="297934"/>
                  </a:lnTo>
                  <a:lnTo>
                    <a:pt x="2198489" y="253424"/>
                  </a:lnTo>
                  <a:lnTo>
                    <a:pt x="2143869" y="211587"/>
                  </a:lnTo>
                  <a:lnTo>
                    <a:pt x="2077461" y="172697"/>
                  </a:lnTo>
                  <a:lnTo>
                    <a:pt x="2040071" y="154443"/>
                  </a:lnTo>
                  <a:lnTo>
                    <a:pt x="2000015" y="137030"/>
                  </a:lnTo>
                  <a:lnTo>
                    <a:pt x="1957387" y="120491"/>
                  </a:lnTo>
                  <a:lnTo>
                    <a:pt x="1912280" y="104860"/>
                  </a:lnTo>
                  <a:lnTo>
                    <a:pt x="1864789" y="90173"/>
                  </a:lnTo>
                  <a:lnTo>
                    <a:pt x="1815007" y="76463"/>
                  </a:lnTo>
                  <a:lnTo>
                    <a:pt x="1763027" y="63766"/>
                  </a:lnTo>
                  <a:lnTo>
                    <a:pt x="1708944" y="52114"/>
                  </a:lnTo>
                  <a:lnTo>
                    <a:pt x="1652851" y="41543"/>
                  </a:lnTo>
                  <a:lnTo>
                    <a:pt x="1594842" y="32087"/>
                  </a:lnTo>
                  <a:lnTo>
                    <a:pt x="1535010" y="23780"/>
                  </a:lnTo>
                  <a:lnTo>
                    <a:pt x="1473450" y="16657"/>
                  </a:lnTo>
                  <a:lnTo>
                    <a:pt x="1410255" y="10752"/>
                  </a:lnTo>
                  <a:lnTo>
                    <a:pt x="1345519" y="6099"/>
                  </a:lnTo>
                  <a:lnTo>
                    <a:pt x="1279335" y="2733"/>
                  </a:lnTo>
                  <a:lnTo>
                    <a:pt x="1211797" y="689"/>
                  </a:lnTo>
                  <a:lnTo>
                    <a:pt x="1143000" y="0"/>
                  </a:lnTo>
                  <a:close/>
                </a:path>
              </a:pathLst>
            </a:custGeom>
            <a:solidFill>
              <a:srgbClr val="DAE5F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66"/>
            <p:cNvSpPr/>
            <p:nvPr/>
          </p:nvSpPr>
          <p:spPr>
            <a:xfrm>
              <a:off x="5562600" y="2362200"/>
              <a:ext cx="2286000" cy="838200"/>
            </a:xfrm>
            <a:custGeom>
              <a:avLst/>
              <a:gdLst/>
              <a:ahLst/>
              <a:cxnLst/>
              <a:rect l="l" t="t" r="r" b="b"/>
              <a:pathLst>
                <a:path w="2286000" h="838200" extrusionOk="0">
                  <a:moveTo>
                    <a:pt x="1143000" y="0"/>
                  </a:moveTo>
                  <a:lnTo>
                    <a:pt x="1211797" y="689"/>
                  </a:lnTo>
                  <a:lnTo>
                    <a:pt x="1279335" y="2733"/>
                  </a:lnTo>
                  <a:lnTo>
                    <a:pt x="1345519" y="6099"/>
                  </a:lnTo>
                  <a:lnTo>
                    <a:pt x="1410255" y="10752"/>
                  </a:lnTo>
                  <a:lnTo>
                    <a:pt x="1473450" y="16657"/>
                  </a:lnTo>
                  <a:lnTo>
                    <a:pt x="1535010" y="23780"/>
                  </a:lnTo>
                  <a:lnTo>
                    <a:pt x="1594842" y="32087"/>
                  </a:lnTo>
                  <a:lnTo>
                    <a:pt x="1652851" y="41543"/>
                  </a:lnTo>
                  <a:lnTo>
                    <a:pt x="1708944" y="52114"/>
                  </a:lnTo>
                  <a:lnTo>
                    <a:pt x="1763027" y="63766"/>
                  </a:lnTo>
                  <a:lnTo>
                    <a:pt x="1815007" y="76463"/>
                  </a:lnTo>
                  <a:lnTo>
                    <a:pt x="1864789" y="90173"/>
                  </a:lnTo>
                  <a:lnTo>
                    <a:pt x="1912280" y="104860"/>
                  </a:lnTo>
                  <a:lnTo>
                    <a:pt x="1957387" y="120491"/>
                  </a:lnTo>
                  <a:lnTo>
                    <a:pt x="2000015" y="137030"/>
                  </a:lnTo>
                  <a:lnTo>
                    <a:pt x="2040071" y="154443"/>
                  </a:lnTo>
                  <a:lnTo>
                    <a:pt x="2077461" y="172697"/>
                  </a:lnTo>
                  <a:lnTo>
                    <a:pt x="2112092" y="191756"/>
                  </a:lnTo>
                  <a:lnTo>
                    <a:pt x="2172699" y="232154"/>
                  </a:lnTo>
                  <a:lnTo>
                    <a:pt x="2221143" y="275362"/>
                  </a:lnTo>
                  <a:lnTo>
                    <a:pt x="2256675" y="321106"/>
                  </a:lnTo>
                  <a:lnTo>
                    <a:pt x="2278543" y="369110"/>
                  </a:lnTo>
                  <a:lnTo>
                    <a:pt x="2286000" y="419100"/>
                  </a:lnTo>
                  <a:lnTo>
                    <a:pt x="2284120" y="444325"/>
                  </a:lnTo>
                  <a:lnTo>
                    <a:pt x="2269364" y="493356"/>
                  </a:lnTo>
                  <a:lnTo>
                    <a:pt x="2240570" y="540265"/>
                  </a:lnTo>
                  <a:lnTo>
                    <a:pt x="2198489" y="584775"/>
                  </a:lnTo>
                  <a:lnTo>
                    <a:pt x="2143869" y="626612"/>
                  </a:lnTo>
                  <a:lnTo>
                    <a:pt x="2077461" y="665502"/>
                  </a:lnTo>
                  <a:lnTo>
                    <a:pt x="2040071" y="683756"/>
                  </a:lnTo>
                  <a:lnTo>
                    <a:pt x="2000015" y="701169"/>
                  </a:lnTo>
                  <a:lnTo>
                    <a:pt x="1957387" y="717708"/>
                  </a:lnTo>
                  <a:lnTo>
                    <a:pt x="1912280" y="733339"/>
                  </a:lnTo>
                  <a:lnTo>
                    <a:pt x="1864789" y="748026"/>
                  </a:lnTo>
                  <a:lnTo>
                    <a:pt x="1815007" y="761736"/>
                  </a:lnTo>
                  <a:lnTo>
                    <a:pt x="1763027" y="774433"/>
                  </a:lnTo>
                  <a:lnTo>
                    <a:pt x="1708944" y="786085"/>
                  </a:lnTo>
                  <a:lnTo>
                    <a:pt x="1652851" y="796656"/>
                  </a:lnTo>
                  <a:lnTo>
                    <a:pt x="1594842" y="806112"/>
                  </a:lnTo>
                  <a:lnTo>
                    <a:pt x="1535010" y="814419"/>
                  </a:lnTo>
                  <a:lnTo>
                    <a:pt x="1473450" y="821542"/>
                  </a:lnTo>
                  <a:lnTo>
                    <a:pt x="1410255" y="827447"/>
                  </a:lnTo>
                  <a:lnTo>
                    <a:pt x="1345519" y="832100"/>
                  </a:lnTo>
                  <a:lnTo>
                    <a:pt x="1279335" y="835466"/>
                  </a:lnTo>
                  <a:lnTo>
                    <a:pt x="1211797" y="837510"/>
                  </a:lnTo>
                  <a:lnTo>
                    <a:pt x="1143000" y="838200"/>
                  </a:lnTo>
                  <a:lnTo>
                    <a:pt x="1074202" y="837510"/>
                  </a:lnTo>
                  <a:lnTo>
                    <a:pt x="1006664" y="835466"/>
                  </a:lnTo>
                  <a:lnTo>
                    <a:pt x="940480" y="832100"/>
                  </a:lnTo>
                  <a:lnTo>
                    <a:pt x="875744" y="827447"/>
                  </a:lnTo>
                  <a:lnTo>
                    <a:pt x="812549" y="821542"/>
                  </a:lnTo>
                  <a:lnTo>
                    <a:pt x="750989" y="814419"/>
                  </a:lnTo>
                  <a:lnTo>
                    <a:pt x="691157" y="806112"/>
                  </a:lnTo>
                  <a:lnTo>
                    <a:pt x="633148" y="796656"/>
                  </a:lnTo>
                  <a:lnTo>
                    <a:pt x="577055" y="786085"/>
                  </a:lnTo>
                  <a:lnTo>
                    <a:pt x="522972" y="774433"/>
                  </a:lnTo>
                  <a:lnTo>
                    <a:pt x="470992" y="761736"/>
                  </a:lnTo>
                  <a:lnTo>
                    <a:pt x="421210" y="748026"/>
                  </a:lnTo>
                  <a:lnTo>
                    <a:pt x="373719" y="733339"/>
                  </a:lnTo>
                  <a:lnTo>
                    <a:pt x="328612" y="717708"/>
                  </a:lnTo>
                  <a:lnTo>
                    <a:pt x="285984" y="701169"/>
                  </a:lnTo>
                  <a:lnTo>
                    <a:pt x="245928" y="683756"/>
                  </a:lnTo>
                  <a:lnTo>
                    <a:pt x="208538" y="665502"/>
                  </a:lnTo>
                  <a:lnTo>
                    <a:pt x="173907" y="646443"/>
                  </a:lnTo>
                  <a:lnTo>
                    <a:pt x="113300" y="606045"/>
                  </a:lnTo>
                  <a:lnTo>
                    <a:pt x="64856" y="562837"/>
                  </a:lnTo>
                  <a:lnTo>
                    <a:pt x="29324" y="517093"/>
                  </a:lnTo>
                  <a:lnTo>
                    <a:pt x="7456" y="469089"/>
                  </a:lnTo>
                  <a:lnTo>
                    <a:pt x="0" y="419100"/>
                  </a:lnTo>
                  <a:lnTo>
                    <a:pt x="1879" y="393874"/>
                  </a:lnTo>
                  <a:lnTo>
                    <a:pt x="16635" y="344843"/>
                  </a:lnTo>
                  <a:lnTo>
                    <a:pt x="45429" y="297934"/>
                  </a:lnTo>
                  <a:lnTo>
                    <a:pt x="87510" y="253424"/>
                  </a:lnTo>
                  <a:lnTo>
                    <a:pt x="142130" y="211587"/>
                  </a:lnTo>
                  <a:lnTo>
                    <a:pt x="208538" y="172697"/>
                  </a:lnTo>
                  <a:lnTo>
                    <a:pt x="245928" y="154443"/>
                  </a:lnTo>
                  <a:lnTo>
                    <a:pt x="285984" y="137030"/>
                  </a:lnTo>
                  <a:lnTo>
                    <a:pt x="328612" y="120491"/>
                  </a:lnTo>
                  <a:lnTo>
                    <a:pt x="373719" y="104860"/>
                  </a:lnTo>
                  <a:lnTo>
                    <a:pt x="421210" y="90173"/>
                  </a:lnTo>
                  <a:lnTo>
                    <a:pt x="470992" y="76463"/>
                  </a:lnTo>
                  <a:lnTo>
                    <a:pt x="522972" y="63766"/>
                  </a:lnTo>
                  <a:lnTo>
                    <a:pt x="577055" y="52114"/>
                  </a:lnTo>
                  <a:lnTo>
                    <a:pt x="633148" y="41543"/>
                  </a:lnTo>
                  <a:lnTo>
                    <a:pt x="691157" y="32087"/>
                  </a:lnTo>
                  <a:lnTo>
                    <a:pt x="750989" y="23780"/>
                  </a:lnTo>
                  <a:lnTo>
                    <a:pt x="812549" y="16657"/>
                  </a:lnTo>
                  <a:lnTo>
                    <a:pt x="875744" y="10752"/>
                  </a:lnTo>
                  <a:lnTo>
                    <a:pt x="940480" y="6099"/>
                  </a:lnTo>
                  <a:lnTo>
                    <a:pt x="1006664" y="2733"/>
                  </a:lnTo>
                  <a:lnTo>
                    <a:pt x="1074202" y="689"/>
                  </a:lnTo>
                  <a:lnTo>
                    <a:pt x="1143000" y="0"/>
                  </a:lnTo>
                  <a:close/>
                </a:path>
                <a:path w="2286000" h="838200" extrusionOk="0">
                  <a:moveTo>
                    <a:pt x="0" y="0"/>
                  </a:moveTo>
                  <a:lnTo>
                    <a:pt x="0" y="0"/>
                  </a:lnTo>
                </a:path>
                <a:path w="2286000" h="838200" extrusionOk="0">
                  <a:moveTo>
                    <a:pt x="2286000" y="838200"/>
                  </a:moveTo>
                  <a:lnTo>
                    <a:pt x="2286000" y="838200"/>
                  </a:lnTo>
                </a:path>
              </a:pathLst>
            </a:custGeom>
            <a:solidFill>
              <a:srgbClr val="DAE5F1"/>
            </a:solidFill>
            <a:ln w="1257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5" name="Google Shape;725;p66"/>
          <p:cNvSpPr txBox="1"/>
          <p:nvPr/>
        </p:nvSpPr>
        <p:spPr>
          <a:xfrm>
            <a:off x="5963920" y="2463800"/>
            <a:ext cx="1417320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10184" marR="5080" lvl="0" indent="-19812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subproblem 2  of size </a:t>
            </a:r>
            <a:r>
              <a:rPr lang="en-US" sz="2000" b="0" i="1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0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/2</a:t>
            </a:r>
            <a:endParaRPr sz="2000" b="0" i="0" u="none" strike="noStrike" cap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726" name="Google Shape;726;p66"/>
          <p:cNvGrpSpPr/>
          <p:nvPr/>
        </p:nvGrpSpPr>
        <p:grpSpPr>
          <a:xfrm>
            <a:off x="1219200" y="2362200"/>
            <a:ext cx="2286000" cy="838200"/>
            <a:chOff x="1219200" y="2362200"/>
            <a:chExt cx="2286000" cy="838200"/>
          </a:xfrm>
        </p:grpSpPr>
        <p:sp>
          <p:nvSpPr>
            <p:cNvPr id="727" name="Google Shape;727;p66"/>
            <p:cNvSpPr/>
            <p:nvPr/>
          </p:nvSpPr>
          <p:spPr>
            <a:xfrm>
              <a:off x="1219200" y="2362200"/>
              <a:ext cx="2286000" cy="838200"/>
            </a:xfrm>
            <a:custGeom>
              <a:avLst/>
              <a:gdLst/>
              <a:ahLst/>
              <a:cxnLst/>
              <a:rect l="l" t="t" r="r" b="b"/>
              <a:pathLst>
                <a:path w="2286000" h="838200" extrusionOk="0">
                  <a:moveTo>
                    <a:pt x="1143000" y="0"/>
                  </a:moveTo>
                  <a:lnTo>
                    <a:pt x="1074202" y="689"/>
                  </a:lnTo>
                  <a:lnTo>
                    <a:pt x="1006664" y="2733"/>
                  </a:lnTo>
                  <a:lnTo>
                    <a:pt x="940480" y="6099"/>
                  </a:lnTo>
                  <a:lnTo>
                    <a:pt x="875744" y="10752"/>
                  </a:lnTo>
                  <a:lnTo>
                    <a:pt x="812549" y="16657"/>
                  </a:lnTo>
                  <a:lnTo>
                    <a:pt x="750989" y="23780"/>
                  </a:lnTo>
                  <a:lnTo>
                    <a:pt x="691157" y="32087"/>
                  </a:lnTo>
                  <a:lnTo>
                    <a:pt x="633148" y="41543"/>
                  </a:lnTo>
                  <a:lnTo>
                    <a:pt x="577055" y="52114"/>
                  </a:lnTo>
                  <a:lnTo>
                    <a:pt x="522972" y="63766"/>
                  </a:lnTo>
                  <a:lnTo>
                    <a:pt x="470992" y="76463"/>
                  </a:lnTo>
                  <a:lnTo>
                    <a:pt x="421210" y="90173"/>
                  </a:lnTo>
                  <a:lnTo>
                    <a:pt x="373719" y="104860"/>
                  </a:lnTo>
                  <a:lnTo>
                    <a:pt x="328612" y="120491"/>
                  </a:lnTo>
                  <a:lnTo>
                    <a:pt x="285984" y="137030"/>
                  </a:lnTo>
                  <a:lnTo>
                    <a:pt x="245928" y="154443"/>
                  </a:lnTo>
                  <a:lnTo>
                    <a:pt x="208538" y="172697"/>
                  </a:lnTo>
                  <a:lnTo>
                    <a:pt x="173907" y="191756"/>
                  </a:lnTo>
                  <a:lnTo>
                    <a:pt x="113300" y="232154"/>
                  </a:lnTo>
                  <a:lnTo>
                    <a:pt x="64856" y="275362"/>
                  </a:lnTo>
                  <a:lnTo>
                    <a:pt x="29324" y="321106"/>
                  </a:lnTo>
                  <a:lnTo>
                    <a:pt x="7456" y="369110"/>
                  </a:lnTo>
                  <a:lnTo>
                    <a:pt x="0" y="419100"/>
                  </a:lnTo>
                  <a:lnTo>
                    <a:pt x="1879" y="444325"/>
                  </a:lnTo>
                  <a:lnTo>
                    <a:pt x="16635" y="493356"/>
                  </a:lnTo>
                  <a:lnTo>
                    <a:pt x="45429" y="540265"/>
                  </a:lnTo>
                  <a:lnTo>
                    <a:pt x="87510" y="584775"/>
                  </a:lnTo>
                  <a:lnTo>
                    <a:pt x="142130" y="626612"/>
                  </a:lnTo>
                  <a:lnTo>
                    <a:pt x="208538" y="665502"/>
                  </a:lnTo>
                  <a:lnTo>
                    <a:pt x="245928" y="683756"/>
                  </a:lnTo>
                  <a:lnTo>
                    <a:pt x="285984" y="701169"/>
                  </a:lnTo>
                  <a:lnTo>
                    <a:pt x="328612" y="717708"/>
                  </a:lnTo>
                  <a:lnTo>
                    <a:pt x="373719" y="733339"/>
                  </a:lnTo>
                  <a:lnTo>
                    <a:pt x="421210" y="748026"/>
                  </a:lnTo>
                  <a:lnTo>
                    <a:pt x="470992" y="761736"/>
                  </a:lnTo>
                  <a:lnTo>
                    <a:pt x="522972" y="774433"/>
                  </a:lnTo>
                  <a:lnTo>
                    <a:pt x="577055" y="786085"/>
                  </a:lnTo>
                  <a:lnTo>
                    <a:pt x="633148" y="796656"/>
                  </a:lnTo>
                  <a:lnTo>
                    <a:pt x="691157" y="806112"/>
                  </a:lnTo>
                  <a:lnTo>
                    <a:pt x="750989" y="814419"/>
                  </a:lnTo>
                  <a:lnTo>
                    <a:pt x="812549" y="821542"/>
                  </a:lnTo>
                  <a:lnTo>
                    <a:pt x="875744" y="827447"/>
                  </a:lnTo>
                  <a:lnTo>
                    <a:pt x="940480" y="832100"/>
                  </a:lnTo>
                  <a:lnTo>
                    <a:pt x="1006664" y="835466"/>
                  </a:lnTo>
                  <a:lnTo>
                    <a:pt x="1074202" y="837510"/>
                  </a:lnTo>
                  <a:lnTo>
                    <a:pt x="1143000" y="838200"/>
                  </a:lnTo>
                  <a:lnTo>
                    <a:pt x="1211797" y="837510"/>
                  </a:lnTo>
                  <a:lnTo>
                    <a:pt x="1279335" y="835466"/>
                  </a:lnTo>
                  <a:lnTo>
                    <a:pt x="1345519" y="832100"/>
                  </a:lnTo>
                  <a:lnTo>
                    <a:pt x="1410255" y="827447"/>
                  </a:lnTo>
                  <a:lnTo>
                    <a:pt x="1473450" y="821542"/>
                  </a:lnTo>
                  <a:lnTo>
                    <a:pt x="1535010" y="814419"/>
                  </a:lnTo>
                  <a:lnTo>
                    <a:pt x="1594842" y="806112"/>
                  </a:lnTo>
                  <a:lnTo>
                    <a:pt x="1652851" y="796656"/>
                  </a:lnTo>
                  <a:lnTo>
                    <a:pt x="1708944" y="786085"/>
                  </a:lnTo>
                  <a:lnTo>
                    <a:pt x="1763027" y="774433"/>
                  </a:lnTo>
                  <a:lnTo>
                    <a:pt x="1815007" y="761736"/>
                  </a:lnTo>
                  <a:lnTo>
                    <a:pt x="1864789" y="748026"/>
                  </a:lnTo>
                  <a:lnTo>
                    <a:pt x="1912280" y="733339"/>
                  </a:lnTo>
                  <a:lnTo>
                    <a:pt x="1957387" y="717708"/>
                  </a:lnTo>
                  <a:lnTo>
                    <a:pt x="2000015" y="701169"/>
                  </a:lnTo>
                  <a:lnTo>
                    <a:pt x="2040071" y="683756"/>
                  </a:lnTo>
                  <a:lnTo>
                    <a:pt x="2077461" y="665502"/>
                  </a:lnTo>
                  <a:lnTo>
                    <a:pt x="2112092" y="646443"/>
                  </a:lnTo>
                  <a:lnTo>
                    <a:pt x="2172699" y="606045"/>
                  </a:lnTo>
                  <a:lnTo>
                    <a:pt x="2221143" y="562837"/>
                  </a:lnTo>
                  <a:lnTo>
                    <a:pt x="2256675" y="517093"/>
                  </a:lnTo>
                  <a:lnTo>
                    <a:pt x="2278543" y="469089"/>
                  </a:lnTo>
                  <a:lnTo>
                    <a:pt x="2286000" y="419100"/>
                  </a:lnTo>
                  <a:lnTo>
                    <a:pt x="2284120" y="393874"/>
                  </a:lnTo>
                  <a:lnTo>
                    <a:pt x="2269364" y="344843"/>
                  </a:lnTo>
                  <a:lnTo>
                    <a:pt x="2240570" y="297934"/>
                  </a:lnTo>
                  <a:lnTo>
                    <a:pt x="2198489" y="253424"/>
                  </a:lnTo>
                  <a:lnTo>
                    <a:pt x="2143869" y="211587"/>
                  </a:lnTo>
                  <a:lnTo>
                    <a:pt x="2077461" y="172697"/>
                  </a:lnTo>
                  <a:lnTo>
                    <a:pt x="2040071" y="154443"/>
                  </a:lnTo>
                  <a:lnTo>
                    <a:pt x="2000015" y="137030"/>
                  </a:lnTo>
                  <a:lnTo>
                    <a:pt x="1957387" y="120491"/>
                  </a:lnTo>
                  <a:lnTo>
                    <a:pt x="1912280" y="104860"/>
                  </a:lnTo>
                  <a:lnTo>
                    <a:pt x="1864789" y="90173"/>
                  </a:lnTo>
                  <a:lnTo>
                    <a:pt x="1815007" y="76463"/>
                  </a:lnTo>
                  <a:lnTo>
                    <a:pt x="1763027" y="63766"/>
                  </a:lnTo>
                  <a:lnTo>
                    <a:pt x="1708944" y="52114"/>
                  </a:lnTo>
                  <a:lnTo>
                    <a:pt x="1652851" y="41543"/>
                  </a:lnTo>
                  <a:lnTo>
                    <a:pt x="1594842" y="32087"/>
                  </a:lnTo>
                  <a:lnTo>
                    <a:pt x="1535010" y="23780"/>
                  </a:lnTo>
                  <a:lnTo>
                    <a:pt x="1473450" y="16657"/>
                  </a:lnTo>
                  <a:lnTo>
                    <a:pt x="1410255" y="10752"/>
                  </a:lnTo>
                  <a:lnTo>
                    <a:pt x="1345519" y="6099"/>
                  </a:lnTo>
                  <a:lnTo>
                    <a:pt x="1279335" y="2733"/>
                  </a:lnTo>
                  <a:lnTo>
                    <a:pt x="1211797" y="689"/>
                  </a:lnTo>
                  <a:lnTo>
                    <a:pt x="1143000" y="0"/>
                  </a:lnTo>
                  <a:close/>
                </a:path>
              </a:pathLst>
            </a:custGeom>
            <a:solidFill>
              <a:srgbClr val="DAE5F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66"/>
            <p:cNvSpPr/>
            <p:nvPr/>
          </p:nvSpPr>
          <p:spPr>
            <a:xfrm>
              <a:off x="1219200" y="2362200"/>
              <a:ext cx="2286000" cy="838200"/>
            </a:xfrm>
            <a:custGeom>
              <a:avLst/>
              <a:gdLst/>
              <a:ahLst/>
              <a:cxnLst/>
              <a:rect l="l" t="t" r="r" b="b"/>
              <a:pathLst>
                <a:path w="2286000" h="838200" extrusionOk="0">
                  <a:moveTo>
                    <a:pt x="1143000" y="0"/>
                  </a:moveTo>
                  <a:lnTo>
                    <a:pt x="1211797" y="689"/>
                  </a:lnTo>
                  <a:lnTo>
                    <a:pt x="1279335" y="2733"/>
                  </a:lnTo>
                  <a:lnTo>
                    <a:pt x="1345519" y="6099"/>
                  </a:lnTo>
                  <a:lnTo>
                    <a:pt x="1410255" y="10752"/>
                  </a:lnTo>
                  <a:lnTo>
                    <a:pt x="1473450" y="16657"/>
                  </a:lnTo>
                  <a:lnTo>
                    <a:pt x="1535010" y="23780"/>
                  </a:lnTo>
                  <a:lnTo>
                    <a:pt x="1594842" y="32087"/>
                  </a:lnTo>
                  <a:lnTo>
                    <a:pt x="1652851" y="41543"/>
                  </a:lnTo>
                  <a:lnTo>
                    <a:pt x="1708944" y="52114"/>
                  </a:lnTo>
                  <a:lnTo>
                    <a:pt x="1763027" y="63766"/>
                  </a:lnTo>
                  <a:lnTo>
                    <a:pt x="1815007" y="76463"/>
                  </a:lnTo>
                  <a:lnTo>
                    <a:pt x="1864789" y="90173"/>
                  </a:lnTo>
                  <a:lnTo>
                    <a:pt x="1912280" y="104860"/>
                  </a:lnTo>
                  <a:lnTo>
                    <a:pt x="1957387" y="120491"/>
                  </a:lnTo>
                  <a:lnTo>
                    <a:pt x="2000015" y="137030"/>
                  </a:lnTo>
                  <a:lnTo>
                    <a:pt x="2040071" y="154443"/>
                  </a:lnTo>
                  <a:lnTo>
                    <a:pt x="2077461" y="172697"/>
                  </a:lnTo>
                  <a:lnTo>
                    <a:pt x="2112092" y="191756"/>
                  </a:lnTo>
                  <a:lnTo>
                    <a:pt x="2172699" y="232154"/>
                  </a:lnTo>
                  <a:lnTo>
                    <a:pt x="2221143" y="275362"/>
                  </a:lnTo>
                  <a:lnTo>
                    <a:pt x="2256675" y="321106"/>
                  </a:lnTo>
                  <a:lnTo>
                    <a:pt x="2278543" y="369110"/>
                  </a:lnTo>
                  <a:lnTo>
                    <a:pt x="2286000" y="419100"/>
                  </a:lnTo>
                  <a:lnTo>
                    <a:pt x="2284120" y="444325"/>
                  </a:lnTo>
                  <a:lnTo>
                    <a:pt x="2269364" y="493356"/>
                  </a:lnTo>
                  <a:lnTo>
                    <a:pt x="2240570" y="540265"/>
                  </a:lnTo>
                  <a:lnTo>
                    <a:pt x="2198489" y="584775"/>
                  </a:lnTo>
                  <a:lnTo>
                    <a:pt x="2143869" y="626612"/>
                  </a:lnTo>
                  <a:lnTo>
                    <a:pt x="2077461" y="665502"/>
                  </a:lnTo>
                  <a:lnTo>
                    <a:pt x="2040071" y="683756"/>
                  </a:lnTo>
                  <a:lnTo>
                    <a:pt x="2000015" y="701169"/>
                  </a:lnTo>
                  <a:lnTo>
                    <a:pt x="1957387" y="717708"/>
                  </a:lnTo>
                  <a:lnTo>
                    <a:pt x="1912280" y="733339"/>
                  </a:lnTo>
                  <a:lnTo>
                    <a:pt x="1864789" y="748026"/>
                  </a:lnTo>
                  <a:lnTo>
                    <a:pt x="1815007" y="761736"/>
                  </a:lnTo>
                  <a:lnTo>
                    <a:pt x="1763027" y="774433"/>
                  </a:lnTo>
                  <a:lnTo>
                    <a:pt x="1708944" y="786085"/>
                  </a:lnTo>
                  <a:lnTo>
                    <a:pt x="1652851" y="796656"/>
                  </a:lnTo>
                  <a:lnTo>
                    <a:pt x="1594842" y="806112"/>
                  </a:lnTo>
                  <a:lnTo>
                    <a:pt x="1535010" y="814419"/>
                  </a:lnTo>
                  <a:lnTo>
                    <a:pt x="1473450" y="821542"/>
                  </a:lnTo>
                  <a:lnTo>
                    <a:pt x="1410255" y="827447"/>
                  </a:lnTo>
                  <a:lnTo>
                    <a:pt x="1345519" y="832100"/>
                  </a:lnTo>
                  <a:lnTo>
                    <a:pt x="1279335" y="835466"/>
                  </a:lnTo>
                  <a:lnTo>
                    <a:pt x="1211797" y="837510"/>
                  </a:lnTo>
                  <a:lnTo>
                    <a:pt x="1143000" y="838200"/>
                  </a:lnTo>
                  <a:lnTo>
                    <a:pt x="1074202" y="837510"/>
                  </a:lnTo>
                  <a:lnTo>
                    <a:pt x="1006664" y="835466"/>
                  </a:lnTo>
                  <a:lnTo>
                    <a:pt x="940480" y="832100"/>
                  </a:lnTo>
                  <a:lnTo>
                    <a:pt x="875744" y="827447"/>
                  </a:lnTo>
                  <a:lnTo>
                    <a:pt x="812549" y="821542"/>
                  </a:lnTo>
                  <a:lnTo>
                    <a:pt x="750989" y="814419"/>
                  </a:lnTo>
                  <a:lnTo>
                    <a:pt x="691157" y="806112"/>
                  </a:lnTo>
                  <a:lnTo>
                    <a:pt x="633148" y="796656"/>
                  </a:lnTo>
                  <a:lnTo>
                    <a:pt x="577055" y="786085"/>
                  </a:lnTo>
                  <a:lnTo>
                    <a:pt x="522972" y="774433"/>
                  </a:lnTo>
                  <a:lnTo>
                    <a:pt x="470992" y="761736"/>
                  </a:lnTo>
                  <a:lnTo>
                    <a:pt x="421210" y="748026"/>
                  </a:lnTo>
                  <a:lnTo>
                    <a:pt x="373719" y="733339"/>
                  </a:lnTo>
                  <a:lnTo>
                    <a:pt x="328612" y="717708"/>
                  </a:lnTo>
                  <a:lnTo>
                    <a:pt x="285984" y="701169"/>
                  </a:lnTo>
                  <a:lnTo>
                    <a:pt x="245928" y="683756"/>
                  </a:lnTo>
                  <a:lnTo>
                    <a:pt x="208538" y="665502"/>
                  </a:lnTo>
                  <a:lnTo>
                    <a:pt x="173907" y="646443"/>
                  </a:lnTo>
                  <a:lnTo>
                    <a:pt x="113300" y="606045"/>
                  </a:lnTo>
                  <a:lnTo>
                    <a:pt x="64856" y="562837"/>
                  </a:lnTo>
                  <a:lnTo>
                    <a:pt x="29324" y="517093"/>
                  </a:lnTo>
                  <a:lnTo>
                    <a:pt x="7456" y="469089"/>
                  </a:lnTo>
                  <a:lnTo>
                    <a:pt x="0" y="419100"/>
                  </a:lnTo>
                  <a:lnTo>
                    <a:pt x="1879" y="393874"/>
                  </a:lnTo>
                  <a:lnTo>
                    <a:pt x="16635" y="344843"/>
                  </a:lnTo>
                  <a:lnTo>
                    <a:pt x="45429" y="297934"/>
                  </a:lnTo>
                  <a:lnTo>
                    <a:pt x="87510" y="253424"/>
                  </a:lnTo>
                  <a:lnTo>
                    <a:pt x="142130" y="211587"/>
                  </a:lnTo>
                  <a:lnTo>
                    <a:pt x="208538" y="172697"/>
                  </a:lnTo>
                  <a:lnTo>
                    <a:pt x="245928" y="154443"/>
                  </a:lnTo>
                  <a:lnTo>
                    <a:pt x="285984" y="137030"/>
                  </a:lnTo>
                  <a:lnTo>
                    <a:pt x="328612" y="120491"/>
                  </a:lnTo>
                  <a:lnTo>
                    <a:pt x="373719" y="104860"/>
                  </a:lnTo>
                  <a:lnTo>
                    <a:pt x="421210" y="90173"/>
                  </a:lnTo>
                  <a:lnTo>
                    <a:pt x="470992" y="76463"/>
                  </a:lnTo>
                  <a:lnTo>
                    <a:pt x="522972" y="63766"/>
                  </a:lnTo>
                  <a:lnTo>
                    <a:pt x="577055" y="52114"/>
                  </a:lnTo>
                  <a:lnTo>
                    <a:pt x="633148" y="41543"/>
                  </a:lnTo>
                  <a:lnTo>
                    <a:pt x="691157" y="32087"/>
                  </a:lnTo>
                  <a:lnTo>
                    <a:pt x="750989" y="23780"/>
                  </a:lnTo>
                  <a:lnTo>
                    <a:pt x="812549" y="16657"/>
                  </a:lnTo>
                  <a:lnTo>
                    <a:pt x="875744" y="10752"/>
                  </a:lnTo>
                  <a:lnTo>
                    <a:pt x="940480" y="6099"/>
                  </a:lnTo>
                  <a:lnTo>
                    <a:pt x="1006664" y="2733"/>
                  </a:lnTo>
                  <a:lnTo>
                    <a:pt x="1074202" y="689"/>
                  </a:lnTo>
                  <a:lnTo>
                    <a:pt x="1143000" y="0"/>
                  </a:lnTo>
                  <a:close/>
                </a:path>
                <a:path w="2286000" h="838200" extrusionOk="0">
                  <a:moveTo>
                    <a:pt x="0" y="0"/>
                  </a:moveTo>
                  <a:lnTo>
                    <a:pt x="0" y="0"/>
                  </a:lnTo>
                </a:path>
                <a:path w="2286000" h="838200" extrusionOk="0">
                  <a:moveTo>
                    <a:pt x="2286000" y="838200"/>
                  </a:moveTo>
                  <a:lnTo>
                    <a:pt x="2286000" y="838200"/>
                  </a:lnTo>
                </a:path>
              </a:pathLst>
            </a:custGeom>
            <a:solidFill>
              <a:srgbClr val="DAE5F1"/>
            </a:solidFill>
            <a:ln w="1257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9" name="Google Shape;729;p66"/>
          <p:cNvSpPr txBox="1"/>
          <p:nvPr/>
        </p:nvSpPr>
        <p:spPr>
          <a:xfrm>
            <a:off x="1620519" y="2463800"/>
            <a:ext cx="1417320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10184" marR="5080" lvl="0" indent="-19812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subproblem 1  of size </a:t>
            </a:r>
            <a:r>
              <a:rPr lang="en-US" sz="2000" b="0" i="1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0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/2</a:t>
            </a:r>
            <a:endParaRPr sz="2000" b="0" i="0" u="none" strike="noStrike" cap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0" name="Google Shape;730;p66"/>
          <p:cNvSpPr/>
          <p:nvPr/>
        </p:nvSpPr>
        <p:spPr>
          <a:xfrm>
            <a:off x="1219200" y="3657600"/>
            <a:ext cx="2286000" cy="685800"/>
          </a:xfrm>
          <a:custGeom>
            <a:avLst/>
            <a:gdLst/>
            <a:ahLst/>
            <a:cxnLst/>
            <a:rect l="l" t="t" r="r" b="b"/>
            <a:pathLst>
              <a:path w="2286000" h="685800" extrusionOk="0">
                <a:moveTo>
                  <a:pt x="2286000" y="0"/>
                </a:moveTo>
                <a:lnTo>
                  <a:pt x="0" y="0"/>
                </a:lnTo>
                <a:lnTo>
                  <a:pt x="0" y="685800"/>
                </a:lnTo>
                <a:lnTo>
                  <a:pt x="1143000" y="685800"/>
                </a:lnTo>
                <a:lnTo>
                  <a:pt x="2286000" y="685800"/>
                </a:lnTo>
                <a:lnTo>
                  <a:pt x="2286000" y="0"/>
                </a:lnTo>
                <a:close/>
              </a:path>
            </a:pathLst>
          </a:custGeom>
          <a:solidFill>
            <a:srgbClr val="0099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66"/>
          <p:cNvSpPr txBox="1"/>
          <p:nvPr/>
        </p:nvSpPr>
        <p:spPr>
          <a:xfrm>
            <a:off x="1219200" y="3657600"/>
            <a:ext cx="2286000" cy="654025"/>
          </a:xfrm>
          <a:prstGeom prst="rect">
            <a:avLst/>
          </a:prstGeom>
          <a:solidFill>
            <a:srgbClr val="DAE5F1"/>
          </a:solidFill>
          <a:ln w="12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38100" rIns="0" bIns="0" anchor="t" anchorCtr="0">
            <a:spAutoFit/>
          </a:bodyPr>
          <a:lstStyle/>
          <a:p>
            <a:pPr marL="445134" marR="440690" lvl="0" indent="3555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solution to  subproblem 1</a:t>
            </a:r>
            <a:endParaRPr sz="2000" b="0" i="0" u="none" strike="noStrike" cap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2" name="Google Shape;732;p66"/>
          <p:cNvSpPr/>
          <p:nvPr/>
        </p:nvSpPr>
        <p:spPr>
          <a:xfrm>
            <a:off x="3429000" y="5410200"/>
            <a:ext cx="2286000" cy="685800"/>
          </a:xfrm>
          <a:custGeom>
            <a:avLst/>
            <a:gdLst/>
            <a:ahLst/>
            <a:cxnLst/>
            <a:rect l="l" t="t" r="r" b="b"/>
            <a:pathLst>
              <a:path w="2286000" h="685800" extrusionOk="0">
                <a:moveTo>
                  <a:pt x="2286000" y="0"/>
                </a:moveTo>
                <a:lnTo>
                  <a:pt x="0" y="0"/>
                </a:lnTo>
                <a:lnTo>
                  <a:pt x="0" y="685800"/>
                </a:lnTo>
                <a:lnTo>
                  <a:pt x="1143000" y="685800"/>
                </a:lnTo>
                <a:lnTo>
                  <a:pt x="2286000" y="685800"/>
                </a:lnTo>
                <a:lnTo>
                  <a:pt x="2286000" y="0"/>
                </a:lnTo>
                <a:close/>
              </a:path>
            </a:pathLst>
          </a:custGeom>
          <a:solidFill>
            <a:srgbClr val="0099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66"/>
          <p:cNvSpPr txBox="1"/>
          <p:nvPr/>
        </p:nvSpPr>
        <p:spPr>
          <a:xfrm>
            <a:off x="3429000" y="5410200"/>
            <a:ext cx="2286000" cy="654025"/>
          </a:xfrm>
          <a:prstGeom prst="rect">
            <a:avLst/>
          </a:prstGeom>
          <a:solidFill>
            <a:srgbClr val="DAE5F1"/>
          </a:solidFill>
          <a:ln w="12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3810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solution to</a:t>
            </a:r>
            <a:endParaRPr sz="2000" b="0" i="0" u="none" strike="noStrike" cap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original problem</a:t>
            </a:r>
            <a:endParaRPr sz="2000" b="0" i="0" u="none" strike="noStrike" cap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4" name="Google Shape;734;p66"/>
          <p:cNvSpPr/>
          <p:nvPr/>
        </p:nvSpPr>
        <p:spPr>
          <a:xfrm>
            <a:off x="5562600" y="3657600"/>
            <a:ext cx="2286000" cy="685800"/>
          </a:xfrm>
          <a:custGeom>
            <a:avLst/>
            <a:gdLst/>
            <a:ahLst/>
            <a:cxnLst/>
            <a:rect l="l" t="t" r="r" b="b"/>
            <a:pathLst>
              <a:path w="2286000" h="685800" extrusionOk="0">
                <a:moveTo>
                  <a:pt x="2286000" y="0"/>
                </a:moveTo>
                <a:lnTo>
                  <a:pt x="0" y="0"/>
                </a:lnTo>
                <a:lnTo>
                  <a:pt x="0" y="685800"/>
                </a:lnTo>
                <a:lnTo>
                  <a:pt x="1143000" y="685800"/>
                </a:lnTo>
                <a:lnTo>
                  <a:pt x="2286000" y="685800"/>
                </a:lnTo>
                <a:lnTo>
                  <a:pt x="2286000" y="0"/>
                </a:lnTo>
                <a:close/>
              </a:path>
            </a:pathLst>
          </a:custGeom>
          <a:solidFill>
            <a:srgbClr val="DAE5F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66"/>
          <p:cNvSpPr txBox="1"/>
          <p:nvPr/>
        </p:nvSpPr>
        <p:spPr>
          <a:xfrm>
            <a:off x="5562600" y="3657600"/>
            <a:ext cx="2286000" cy="654025"/>
          </a:xfrm>
          <a:prstGeom prst="rect">
            <a:avLst/>
          </a:prstGeom>
          <a:noFill/>
          <a:ln w="12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38100" rIns="0" bIns="0" anchor="t" anchorCtr="0">
            <a:spAutoFit/>
          </a:bodyPr>
          <a:lstStyle/>
          <a:p>
            <a:pPr marL="445769" marR="440690" lvl="0" indent="3556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solution to  subproblem 2</a:t>
            </a:r>
            <a:endParaRPr sz="2000" b="0" i="0" u="none" strike="noStrike" cap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736" name="Google Shape;736;p66"/>
          <p:cNvGrpSpPr/>
          <p:nvPr/>
        </p:nvGrpSpPr>
        <p:grpSpPr>
          <a:xfrm>
            <a:off x="2667000" y="1295400"/>
            <a:ext cx="3810000" cy="1082040"/>
            <a:chOff x="2667000" y="1295400"/>
            <a:chExt cx="3810000" cy="1082040"/>
          </a:xfrm>
        </p:grpSpPr>
        <p:sp>
          <p:nvSpPr>
            <p:cNvPr id="737" name="Google Shape;737;p66"/>
            <p:cNvSpPr/>
            <p:nvPr/>
          </p:nvSpPr>
          <p:spPr>
            <a:xfrm>
              <a:off x="4953000" y="2057400"/>
              <a:ext cx="1478280" cy="295910"/>
            </a:xfrm>
            <a:custGeom>
              <a:avLst/>
              <a:gdLst/>
              <a:ahLst/>
              <a:cxnLst/>
              <a:rect l="l" t="t" r="r" b="b"/>
              <a:pathLst>
                <a:path w="1478279" h="295910" extrusionOk="0">
                  <a:moveTo>
                    <a:pt x="0" y="0"/>
                  </a:moveTo>
                  <a:lnTo>
                    <a:pt x="1478279" y="295910"/>
                  </a:lnTo>
                </a:path>
              </a:pathLst>
            </a:custGeom>
            <a:solidFill>
              <a:srgbClr val="DAE5F1"/>
            </a:solidFill>
            <a:ln w="127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66"/>
            <p:cNvSpPr/>
            <p:nvPr/>
          </p:nvSpPr>
          <p:spPr>
            <a:xfrm>
              <a:off x="6422390" y="2327910"/>
              <a:ext cx="54610" cy="49530"/>
            </a:xfrm>
            <a:custGeom>
              <a:avLst/>
              <a:gdLst/>
              <a:ahLst/>
              <a:cxnLst/>
              <a:rect l="l" t="t" r="r" b="b"/>
              <a:pathLst>
                <a:path w="54610" h="49530" extrusionOk="0">
                  <a:moveTo>
                    <a:pt x="10160" y="0"/>
                  </a:moveTo>
                  <a:lnTo>
                    <a:pt x="0" y="49529"/>
                  </a:lnTo>
                  <a:lnTo>
                    <a:pt x="54610" y="34289"/>
                  </a:lnTo>
                  <a:lnTo>
                    <a:pt x="10160" y="0"/>
                  </a:lnTo>
                  <a:close/>
                </a:path>
              </a:pathLst>
            </a:custGeom>
            <a:solidFill>
              <a:srgbClr val="DAE5F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p66"/>
            <p:cNvSpPr/>
            <p:nvPr/>
          </p:nvSpPr>
          <p:spPr>
            <a:xfrm>
              <a:off x="2712719" y="2057400"/>
              <a:ext cx="1402080" cy="294640"/>
            </a:xfrm>
            <a:custGeom>
              <a:avLst/>
              <a:gdLst/>
              <a:ahLst/>
              <a:cxnLst/>
              <a:rect l="l" t="t" r="r" b="b"/>
              <a:pathLst>
                <a:path w="1402079" h="294639" extrusionOk="0">
                  <a:moveTo>
                    <a:pt x="1402080" y="0"/>
                  </a:moveTo>
                  <a:lnTo>
                    <a:pt x="0" y="294639"/>
                  </a:lnTo>
                </a:path>
              </a:pathLst>
            </a:custGeom>
            <a:solidFill>
              <a:srgbClr val="DAE5F1"/>
            </a:solidFill>
            <a:ln w="127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" name="Google Shape;740;p66"/>
            <p:cNvSpPr/>
            <p:nvPr/>
          </p:nvSpPr>
          <p:spPr>
            <a:xfrm>
              <a:off x="2667000" y="2327910"/>
              <a:ext cx="54610" cy="48260"/>
            </a:xfrm>
            <a:custGeom>
              <a:avLst/>
              <a:gdLst/>
              <a:ahLst/>
              <a:cxnLst/>
              <a:rect l="l" t="t" r="r" b="b"/>
              <a:pathLst>
                <a:path w="54610" h="48260" extrusionOk="0">
                  <a:moveTo>
                    <a:pt x="44450" y="0"/>
                  </a:moveTo>
                  <a:lnTo>
                    <a:pt x="0" y="34289"/>
                  </a:lnTo>
                  <a:lnTo>
                    <a:pt x="54610" y="48260"/>
                  </a:lnTo>
                  <a:lnTo>
                    <a:pt x="44450" y="0"/>
                  </a:lnTo>
                  <a:close/>
                </a:path>
              </a:pathLst>
            </a:custGeom>
            <a:solidFill>
              <a:srgbClr val="DAE5F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p66"/>
            <p:cNvSpPr/>
            <p:nvPr/>
          </p:nvSpPr>
          <p:spPr>
            <a:xfrm>
              <a:off x="3429000" y="1295400"/>
              <a:ext cx="2286000" cy="838200"/>
            </a:xfrm>
            <a:custGeom>
              <a:avLst/>
              <a:gdLst/>
              <a:ahLst/>
              <a:cxnLst/>
              <a:rect l="l" t="t" r="r" b="b"/>
              <a:pathLst>
                <a:path w="2286000" h="838200" extrusionOk="0">
                  <a:moveTo>
                    <a:pt x="1143000" y="0"/>
                  </a:moveTo>
                  <a:lnTo>
                    <a:pt x="1074202" y="684"/>
                  </a:lnTo>
                  <a:lnTo>
                    <a:pt x="1006664" y="2715"/>
                  </a:lnTo>
                  <a:lnTo>
                    <a:pt x="940480" y="6060"/>
                  </a:lnTo>
                  <a:lnTo>
                    <a:pt x="875744" y="10685"/>
                  </a:lnTo>
                  <a:lnTo>
                    <a:pt x="812549" y="16557"/>
                  </a:lnTo>
                  <a:lnTo>
                    <a:pt x="750989" y="23643"/>
                  </a:lnTo>
                  <a:lnTo>
                    <a:pt x="691157" y="31908"/>
                  </a:lnTo>
                  <a:lnTo>
                    <a:pt x="633148" y="41321"/>
                  </a:lnTo>
                  <a:lnTo>
                    <a:pt x="577055" y="51847"/>
                  </a:lnTo>
                  <a:lnTo>
                    <a:pt x="522972" y="63453"/>
                  </a:lnTo>
                  <a:lnTo>
                    <a:pt x="470992" y="76106"/>
                  </a:lnTo>
                  <a:lnTo>
                    <a:pt x="421210" y="89773"/>
                  </a:lnTo>
                  <a:lnTo>
                    <a:pt x="373719" y="104420"/>
                  </a:lnTo>
                  <a:lnTo>
                    <a:pt x="328612" y="120014"/>
                  </a:lnTo>
                  <a:lnTo>
                    <a:pt x="285984" y="136522"/>
                  </a:lnTo>
                  <a:lnTo>
                    <a:pt x="245928" y="153910"/>
                  </a:lnTo>
                  <a:lnTo>
                    <a:pt x="208538" y="172145"/>
                  </a:lnTo>
                  <a:lnTo>
                    <a:pt x="173907" y="191194"/>
                  </a:lnTo>
                  <a:lnTo>
                    <a:pt x="113300" y="231599"/>
                  </a:lnTo>
                  <a:lnTo>
                    <a:pt x="64856" y="274858"/>
                  </a:lnTo>
                  <a:lnTo>
                    <a:pt x="29324" y="320706"/>
                  </a:lnTo>
                  <a:lnTo>
                    <a:pt x="7456" y="368875"/>
                  </a:lnTo>
                  <a:lnTo>
                    <a:pt x="0" y="419100"/>
                  </a:lnTo>
                  <a:lnTo>
                    <a:pt x="1879" y="444325"/>
                  </a:lnTo>
                  <a:lnTo>
                    <a:pt x="16635" y="493356"/>
                  </a:lnTo>
                  <a:lnTo>
                    <a:pt x="45429" y="540265"/>
                  </a:lnTo>
                  <a:lnTo>
                    <a:pt x="87510" y="584775"/>
                  </a:lnTo>
                  <a:lnTo>
                    <a:pt x="142130" y="626612"/>
                  </a:lnTo>
                  <a:lnTo>
                    <a:pt x="208538" y="665502"/>
                  </a:lnTo>
                  <a:lnTo>
                    <a:pt x="245928" y="683756"/>
                  </a:lnTo>
                  <a:lnTo>
                    <a:pt x="285984" y="701169"/>
                  </a:lnTo>
                  <a:lnTo>
                    <a:pt x="328612" y="717708"/>
                  </a:lnTo>
                  <a:lnTo>
                    <a:pt x="373719" y="733339"/>
                  </a:lnTo>
                  <a:lnTo>
                    <a:pt x="421210" y="748026"/>
                  </a:lnTo>
                  <a:lnTo>
                    <a:pt x="470992" y="761736"/>
                  </a:lnTo>
                  <a:lnTo>
                    <a:pt x="522972" y="774433"/>
                  </a:lnTo>
                  <a:lnTo>
                    <a:pt x="577055" y="786085"/>
                  </a:lnTo>
                  <a:lnTo>
                    <a:pt x="633148" y="796656"/>
                  </a:lnTo>
                  <a:lnTo>
                    <a:pt x="691157" y="806112"/>
                  </a:lnTo>
                  <a:lnTo>
                    <a:pt x="750989" y="814419"/>
                  </a:lnTo>
                  <a:lnTo>
                    <a:pt x="812549" y="821542"/>
                  </a:lnTo>
                  <a:lnTo>
                    <a:pt x="875744" y="827447"/>
                  </a:lnTo>
                  <a:lnTo>
                    <a:pt x="940480" y="832100"/>
                  </a:lnTo>
                  <a:lnTo>
                    <a:pt x="1006664" y="835466"/>
                  </a:lnTo>
                  <a:lnTo>
                    <a:pt x="1074202" y="837510"/>
                  </a:lnTo>
                  <a:lnTo>
                    <a:pt x="1143000" y="838200"/>
                  </a:lnTo>
                  <a:lnTo>
                    <a:pt x="1211797" y="837510"/>
                  </a:lnTo>
                  <a:lnTo>
                    <a:pt x="1279335" y="835466"/>
                  </a:lnTo>
                  <a:lnTo>
                    <a:pt x="1345519" y="832100"/>
                  </a:lnTo>
                  <a:lnTo>
                    <a:pt x="1410255" y="827447"/>
                  </a:lnTo>
                  <a:lnTo>
                    <a:pt x="1473450" y="821542"/>
                  </a:lnTo>
                  <a:lnTo>
                    <a:pt x="1535010" y="814419"/>
                  </a:lnTo>
                  <a:lnTo>
                    <a:pt x="1594842" y="806112"/>
                  </a:lnTo>
                  <a:lnTo>
                    <a:pt x="1652851" y="796656"/>
                  </a:lnTo>
                  <a:lnTo>
                    <a:pt x="1708944" y="786085"/>
                  </a:lnTo>
                  <a:lnTo>
                    <a:pt x="1763027" y="774433"/>
                  </a:lnTo>
                  <a:lnTo>
                    <a:pt x="1815007" y="761736"/>
                  </a:lnTo>
                  <a:lnTo>
                    <a:pt x="1864789" y="748026"/>
                  </a:lnTo>
                  <a:lnTo>
                    <a:pt x="1912280" y="733339"/>
                  </a:lnTo>
                  <a:lnTo>
                    <a:pt x="1957387" y="717708"/>
                  </a:lnTo>
                  <a:lnTo>
                    <a:pt x="2000015" y="701169"/>
                  </a:lnTo>
                  <a:lnTo>
                    <a:pt x="2040071" y="683756"/>
                  </a:lnTo>
                  <a:lnTo>
                    <a:pt x="2077461" y="665502"/>
                  </a:lnTo>
                  <a:lnTo>
                    <a:pt x="2112092" y="646443"/>
                  </a:lnTo>
                  <a:lnTo>
                    <a:pt x="2172699" y="606045"/>
                  </a:lnTo>
                  <a:lnTo>
                    <a:pt x="2221143" y="562837"/>
                  </a:lnTo>
                  <a:lnTo>
                    <a:pt x="2256675" y="517093"/>
                  </a:lnTo>
                  <a:lnTo>
                    <a:pt x="2278543" y="469089"/>
                  </a:lnTo>
                  <a:lnTo>
                    <a:pt x="2286000" y="419100"/>
                  </a:lnTo>
                  <a:lnTo>
                    <a:pt x="2284120" y="393747"/>
                  </a:lnTo>
                  <a:lnTo>
                    <a:pt x="2269364" y="344517"/>
                  </a:lnTo>
                  <a:lnTo>
                    <a:pt x="2240570" y="297475"/>
                  </a:lnTo>
                  <a:lnTo>
                    <a:pt x="2198489" y="252888"/>
                  </a:lnTo>
                  <a:lnTo>
                    <a:pt x="2143869" y="211023"/>
                  </a:lnTo>
                  <a:lnTo>
                    <a:pt x="2077461" y="172145"/>
                  </a:lnTo>
                  <a:lnTo>
                    <a:pt x="2040071" y="153910"/>
                  </a:lnTo>
                  <a:lnTo>
                    <a:pt x="2000015" y="136522"/>
                  </a:lnTo>
                  <a:lnTo>
                    <a:pt x="1957387" y="120015"/>
                  </a:lnTo>
                  <a:lnTo>
                    <a:pt x="1912280" y="104420"/>
                  </a:lnTo>
                  <a:lnTo>
                    <a:pt x="1864789" y="89773"/>
                  </a:lnTo>
                  <a:lnTo>
                    <a:pt x="1815007" y="76106"/>
                  </a:lnTo>
                  <a:lnTo>
                    <a:pt x="1763027" y="63453"/>
                  </a:lnTo>
                  <a:lnTo>
                    <a:pt x="1708944" y="51847"/>
                  </a:lnTo>
                  <a:lnTo>
                    <a:pt x="1652851" y="41321"/>
                  </a:lnTo>
                  <a:lnTo>
                    <a:pt x="1594842" y="31908"/>
                  </a:lnTo>
                  <a:lnTo>
                    <a:pt x="1535010" y="23643"/>
                  </a:lnTo>
                  <a:lnTo>
                    <a:pt x="1473450" y="16557"/>
                  </a:lnTo>
                  <a:lnTo>
                    <a:pt x="1410255" y="10685"/>
                  </a:lnTo>
                  <a:lnTo>
                    <a:pt x="1345519" y="6060"/>
                  </a:lnTo>
                  <a:lnTo>
                    <a:pt x="1279335" y="2715"/>
                  </a:lnTo>
                  <a:lnTo>
                    <a:pt x="1211797" y="684"/>
                  </a:lnTo>
                  <a:lnTo>
                    <a:pt x="1143000" y="0"/>
                  </a:lnTo>
                  <a:close/>
                </a:path>
              </a:pathLst>
            </a:custGeom>
            <a:solidFill>
              <a:srgbClr val="DAE5F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p66"/>
            <p:cNvSpPr/>
            <p:nvPr/>
          </p:nvSpPr>
          <p:spPr>
            <a:xfrm>
              <a:off x="3429000" y="1295400"/>
              <a:ext cx="2286000" cy="838200"/>
            </a:xfrm>
            <a:custGeom>
              <a:avLst/>
              <a:gdLst/>
              <a:ahLst/>
              <a:cxnLst/>
              <a:rect l="l" t="t" r="r" b="b"/>
              <a:pathLst>
                <a:path w="2286000" h="838200" extrusionOk="0">
                  <a:moveTo>
                    <a:pt x="1143000" y="0"/>
                  </a:moveTo>
                  <a:lnTo>
                    <a:pt x="1211797" y="684"/>
                  </a:lnTo>
                  <a:lnTo>
                    <a:pt x="1279335" y="2715"/>
                  </a:lnTo>
                  <a:lnTo>
                    <a:pt x="1345519" y="6060"/>
                  </a:lnTo>
                  <a:lnTo>
                    <a:pt x="1410255" y="10685"/>
                  </a:lnTo>
                  <a:lnTo>
                    <a:pt x="1473450" y="16557"/>
                  </a:lnTo>
                  <a:lnTo>
                    <a:pt x="1535010" y="23643"/>
                  </a:lnTo>
                  <a:lnTo>
                    <a:pt x="1594842" y="31908"/>
                  </a:lnTo>
                  <a:lnTo>
                    <a:pt x="1652851" y="41321"/>
                  </a:lnTo>
                  <a:lnTo>
                    <a:pt x="1708944" y="51847"/>
                  </a:lnTo>
                  <a:lnTo>
                    <a:pt x="1763027" y="63453"/>
                  </a:lnTo>
                  <a:lnTo>
                    <a:pt x="1815007" y="76106"/>
                  </a:lnTo>
                  <a:lnTo>
                    <a:pt x="1864789" y="89773"/>
                  </a:lnTo>
                  <a:lnTo>
                    <a:pt x="1912280" y="104420"/>
                  </a:lnTo>
                  <a:lnTo>
                    <a:pt x="1957387" y="120015"/>
                  </a:lnTo>
                  <a:lnTo>
                    <a:pt x="2000015" y="136522"/>
                  </a:lnTo>
                  <a:lnTo>
                    <a:pt x="2040071" y="153910"/>
                  </a:lnTo>
                  <a:lnTo>
                    <a:pt x="2077461" y="172145"/>
                  </a:lnTo>
                  <a:lnTo>
                    <a:pt x="2112092" y="191194"/>
                  </a:lnTo>
                  <a:lnTo>
                    <a:pt x="2172699" y="231599"/>
                  </a:lnTo>
                  <a:lnTo>
                    <a:pt x="2221143" y="274858"/>
                  </a:lnTo>
                  <a:lnTo>
                    <a:pt x="2256675" y="320706"/>
                  </a:lnTo>
                  <a:lnTo>
                    <a:pt x="2278543" y="368875"/>
                  </a:lnTo>
                  <a:lnTo>
                    <a:pt x="2286000" y="419100"/>
                  </a:lnTo>
                  <a:lnTo>
                    <a:pt x="2284120" y="444325"/>
                  </a:lnTo>
                  <a:lnTo>
                    <a:pt x="2269364" y="493356"/>
                  </a:lnTo>
                  <a:lnTo>
                    <a:pt x="2240570" y="540265"/>
                  </a:lnTo>
                  <a:lnTo>
                    <a:pt x="2198489" y="584775"/>
                  </a:lnTo>
                  <a:lnTo>
                    <a:pt x="2143869" y="626612"/>
                  </a:lnTo>
                  <a:lnTo>
                    <a:pt x="2077461" y="665502"/>
                  </a:lnTo>
                  <a:lnTo>
                    <a:pt x="2040071" y="683756"/>
                  </a:lnTo>
                  <a:lnTo>
                    <a:pt x="2000015" y="701169"/>
                  </a:lnTo>
                  <a:lnTo>
                    <a:pt x="1957387" y="717708"/>
                  </a:lnTo>
                  <a:lnTo>
                    <a:pt x="1912280" y="733339"/>
                  </a:lnTo>
                  <a:lnTo>
                    <a:pt x="1864789" y="748026"/>
                  </a:lnTo>
                  <a:lnTo>
                    <a:pt x="1815007" y="761736"/>
                  </a:lnTo>
                  <a:lnTo>
                    <a:pt x="1763027" y="774433"/>
                  </a:lnTo>
                  <a:lnTo>
                    <a:pt x="1708944" y="786085"/>
                  </a:lnTo>
                  <a:lnTo>
                    <a:pt x="1652851" y="796656"/>
                  </a:lnTo>
                  <a:lnTo>
                    <a:pt x="1594842" y="806112"/>
                  </a:lnTo>
                  <a:lnTo>
                    <a:pt x="1535010" y="814419"/>
                  </a:lnTo>
                  <a:lnTo>
                    <a:pt x="1473450" y="821542"/>
                  </a:lnTo>
                  <a:lnTo>
                    <a:pt x="1410255" y="827447"/>
                  </a:lnTo>
                  <a:lnTo>
                    <a:pt x="1345519" y="832100"/>
                  </a:lnTo>
                  <a:lnTo>
                    <a:pt x="1279335" y="835466"/>
                  </a:lnTo>
                  <a:lnTo>
                    <a:pt x="1211797" y="837510"/>
                  </a:lnTo>
                  <a:lnTo>
                    <a:pt x="1143000" y="838200"/>
                  </a:lnTo>
                  <a:lnTo>
                    <a:pt x="1074202" y="837510"/>
                  </a:lnTo>
                  <a:lnTo>
                    <a:pt x="1006664" y="835466"/>
                  </a:lnTo>
                  <a:lnTo>
                    <a:pt x="940480" y="832100"/>
                  </a:lnTo>
                  <a:lnTo>
                    <a:pt x="875744" y="827447"/>
                  </a:lnTo>
                  <a:lnTo>
                    <a:pt x="812549" y="821542"/>
                  </a:lnTo>
                  <a:lnTo>
                    <a:pt x="750989" y="814419"/>
                  </a:lnTo>
                  <a:lnTo>
                    <a:pt x="691157" y="806112"/>
                  </a:lnTo>
                  <a:lnTo>
                    <a:pt x="633148" y="796656"/>
                  </a:lnTo>
                  <a:lnTo>
                    <a:pt x="577055" y="786085"/>
                  </a:lnTo>
                  <a:lnTo>
                    <a:pt x="522972" y="774433"/>
                  </a:lnTo>
                  <a:lnTo>
                    <a:pt x="470992" y="761736"/>
                  </a:lnTo>
                  <a:lnTo>
                    <a:pt x="421210" y="748026"/>
                  </a:lnTo>
                  <a:lnTo>
                    <a:pt x="373719" y="733339"/>
                  </a:lnTo>
                  <a:lnTo>
                    <a:pt x="328612" y="717708"/>
                  </a:lnTo>
                  <a:lnTo>
                    <a:pt x="285984" y="701169"/>
                  </a:lnTo>
                  <a:lnTo>
                    <a:pt x="245928" y="683756"/>
                  </a:lnTo>
                  <a:lnTo>
                    <a:pt x="208538" y="665502"/>
                  </a:lnTo>
                  <a:lnTo>
                    <a:pt x="173907" y="646443"/>
                  </a:lnTo>
                  <a:lnTo>
                    <a:pt x="113300" y="606045"/>
                  </a:lnTo>
                  <a:lnTo>
                    <a:pt x="64856" y="562837"/>
                  </a:lnTo>
                  <a:lnTo>
                    <a:pt x="29324" y="517093"/>
                  </a:lnTo>
                  <a:lnTo>
                    <a:pt x="7456" y="469089"/>
                  </a:lnTo>
                  <a:lnTo>
                    <a:pt x="0" y="419100"/>
                  </a:lnTo>
                  <a:lnTo>
                    <a:pt x="1879" y="393747"/>
                  </a:lnTo>
                  <a:lnTo>
                    <a:pt x="16635" y="344517"/>
                  </a:lnTo>
                  <a:lnTo>
                    <a:pt x="45429" y="297475"/>
                  </a:lnTo>
                  <a:lnTo>
                    <a:pt x="87510" y="252888"/>
                  </a:lnTo>
                  <a:lnTo>
                    <a:pt x="142130" y="211023"/>
                  </a:lnTo>
                  <a:lnTo>
                    <a:pt x="208538" y="172145"/>
                  </a:lnTo>
                  <a:lnTo>
                    <a:pt x="245928" y="153910"/>
                  </a:lnTo>
                  <a:lnTo>
                    <a:pt x="285984" y="136522"/>
                  </a:lnTo>
                  <a:lnTo>
                    <a:pt x="328612" y="120014"/>
                  </a:lnTo>
                  <a:lnTo>
                    <a:pt x="373719" y="104420"/>
                  </a:lnTo>
                  <a:lnTo>
                    <a:pt x="421210" y="89773"/>
                  </a:lnTo>
                  <a:lnTo>
                    <a:pt x="470992" y="76106"/>
                  </a:lnTo>
                  <a:lnTo>
                    <a:pt x="522972" y="63453"/>
                  </a:lnTo>
                  <a:lnTo>
                    <a:pt x="577055" y="51847"/>
                  </a:lnTo>
                  <a:lnTo>
                    <a:pt x="633148" y="41321"/>
                  </a:lnTo>
                  <a:lnTo>
                    <a:pt x="691157" y="31908"/>
                  </a:lnTo>
                  <a:lnTo>
                    <a:pt x="750989" y="23643"/>
                  </a:lnTo>
                  <a:lnTo>
                    <a:pt x="812549" y="16557"/>
                  </a:lnTo>
                  <a:lnTo>
                    <a:pt x="875744" y="10685"/>
                  </a:lnTo>
                  <a:lnTo>
                    <a:pt x="940480" y="6060"/>
                  </a:lnTo>
                  <a:lnTo>
                    <a:pt x="1006664" y="2715"/>
                  </a:lnTo>
                  <a:lnTo>
                    <a:pt x="1074202" y="684"/>
                  </a:lnTo>
                  <a:lnTo>
                    <a:pt x="1143000" y="0"/>
                  </a:lnTo>
                  <a:close/>
                </a:path>
                <a:path w="2286000" h="838200" extrusionOk="0">
                  <a:moveTo>
                    <a:pt x="0" y="0"/>
                  </a:moveTo>
                  <a:lnTo>
                    <a:pt x="0" y="0"/>
                  </a:lnTo>
                </a:path>
                <a:path w="2286000" h="838200" extrusionOk="0">
                  <a:moveTo>
                    <a:pt x="2286000" y="838200"/>
                  </a:moveTo>
                  <a:lnTo>
                    <a:pt x="2286000" y="838200"/>
                  </a:lnTo>
                </a:path>
              </a:pathLst>
            </a:custGeom>
            <a:solidFill>
              <a:srgbClr val="DAE5F1"/>
            </a:solidFill>
            <a:ln w="1257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43" name="Google Shape;743;p66"/>
          <p:cNvSpPr txBox="1"/>
          <p:nvPr/>
        </p:nvSpPr>
        <p:spPr>
          <a:xfrm>
            <a:off x="3582670" y="1549400"/>
            <a:ext cx="1977389" cy="3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problem of size </a:t>
            </a:r>
            <a:r>
              <a:rPr lang="en-US" sz="2000" b="0" i="1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2000" b="0" i="0" u="none" strike="noStrike" cap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744" name="Google Shape;744;p66"/>
          <p:cNvGrpSpPr/>
          <p:nvPr/>
        </p:nvGrpSpPr>
        <p:grpSpPr>
          <a:xfrm>
            <a:off x="2260600" y="3200400"/>
            <a:ext cx="4470400" cy="2209800"/>
            <a:chOff x="2260600" y="3200400"/>
            <a:chExt cx="4470400" cy="2209800"/>
          </a:xfrm>
        </p:grpSpPr>
        <p:sp>
          <p:nvSpPr>
            <p:cNvPr id="745" name="Google Shape;745;p66"/>
            <p:cNvSpPr/>
            <p:nvPr/>
          </p:nvSpPr>
          <p:spPr>
            <a:xfrm>
              <a:off x="2286000" y="3200400"/>
              <a:ext cx="0" cy="410209"/>
            </a:xfrm>
            <a:custGeom>
              <a:avLst/>
              <a:gdLst/>
              <a:ahLst/>
              <a:cxnLst/>
              <a:rect l="l" t="t" r="r" b="b"/>
              <a:pathLst>
                <a:path w="120000" h="410210" extrusionOk="0">
                  <a:moveTo>
                    <a:pt x="0" y="0"/>
                  </a:moveTo>
                  <a:lnTo>
                    <a:pt x="0" y="410210"/>
                  </a:lnTo>
                </a:path>
              </a:pathLst>
            </a:custGeom>
            <a:noFill/>
            <a:ln w="127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" name="Google Shape;746;p66"/>
            <p:cNvSpPr/>
            <p:nvPr/>
          </p:nvSpPr>
          <p:spPr>
            <a:xfrm>
              <a:off x="2260600" y="36068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 extrusionOk="0">
                  <a:moveTo>
                    <a:pt x="50800" y="0"/>
                  </a:moveTo>
                  <a:lnTo>
                    <a:pt x="0" y="0"/>
                  </a:lnTo>
                  <a:lnTo>
                    <a:pt x="25400" y="50800"/>
                  </a:lnTo>
                  <a:lnTo>
                    <a:pt x="50800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" name="Google Shape;747;p66"/>
            <p:cNvSpPr/>
            <p:nvPr/>
          </p:nvSpPr>
          <p:spPr>
            <a:xfrm>
              <a:off x="6705600" y="3200400"/>
              <a:ext cx="0" cy="410209"/>
            </a:xfrm>
            <a:custGeom>
              <a:avLst/>
              <a:gdLst/>
              <a:ahLst/>
              <a:cxnLst/>
              <a:rect l="l" t="t" r="r" b="b"/>
              <a:pathLst>
                <a:path w="120000" h="410210" extrusionOk="0">
                  <a:moveTo>
                    <a:pt x="0" y="0"/>
                  </a:moveTo>
                  <a:lnTo>
                    <a:pt x="0" y="410210"/>
                  </a:lnTo>
                </a:path>
              </a:pathLst>
            </a:custGeom>
            <a:noFill/>
            <a:ln w="127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" name="Google Shape;748;p66"/>
            <p:cNvSpPr/>
            <p:nvPr/>
          </p:nvSpPr>
          <p:spPr>
            <a:xfrm>
              <a:off x="6680200" y="36068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 extrusionOk="0">
                  <a:moveTo>
                    <a:pt x="50800" y="0"/>
                  </a:moveTo>
                  <a:lnTo>
                    <a:pt x="0" y="0"/>
                  </a:lnTo>
                  <a:lnTo>
                    <a:pt x="25400" y="50800"/>
                  </a:lnTo>
                  <a:lnTo>
                    <a:pt x="50800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p66"/>
            <p:cNvSpPr/>
            <p:nvPr/>
          </p:nvSpPr>
          <p:spPr>
            <a:xfrm>
              <a:off x="2286000" y="4343400"/>
              <a:ext cx="4419600" cy="533400"/>
            </a:xfrm>
            <a:custGeom>
              <a:avLst/>
              <a:gdLst/>
              <a:ahLst/>
              <a:cxnLst/>
              <a:rect l="l" t="t" r="r" b="b"/>
              <a:pathLst>
                <a:path w="4419600" h="533400" extrusionOk="0">
                  <a:moveTo>
                    <a:pt x="0" y="0"/>
                  </a:moveTo>
                  <a:lnTo>
                    <a:pt x="0" y="533400"/>
                  </a:lnTo>
                </a:path>
                <a:path w="4419600" h="533400" extrusionOk="0">
                  <a:moveTo>
                    <a:pt x="4419600" y="0"/>
                  </a:moveTo>
                  <a:lnTo>
                    <a:pt x="4419600" y="533400"/>
                  </a:lnTo>
                </a:path>
                <a:path w="4419600" h="533400" extrusionOk="0">
                  <a:moveTo>
                    <a:pt x="0" y="533400"/>
                  </a:moveTo>
                  <a:lnTo>
                    <a:pt x="4419600" y="533400"/>
                  </a:lnTo>
                </a:path>
              </a:pathLst>
            </a:custGeom>
            <a:noFill/>
            <a:ln w="1257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p66"/>
            <p:cNvSpPr/>
            <p:nvPr/>
          </p:nvSpPr>
          <p:spPr>
            <a:xfrm>
              <a:off x="4572000" y="4876800"/>
              <a:ext cx="0" cy="486409"/>
            </a:xfrm>
            <a:custGeom>
              <a:avLst/>
              <a:gdLst/>
              <a:ahLst/>
              <a:cxnLst/>
              <a:rect l="l" t="t" r="r" b="b"/>
              <a:pathLst>
                <a:path w="120000" h="486410" extrusionOk="0">
                  <a:moveTo>
                    <a:pt x="0" y="0"/>
                  </a:moveTo>
                  <a:lnTo>
                    <a:pt x="0" y="486409"/>
                  </a:lnTo>
                </a:path>
              </a:pathLst>
            </a:custGeom>
            <a:noFill/>
            <a:ln w="127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" name="Google Shape;751;p66"/>
            <p:cNvSpPr/>
            <p:nvPr/>
          </p:nvSpPr>
          <p:spPr>
            <a:xfrm>
              <a:off x="4546600" y="53594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 extrusionOk="0">
                  <a:moveTo>
                    <a:pt x="50800" y="0"/>
                  </a:moveTo>
                  <a:lnTo>
                    <a:pt x="0" y="0"/>
                  </a:lnTo>
                  <a:lnTo>
                    <a:pt x="25400" y="50800"/>
                  </a:lnTo>
                  <a:lnTo>
                    <a:pt x="50800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>
    <p:zoom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86"/>
          <p:cNvSpPr txBox="1">
            <a:spLocks noGrp="1"/>
          </p:cNvSpPr>
          <p:nvPr>
            <p:ph type="title"/>
          </p:nvPr>
        </p:nvSpPr>
        <p:spPr>
          <a:xfrm>
            <a:off x="269240" y="109220"/>
            <a:ext cx="7753984" cy="695960"/>
          </a:xfrm>
          <a:prstGeom prst="rect">
            <a:avLst/>
          </a:prstGeom>
          <a:solidFill>
            <a:srgbClr val="538CD5"/>
          </a:solidFill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4400"/>
              <a:buNone/>
            </a:pPr>
            <a:r>
              <a:rPr lang="en-US"/>
              <a:t>Divide and Conquer	Algorithms</a:t>
            </a:r>
            <a:endParaRPr/>
          </a:p>
        </p:txBody>
      </p:sp>
      <p:pic>
        <p:nvPicPr>
          <p:cNvPr id="757" name="Google Shape;757;p8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61769" y="2730500"/>
            <a:ext cx="219710" cy="219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8" name="Google Shape;758;p8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61769" y="3172460"/>
            <a:ext cx="219710" cy="219710"/>
          </a:xfrm>
          <a:prstGeom prst="rect">
            <a:avLst/>
          </a:prstGeom>
          <a:noFill/>
          <a:ln>
            <a:noFill/>
          </a:ln>
        </p:spPr>
      </p:pic>
      <p:sp>
        <p:nvSpPr>
          <p:cNvPr id="759" name="Google Shape;759;p86"/>
          <p:cNvSpPr txBox="1"/>
          <p:nvPr/>
        </p:nvSpPr>
        <p:spPr>
          <a:xfrm>
            <a:off x="534669" y="1540705"/>
            <a:ext cx="7918450" cy="4595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6025" rIns="0" bIns="0" anchor="t" anchorCtr="0">
            <a:sp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lang="en-US" sz="3000" b="0" i="0" u="none" strike="noStrike" cap="none">
                <a:solidFill>
                  <a:srgbClr val="339966"/>
                </a:solidFill>
                <a:latin typeface="Arial"/>
                <a:ea typeface="Arial"/>
                <a:cs typeface="Arial"/>
                <a:sym typeface="Arial"/>
              </a:rPr>
              <a:t>Based on dividing problem into subproblems</a:t>
            </a:r>
            <a:endParaRPr sz="3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55700" marR="1845310" lvl="1" indent="-685800" algn="l" rtl="0">
              <a:lnSpc>
                <a:spcPct val="120000"/>
              </a:lnSpc>
              <a:spcBef>
                <a:spcPts val="2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Noto Sans Symbols"/>
              <a:buChar char="⮚"/>
            </a:pPr>
            <a:r>
              <a:rPr lang="en-US" sz="2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Divide </a:t>
            </a:r>
            <a:r>
              <a:rPr lang="en-US" sz="2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into sub-problems  </a:t>
            </a:r>
            <a:r>
              <a:rPr lang="en-US" sz="2400" b="0" i="0" u="none" strike="noStrike" cap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Subproblems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must be of same type  </a:t>
            </a:r>
            <a:r>
              <a:rPr lang="en-US" sz="2400" b="0" i="0" u="none" strike="noStrike" cap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Subproblems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 not need to overlap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55015" marR="5080" lvl="1" indent="-285750" algn="l" rtl="0">
              <a:lnSpc>
                <a:spcPct val="99800"/>
              </a:lnSpc>
              <a:spcBef>
                <a:spcPts val="655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–"/>
            </a:pPr>
            <a:r>
              <a:rPr lang="en-US" sz="2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Conquer </a:t>
            </a:r>
            <a:r>
              <a:rPr lang="en-US" sz="2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 solving sub-problems recursively.	If  the sub-problems are small enough, solve them  in brute force fashion</a:t>
            </a:r>
            <a:endParaRPr sz="2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55015" marR="427355" lvl="1" indent="-285750" algn="l" rtl="0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–"/>
            </a:pPr>
            <a:r>
              <a:rPr lang="en-US" sz="2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Combine </a:t>
            </a:r>
            <a:r>
              <a:rPr lang="en-US" sz="2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solutions of sub-problems into a  solution of the original problem (tricky part)</a:t>
            </a:r>
            <a:endParaRPr sz="2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87"/>
          <p:cNvSpPr txBox="1">
            <a:spLocks noGrp="1"/>
          </p:cNvSpPr>
          <p:nvPr>
            <p:ph type="title"/>
          </p:nvPr>
        </p:nvSpPr>
        <p:spPr>
          <a:xfrm>
            <a:off x="3362959" y="109220"/>
            <a:ext cx="1577340" cy="695960"/>
          </a:xfrm>
          <a:prstGeom prst="rect">
            <a:avLst/>
          </a:prstGeom>
          <a:solidFill>
            <a:srgbClr val="538CD5"/>
          </a:solidFill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4400"/>
              <a:buNone/>
            </a:pPr>
            <a:r>
              <a:rPr lang="en-US"/>
              <a:t>D-A-C</a:t>
            </a:r>
            <a:endParaRPr/>
          </a:p>
        </p:txBody>
      </p:sp>
      <p:sp>
        <p:nvSpPr>
          <p:cNvPr id="765" name="Google Shape;765;p87"/>
          <p:cNvSpPr txBox="1"/>
          <p:nvPr/>
        </p:nvSpPr>
        <p:spPr>
          <a:xfrm>
            <a:off x="534669" y="1634490"/>
            <a:ext cx="7943215" cy="5204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4965" marR="5461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Divide-and-Conquer algorithms the  running time is mainly affected by 3  criteria:</a:t>
            </a: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4965" marR="5080" lvl="0" indent="-342900" algn="l" rtl="0">
              <a:lnSpc>
                <a:spcPct val="100000"/>
              </a:lnSpc>
              <a:spcBef>
                <a:spcPts val="79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number of sub-instances </a:t>
            </a:r>
            <a:r>
              <a:rPr lang="en-U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into which  a problem is split.</a:t>
            </a: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4965" marR="151765" lvl="0" indent="-3429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ratio of initial problem size to sub-  problem size</a:t>
            </a:r>
            <a:r>
              <a:rPr lang="en-U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4965" marR="249554" lvl="0" indent="-342900" algn="l" rtl="0">
              <a:lnSpc>
                <a:spcPct val="100000"/>
              </a:lnSpc>
              <a:spcBef>
                <a:spcPts val="79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number of steps </a:t>
            </a:r>
            <a:r>
              <a:rPr lang="en-U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required to </a:t>
            </a:r>
            <a:r>
              <a:rPr lang="en-US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divide  </a:t>
            </a:r>
            <a:r>
              <a:rPr lang="en-U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initial instance and to </a:t>
            </a:r>
            <a:r>
              <a:rPr lang="en-US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combine </a:t>
            </a:r>
            <a:r>
              <a:rPr lang="en-U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sub-  solutions.</a:t>
            </a: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88"/>
          <p:cNvSpPr txBox="1">
            <a:spLocks noGrp="1"/>
          </p:cNvSpPr>
          <p:nvPr>
            <p:ph type="title"/>
          </p:nvPr>
        </p:nvSpPr>
        <p:spPr>
          <a:xfrm>
            <a:off x="1448972" y="239151"/>
            <a:ext cx="6881593" cy="1041311"/>
          </a:xfrm>
          <a:prstGeom prst="rect">
            <a:avLst/>
          </a:prstGeom>
          <a:solidFill>
            <a:srgbClr val="538CD5"/>
          </a:solidFill>
          <a:ln>
            <a:noFill/>
          </a:ln>
        </p:spPr>
        <p:txBody>
          <a:bodyPr spcFirstLastPara="1" wrap="square" lIns="0" tIns="12700" rIns="0" bIns="0" anchor="ctr" anchorCtr="0">
            <a:spAutoFit/>
          </a:bodyPr>
          <a:lstStyle/>
          <a:p>
            <a:pPr marL="3252470" marR="5080" lvl="0" indent="-3239770" algn="ctr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4400"/>
              <a:buNone/>
            </a:pPr>
            <a:r>
              <a:rPr lang="en-US" sz="3300" dirty="0">
                <a:solidFill>
                  <a:schemeClr val="lt1"/>
                </a:solidFill>
              </a:rPr>
              <a:t>Algorithm for General Divide and Conquer  Sorting</a:t>
            </a:r>
            <a:endParaRPr sz="3300">
              <a:solidFill>
                <a:schemeClr val="lt1"/>
              </a:solidFill>
            </a:endParaRPr>
          </a:p>
        </p:txBody>
      </p:sp>
      <p:sp>
        <p:nvSpPr>
          <p:cNvPr id="771" name="Google Shape;771;p88"/>
          <p:cNvSpPr txBox="1"/>
          <p:nvPr/>
        </p:nvSpPr>
        <p:spPr>
          <a:xfrm>
            <a:off x="534669" y="1634490"/>
            <a:ext cx="7485300" cy="4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4965" marR="508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Algorithm for General Divide and Conquer  Sorting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Begin Algorithm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9265" marR="0" lvl="0" indent="0" algn="l" rtl="0">
              <a:lnSpc>
                <a:spcPct val="100000"/>
              </a:lnSpc>
              <a:spcBef>
                <a:spcPts val="99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Start Sort(L)</a:t>
            </a:r>
            <a:endParaRPr sz="2400" b="0" i="0" u="none" strike="noStrike" cap="non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  <a:p>
            <a:pPr marL="755015" marR="182943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L has length greater than 1 then  Begin</a:t>
            </a:r>
            <a:endParaRPr sz="2400" b="0" i="0" u="none" strike="noStrike" cap="none">
              <a:solidFill>
                <a:srgbClr val="000000"/>
              </a:solidFill>
              <a:highlight>
                <a:srgbClr val="3CDD2B"/>
              </a:highlight>
              <a:latin typeface="Arial"/>
              <a:ea typeface="Arial"/>
              <a:cs typeface="Arial"/>
              <a:sym typeface="Arial"/>
            </a:endParaRPr>
          </a:p>
          <a:p>
            <a:pPr marL="1612900" marR="137287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highlight>
                  <a:srgbClr val="008000"/>
                </a:highlight>
                <a:latin typeface="Arial"/>
                <a:ea typeface="Arial"/>
                <a:cs typeface="Arial"/>
                <a:sym typeface="Arial"/>
              </a:rPr>
              <a:t>Partition the list into two lists, high and low</a:t>
            </a: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1800" b="1" i="0" u="none" strike="noStrike" cap="none">
                <a:solidFill>
                  <a:srgbClr val="000000"/>
                </a:solidFill>
                <a:highlight>
                  <a:srgbClr val="FFCC00"/>
                </a:highlight>
                <a:latin typeface="Arial"/>
                <a:ea typeface="Arial"/>
                <a:cs typeface="Arial"/>
                <a:sym typeface="Arial"/>
              </a:rPr>
              <a:t>Start Sort(high)</a:t>
            </a:r>
            <a:endParaRPr sz="1800" b="0" i="0" u="none" strike="noStrike" cap="none">
              <a:solidFill>
                <a:srgbClr val="000000"/>
              </a:solidFill>
              <a:highlight>
                <a:srgbClr val="FFCC00"/>
              </a:highlight>
              <a:latin typeface="Arial"/>
              <a:ea typeface="Arial"/>
              <a:cs typeface="Arial"/>
              <a:sym typeface="Arial"/>
            </a:endParaRPr>
          </a:p>
          <a:p>
            <a:pPr marL="1612900" marR="3424554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highlight>
                  <a:srgbClr val="FFCC00"/>
                </a:highlight>
                <a:latin typeface="Arial"/>
                <a:ea typeface="Arial"/>
                <a:cs typeface="Arial"/>
                <a:sym typeface="Arial"/>
              </a:rPr>
              <a:t>Start Sort(low)</a:t>
            </a: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1800" b="1" i="0" u="none" strike="noStrike" cap="none">
                <a:solidFill>
                  <a:srgbClr val="000000"/>
                </a:solidFill>
                <a:highlight>
                  <a:srgbClr val="CC3300"/>
                </a:highlight>
                <a:latin typeface="Arial"/>
                <a:ea typeface="Arial"/>
                <a:cs typeface="Arial"/>
                <a:sym typeface="Arial"/>
              </a:rPr>
              <a:t>Combine high and low</a:t>
            </a:r>
            <a:endParaRPr sz="1800" b="0" i="0" u="none" strike="noStrike" cap="none">
              <a:solidFill>
                <a:srgbClr val="000000"/>
              </a:solidFill>
              <a:highlight>
                <a:srgbClr val="CC3300"/>
              </a:highlight>
              <a:latin typeface="Arial"/>
              <a:ea typeface="Arial"/>
              <a:cs typeface="Arial"/>
              <a:sym typeface="Arial"/>
            </a:endParaRPr>
          </a:p>
          <a:p>
            <a:pPr marL="92710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</a:t>
            </a:r>
            <a:endParaRPr sz="2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99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 Algorithm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ged395dddf3_0_2"/>
          <p:cNvSpPr txBox="1">
            <a:spLocks noGrp="1"/>
          </p:cNvSpPr>
          <p:nvPr>
            <p:ph type="title"/>
          </p:nvPr>
        </p:nvSpPr>
        <p:spPr>
          <a:xfrm>
            <a:off x="1311816" y="42204"/>
            <a:ext cx="6805246" cy="801858"/>
          </a:xfrm>
          <a:prstGeom prst="rect">
            <a:avLst/>
          </a:prstGeom>
          <a:solidFill>
            <a:srgbClr val="538CD5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/>
              <a:t>Greedy Algorithms</a:t>
            </a:r>
            <a:endParaRPr/>
          </a:p>
        </p:txBody>
      </p:sp>
      <p:sp>
        <p:nvSpPr>
          <p:cNvPr id="1642" name="Google Shape;1642;ged395dddf3_0_2"/>
          <p:cNvSpPr txBox="1">
            <a:spLocks noGrp="1"/>
          </p:cNvSpPr>
          <p:nvPr>
            <p:ph type="body" idx="1"/>
          </p:nvPr>
        </p:nvSpPr>
        <p:spPr>
          <a:xfrm>
            <a:off x="457200" y="1295400"/>
            <a:ext cx="8229600" cy="48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081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Given a problem with </a:t>
            </a:r>
            <a:r>
              <a:rPr lang="en-US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inputs, we are required to obtain a subset that maximizes or minimizes a given objective function subject to some constraints.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081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 Feasible solution — 	any subset that satisfies some 				constraints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0810"/>
              <a:buFont typeface="Noto Sans Symbols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0810"/>
              <a:buFont typeface="Noto Sans Symbols"/>
              <a:buChar char="⮚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Optimal solution — 	a feasible solution that 					maximizes or minimizes the 				objective function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6081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6081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/>
          </a:p>
        </p:txBody>
      </p:sp>
      <p:sp>
        <p:nvSpPr>
          <p:cNvPr id="1643" name="Google Shape;1643;ged395dddf3_0_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68</a:t>
            </a:fld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" name="Google Shape;1649;p54"/>
          <p:cNvSpPr txBox="1">
            <a:spLocks noGrp="1"/>
          </p:cNvSpPr>
          <p:nvPr>
            <p:ph type="title"/>
          </p:nvPr>
        </p:nvSpPr>
        <p:spPr>
          <a:xfrm>
            <a:off x="1311816" y="42204"/>
            <a:ext cx="6805246" cy="801858"/>
          </a:xfrm>
          <a:prstGeom prst="rect">
            <a:avLst/>
          </a:prstGeom>
          <a:solidFill>
            <a:srgbClr val="538CD5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/>
              <a:t>Greedy Algorithms</a:t>
            </a:r>
            <a:endParaRPr/>
          </a:p>
        </p:txBody>
      </p:sp>
      <p:sp>
        <p:nvSpPr>
          <p:cNvPr id="1650" name="Google Shape;1650;p54"/>
          <p:cNvSpPr txBox="1">
            <a:spLocks noGrp="1"/>
          </p:cNvSpPr>
          <p:nvPr>
            <p:ph type="body" idx="1"/>
          </p:nvPr>
        </p:nvSpPr>
        <p:spPr>
          <a:xfrm>
            <a:off x="457200" y="1295400"/>
            <a:ext cx="8229600" cy="48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55000" lnSpcReduction="20000"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2272"/>
              <a:buNone/>
            </a:pPr>
            <a:r>
              <a:rPr lang="en-US" b="1"/>
              <a:t>procedure Greedy </a:t>
            </a:r>
            <a:r>
              <a:rPr lang="en-US" b="1" i="1"/>
              <a:t>(</a:t>
            </a:r>
            <a:r>
              <a:rPr lang="en-US" i="1"/>
              <a:t>A, n</a:t>
            </a:r>
            <a:r>
              <a:rPr lang="en-US" b="1" i="1"/>
              <a:t>)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233766"/>
              <a:buNone/>
            </a:pPr>
            <a:endParaRPr sz="1400" b="1" i="1"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2272"/>
              <a:buNone/>
            </a:pPr>
            <a:r>
              <a:rPr lang="en-US" b="1" i="1"/>
              <a:t>	begin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2272"/>
              <a:buNone/>
            </a:pPr>
            <a:r>
              <a:rPr lang="en-US" b="1" i="1"/>
              <a:t>		</a:t>
            </a:r>
            <a:r>
              <a:rPr lang="en-US" i="1"/>
              <a:t>solution ← Ø</a:t>
            </a:r>
            <a:r>
              <a:rPr lang="en-US" b="1" i="1"/>
              <a:t>;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2272"/>
              <a:buNone/>
            </a:pPr>
            <a:r>
              <a:rPr lang="en-US" b="1" i="1"/>
              <a:t>		for </a:t>
            </a:r>
            <a:r>
              <a:rPr lang="en-US" i="1"/>
              <a:t>i ←  1 </a:t>
            </a:r>
            <a:r>
              <a:rPr lang="en-US" b="1" i="1"/>
              <a:t>to </a:t>
            </a:r>
            <a:r>
              <a:rPr lang="en-US" i="1"/>
              <a:t>n</a:t>
            </a:r>
            <a:r>
              <a:rPr lang="en-US" b="1" i="1"/>
              <a:t> do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2272"/>
              <a:buNone/>
            </a:pPr>
            <a:r>
              <a:rPr lang="en-US" b="1" i="1"/>
              <a:t>		    x </a:t>
            </a:r>
            <a:r>
              <a:rPr lang="en-US" i="1"/>
              <a:t>← </a:t>
            </a:r>
            <a:r>
              <a:rPr lang="en-US" b="1" i="1"/>
              <a:t>Select </a:t>
            </a:r>
            <a:r>
              <a:rPr lang="en-US"/>
              <a:t>(</a:t>
            </a:r>
            <a:r>
              <a:rPr lang="en-US" i="1"/>
              <a:t>A</a:t>
            </a:r>
            <a:r>
              <a:rPr lang="en-US"/>
              <a:t>)</a:t>
            </a:r>
            <a:r>
              <a:rPr lang="en-US" i="1"/>
              <a:t>;</a:t>
            </a:r>
            <a:r>
              <a:rPr lang="en-US" b="1" i="1"/>
              <a:t>   // based on the objective 	      //    function</a:t>
            </a:r>
            <a:r>
              <a:rPr lang="en-US" i="1"/>
              <a:t> </a:t>
            </a:r>
            <a:endParaRPr b="1" i="1"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2272"/>
              <a:buNone/>
            </a:pPr>
            <a:r>
              <a:rPr lang="en-US" b="1" i="1"/>
              <a:t>		    if Feasible (</a:t>
            </a:r>
            <a:r>
              <a:rPr lang="en-US" i="1"/>
              <a:t>solution,</a:t>
            </a:r>
            <a:r>
              <a:rPr lang="en-US" b="1" i="1"/>
              <a:t> </a:t>
            </a:r>
            <a:r>
              <a:rPr lang="en-US" i="1"/>
              <a:t>x</a:t>
            </a:r>
            <a:r>
              <a:rPr lang="en-US" b="1" i="1"/>
              <a:t>), 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2272"/>
              <a:buNone/>
            </a:pPr>
            <a:r>
              <a:rPr lang="en-US" b="1" i="1"/>
              <a:t>		   	 then </a:t>
            </a:r>
            <a:r>
              <a:rPr lang="en-US" i="1"/>
              <a:t>solution</a:t>
            </a:r>
            <a:r>
              <a:rPr lang="en-US" b="1" i="1"/>
              <a:t> </a:t>
            </a:r>
            <a:r>
              <a:rPr lang="en-US" i="1"/>
              <a:t>← </a:t>
            </a:r>
            <a:r>
              <a:rPr lang="en-US" b="1" i="1"/>
              <a:t>Union (</a:t>
            </a:r>
            <a:r>
              <a:rPr lang="en-US" i="1"/>
              <a:t>solution,</a:t>
            </a:r>
            <a:r>
              <a:rPr lang="en-US" b="1" i="1"/>
              <a:t> </a:t>
            </a:r>
            <a:r>
              <a:rPr lang="en-US" i="1"/>
              <a:t>x</a:t>
            </a:r>
            <a:r>
              <a:rPr lang="en-US" b="1" i="1"/>
              <a:t>); 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2272"/>
              <a:buNone/>
            </a:pPr>
            <a:r>
              <a:rPr lang="en-US" b="1" i="1"/>
              <a:t>	end;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233766"/>
              <a:buNone/>
            </a:pPr>
            <a:endParaRPr sz="1400" b="1" i="1"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2272"/>
              <a:buNone/>
            </a:pPr>
            <a:r>
              <a:rPr lang="en-US" i="1"/>
              <a:t>Select</a:t>
            </a:r>
            <a:r>
              <a:rPr lang="en-US"/>
              <a:t>:	A greedy procedure, based on a given objective function, which selects input from </a:t>
            </a:r>
            <a:r>
              <a:rPr lang="en-US" i="1"/>
              <a:t>A</a:t>
            </a:r>
            <a:r>
              <a:rPr lang="en-US"/>
              <a:t>, removes it and assigns its value to </a:t>
            </a:r>
            <a:r>
              <a:rPr lang="en-US" i="1"/>
              <a:t>x</a:t>
            </a:r>
            <a:r>
              <a:rPr lang="en-US"/>
              <a:t>.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2272"/>
              <a:buNone/>
            </a:pP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2272"/>
              <a:buNone/>
            </a:pPr>
            <a:r>
              <a:rPr lang="en-US" i="1"/>
              <a:t>Feasible</a:t>
            </a:r>
            <a:r>
              <a:rPr lang="en-US"/>
              <a:t>: A boolean function to decide if </a:t>
            </a:r>
            <a:r>
              <a:rPr lang="en-US" i="1"/>
              <a:t>x</a:t>
            </a:r>
            <a:r>
              <a:rPr lang="en-US"/>
              <a:t> can be included into solution vector (without violating any given constraint).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2272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2272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/>
          </a:p>
        </p:txBody>
      </p:sp>
      <p:sp>
        <p:nvSpPr>
          <p:cNvPr id="1651" name="Google Shape;1651;p5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69</a:t>
            </a:fld>
            <a:endParaRPr/>
          </a:p>
        </p:txBody>
      </p:sp>
      <p:sp>
        <p:nvSpPr>
          <p:cNvPr id="1652" name="Google Shape;1652;p54"/>
          <p:cNvSpPr/>
          <p:nvPr/>
        </p:nvSpPr>
        <p:spPr>
          <a:xfrm>
            <a:off x="785446" y="2123049"/>
            <a:ext cx="76200" cy="1219200"/>
          </a:xfrm>
          <a:prstGeom prst="leftBracket">
            <a:avLst>
              <a:gd name="adj" fmla="val 133333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" name="Google Shape;1658;p55"/>
          <p:cNvSpPr txBox="1">
            <a:spLocks noGrp="1"/>
          </p:cNvSpPr>
          <p:nvPr>
            <p:ph type="title"/>
          </p:nvPr>
        </p:nvSpPr>
        <p:spPr>
          <a:xfrm>
            <a:off x="1311816" y="42204"/>
            <a:ext cx="6805246" cy="801858"/>
          </a:xfrm>
          <a:prstGeom prst="rect">
            <a:avLst/>
          </a:prstGeom>
          <a:solidFill>
            <a:srgbClr val="538CD5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/>
              <a:t>Greedy Algorithms</a:t>
            </a:r>
            <a:endParaRPr/>
          </a:p>
        </p:txBody>
      </p:sp>
      <p:sp>
        <p:nvSpPr>
          <p:cNvPr id="1659" name="Google Shape;1659;p55"/>
          <p:cNvSpPr txBox="1">
            <a:spLocks noGrp="1"/>
          </p:cNvSpPr>
          <p:nvPr>
            <p:ph type="body" idx="1"/>
          </p:nvPr>
        </p:nvSpPr>
        <p:spPr>
          <a:xfrm>
            <a:off x="457200" y="1295400"/>
            <a:ext cx="8229600" cy="48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/>
          </a:p>
        </p:txBody>
      </p:sp>
      <p:sp>
        <p:nvSpPr>
          <p:cNvPr id="1660" name="Google Shape;1660;p5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70</a:t>
            </a:fld>
            <a:endParaRPr/>
          </a:p>
        </p:txBody>
      </p:sp>
      <p:sp>
        <p:nvSpPr>
          <p:cNvPr id="1661" name="Google Shape;1661;p55"/>
          <p:cNvSpPr txBox="1"/>
          <p:nvPr/>
        </p:nvSpPr>
        <p:spPr>
          <a:xfrm>
            <a:off x="533400" y="1378634"/>
            <a:ext cx="7940675" cy="3970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n inputs are ordered by some selection procedure which is based on some optimization measures.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works in stages, considering one input at a time. At each stage, a decision is made regarding whether or not a particular input is in an optimal solution.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0" name="Google Shape;1670;p57"/>
          <p:cNvSpPr txBox="1">
            <a:spLocks noGrp="1"/>
          </p:cNvSpPr>
          <p:nvPr>
            <p:ph type="sldNum" idx="1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t>71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1" name="Google Shape;1671;p57"/>
          <p:cNvSpPr/>
          <p:nvPr/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2" name="Google Shape;1672;p57"/>
          <p:cNvSpPr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3" name="Google Shape;1673;p57"/>
          <p:cNvSpPr txBox="1">
            <a:spLocks noGrp="1"/>
          </p:cNvSpPr>
          <p:nvPr>
            <p:ph type="title"/>
          </p:nvPr>
        </p:nvSpPr>
        <p:spPr>
          <a:xfrm>
            <a:off x="1219200" y="304800"/>
            <a:ext cx="7793038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/>
              <a:t>Optimization problems</a:t>
            </a:r>
            <a:endParaRPr/>
          </a:p>
        </p:txBody>
      </p:sp>
      <p:sp>
        <p:nvSpPr>
          <p:cNvPr id="1674" name="Google Shape;1674;p57"/>
          <p:cNvSpPr txBox="1">
            <a:spLocks noGrp="1"/>
          </p:cNvSpPr>
          <p:nvPr>
            <p:ph type="body" idx="1"/>
          </p:nvPr>
        </p:nvSpPr>
        <p:spPr>
          <a:xfrm>
            <a:off x="685800" y="1524000"/>
            <a:ext cx="8166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rmAutofit/>
          </a:bodyPr>
          <a:lstStyle/>
          <a:p>
            <a:pPr marL="457200" lvl="0" indent="-333117" algn="just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646"/>
              <a:buFont typeface="Times New Roman"/>
              <a:buChar char="⮚"/>
            </a:pPr>
            <a:r>
              <a:rPr lang="en-US" sz="2900">
                <a:latin typeface="Times New Roman"/>
                <a:ea typeface="Times New Roman"/>
                <a:cs typeface="Times New Roman"/>
                <a:sym typeface="Times New Roman"/>
              </a:rPr>
              <a:t>An </a:t>
            </a:r>
            <a:r>
              <a:rPr lang="en-US" sz="29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optimization problem </a:t>
            </a:r>
            <a:r>
              <a:rPr lang="en-US" sz="2900">
                <a:latin typeface="Times New Roman"/>
                <a:ea typeface="Times New Roman"/>
                <a:cs typeface="Times New Roman"/>
                <a:sym typeface="Times New Roman"/>
              </a:rPr>
              <a:t>is one in which you want to find, not just </a:t>
            </a:r>
            <a:r>
              <a:rPr lang="en-US" sz="2900" i="1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900">
                <a:latin typeface="Times New Roman"/>
                <a:ea typeface="Times New Roman"/>
                <a:cs typeface="Times New Roman"/>
                <a:sym typeface="Times New Roman"/>
              </a:rPr>
              <a:t> solution, but the </a:t>
            </a:r>
            <a:r>
              <a:rPr lang="en-US" sz="2900" i="1">
                <a:latin typeface="Times New Roman"/>
                <a:ea typeface="Times New Roman"/>
                <a:cs typeface="Times New Roman"/>
                <a:sym typeface="Times New Roman"/>
              </a:rPr>
              <a:t>best</a:t>
            </a:r>
            <a:r>
              <a:rPr lang="en-US" sz="2900">
                <a:latin typeface="Times New Roman"/>
                <a:ea typeface="Times New Roman"/>
                <a:cs typeface="Times New Roman"/>
                <a:sym typeface="Times New Roman"/>
              </a:rPr>
              <a:t> solution</a:t>
            </a:r>
            <a:endParaRPr sz="2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3117" algn="just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646"/>
              <a:buFont typeface="Times New Roman"/>
              <a:buChar char="⮚"/>
            </a:pPr>
            <a:r>
              <a:rPr lang="en-US" sz="2900">
                <a:latin typeface="Times New Roman"/>
                <a:ea typeface="Times New Roman"/>
                <a:cs typeface="Times New Roman"/>
                <a:sym typeface="Times New Roman"/>
              </a:rPr>
              <a:t>A “greedy algorithm” sometimes works well for optimization problems</a:t>
            </a:r>
            <a:endParaRPr sz="2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3117" algn="just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646"/>
              <a:buFont typeface="Times New Roman"/>
              <a:buChar char="⮚"/>
            </a:pPr>
            <a:r>
              <a:rPr lang="en-US" sz="2900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29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greedy algorithm </a:t>
            </a:r>
            <a:r>
              <a:rPr lang="en-US" sz="2900">
                <a:latin typeface="Times New Roman"/>
                <a:ea typeface="Times New Roman"/>
                <a:cs typeface="Times New Roman"/>
                <a:sym typeface="Times New Roman"/>
              </a:rPr>
              <a:t>works in phases. At each phase:</a:t>
            </a:r>
            <a:endParaRPr sz="2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33117" algn="just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646"/>
              <a:buFont typeface="Times New Roman"/>
              <a:buChar char="⮚"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You take the best you can get right now, without regard for future consequences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33117" algn="just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646"/>
              <a:buFont typeface="Times New Roman"/>
              <a:buChar char="⮚"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You hope that by choosing a </a:t>
            </a:r>
            <a:r>
              <a:rPr lang="en-US" sz="2500" i="1">
                <a:latin typeface="Times New Roman"/>
                <a:ea typeface="Times New Roman"/>
                <a:cs typeface="Times New Roman"/>
                <a:sym typeface="Times New Roman"/>
              </a:rPr>
              <a:t>local</a:t>
            </a: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 optimum at each step, you will end up at a </a:t>
            </a:r>
            <a:r>
              <a:rPr lang="en-US" sz="2500" i="1">
                <a:latin typeface="Times New Roman"/>
                <a:ea typeface="Times New Roman"/>
                <a:cs typeface="Times New Roman"/>
                <a:sym typeface="Times New Roman"/>
              </a:rPr>
              <a:t>global</a:t>
            </a: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 optimum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5" name="Google Shape;1675;p57"/>
          <p:cNvSpPr txBox="1"/>
          <p:nvPr/>
        </p:nvSpPr>
        <p:spPr>
          <a:xfrm>
            <a:off x="1311816" y="42204"/>
            <a:ext cx="6805246" cy="801858"/>
          </a:xfrm>
          <a:prstGeom prst="rect">
            <a:avLst/>
          </a:prstGeom>
          <a:solidFill>
            <a:srgbClr val="538CD5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 sz="4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Greedy Algorithms</a:t>
            </a:r>
            <a:endParaRPr sz="4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4" name="Google Shape;1684;p58"/>
          <p:cNvSpPr txBox="1">
            <a:spLocks noGrp="1"/>
          </p:cNvSpPr>
          <p:nvPr>
            <p:ph type="sldNum" idx="1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t>72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5" name="Google Shape;1685;p58"/>
          <p:cNvSpPr/>
          <p:nvPr/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6" name="Google Shape;1686;p58"/>
          <p:cNvSpPr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7" name="Google Shape;1687;p58"/>
          <p:cNvSpPr txBox="1">
            <a:spLocks noGrp="1"/>
          </p:cNvSpPr>
          <p:nvPr>
            <p:ph type="title"/>
          </p:nvPr>
        </p:nvSpPr>
        <p:spPr>
          <a:xfrm>
            <a:off x="1219200" y="304800"/>
            <a:ext cx="7793038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/>
              <a:t>Example: Counting money</a:t>
            </a:r>
            <a:endParaRPr/>
          </a:p>
        </p:txBody>
      </p:sp>
      <p:sp>
        <p:nvSpPr>
          <p:cNvPr id="1688" name="Google Shape;1688;p58"/>
          <p:cNvSpPr txBox="1">
            <a:spLocks noGrp="1"/>
          </p:cNvSpPr>
          <p:nvPr>
            <p:ph type="body" idx="1"/>
          </p:nvPr>
        </p:nvSpPr>
        <p:spPr>
          <a:xfrm>
            <a:off x="685800" y="1524000"/>
            <a:ext cx="80010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rmAutofit fontScale="92500" lnSpcReduction="10000"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ct val="60810"/>
              <a:buChar char="•"/>
            </a:pPr>
            <a:r>
              <a:rPr lang="en-US"/>
              <a:t>Suppose you want to count out a certain amount of money, using the fewest possible bills and coins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ct val="60810"/>
              <a:buChar char="•"/>
            </a:pPr>
            <a:r>
              <a:rPr lang="en-US"/>
              <a:t>A greedy algorithm would do this would be:</a:t>
            </a:r>
            <a:br>
              <a:rPr lang="en-US"/>
            </a:br>
            <a:r>
              <a:rPr lang="en-US">
                <a:solidFill>
                  <a:schemeClr val="accent2"/>
                </a:solidFill>
              </a:rPr>
              <a:t>At each step, take the largest possible bill or coin that does not overshoot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ct val="69498"/>
              <a:buChar char="–"/>
            </a:pPr>
            <a:r>
              <a:rPr lang="en-US"/>
              <a:t>Example: To make $6.39, you can choose:</a:t>
            </a:r>
            <a:endParaRPr/>
          </a:p>
          <a:p>
            <a:pPr marL="1371600" lvl="2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ct val="81081"/>
              <a:buChar char="•"/>
            </a:pPr>
            <a:r>
              <a:rPr lang="en-US"/>
              <a:t>a $5 bill</a:t>
            </a:r>
            <a:endParaRPr/>
          </a:p>
          <a:p>
            <a:pPr marL="1371600" lvl="2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ct val="81081"/>
              <a:buChar char="•"/>
            </a:pPr>
            <a:r>
              <a:rPr lang="en-US"/>
              <a:t>a $1 bill, to make $6</a:t>
            </a:r>
            <a:endParaRPr/>
          </a:p>
          <a:p>
            <a:pPr marL="1371600" lvl="2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ct val="81081"/>
              <a:buChar char="•"/>
            </a:pPr>
            <a:r>
              <a:rPr lang="en-US"/>
              <a:t>a 25¢ coin, to make $6.25</a:t>
            </a:r>
            <a:endParaRPr/>
          </a:p>
          <a:p>
            <a:pPr marL="1371600" lvl="2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ct val="81081"/>
              <a:buChar char="•"/>
            </a:pPr>
            <a:r>
              <a:rPr lang="en-US"/>
              <a:t>A 10¢ coin, to make $6.35</a:t>
            </a:r>
            <a:endParaRPr/>
          </a:p>
          <a:p>
            <a:pPr marL="1371600" lvl="2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ct val="81081"/>
              <a:buChar char="•"/>
            </a:pPr>
            <a:r>
              <a:rPr lang="en-US"/>
              <a:t>four 1¢ coins, to make $6.39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ct val="60810"/>
              <a:buChar char="•"/>
            </a:pPr>
            <a:r>
              <a:rPr lang="en-US"/>
              <a:t>For US money, the greedy algorithm always gives the optimum solution</a:t>
            </a:r>
            <a:endParaRPr/>
          </a:p>
        </p:txBody>
      </p:sp>
      <p:sp>
        <p:nvSpPr>
          <p:cNvPr id="1689" name="Google Shape;1689;p58"/>
          <p:cNvSpPr txBox="1"/>
          <p:nvPr/>
        </p:nvSpPr>
        <p:spPr>
          <a:xfrm>
            <a:off x="1311816" y="42204"/>
            <a:ext cx="6805246" cy="801858"/>
          </a:xfrm>
          <a:prstGeom prst="rect">
            <a:avLst/>
          </a:prstGeom>
          <a:solidFill>
            <a:srgbClr val="538CD5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 sz="4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Greedy Algorithms</a:t>
            </a:r>
            <a:endParaRPr sz="4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p7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None/>
              </a:pPr>
              <a:t>73</a:t>
            </a:fld>
            <a:endParaRPr/>
          </a:p>
        </p:txBody>
      </p:sp>
      <p:sp>
        <p:nvSpPr>
          <p:cNvPr id="1699" name="Google Shape;1699;p72"/>
          <p:cNvSpPr/>
          <p:nvPr/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0" name="Google Shape;1700;p72"/>
          <p:cNvSpPr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1" name="Google Shape;1701;p72"/>
          <p:cNvSpPr txBox="1">
            <a:spLocks noGrp="1"/>
          </p:cNvSpPr>
          <p:nvPr>
            <p:ph type="title"/>
          </p:nvPr>
        </p:nvSpPr>
        <p:spPr>
          <a:xfrm>
            <a:off x="1669365" y="304801"/>
            <a:ext cx="5955324" cy="623668"/>
          </a:xfrm>
          <a:prstGeom prst="rect">
            <a:avLst/>
          </a:prstGeom>
          <a:solidFill>
            <a:srgbClr val="538CD5"/>
          </a:solidFill>
          <a:ln>
            <a:noFill/>
          </a:ln>
        </p:spPr>
        <p:txBody>
          <a:bodyPr spcFirstLastPara="1" wrap="square" lIns="90475" tIns="44450" rIns="90475" bIns="4445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>
                <a:solidFill>
                  <a:schemeClr val="lt1"/>
                </a:solidFill>
              </a:rPr>
              <a:t>A scheduling problem</a:t>
            </a:r>
            <a:endParaRPr/>
          </a:p>
        </p:txBody>
      </p:sp>
      <p:sp>
        <p:nvSpPr>
          <p:cNvPr id="1702" name="Google Shape;1702;p72"/>
          <p:cNvSpPr txBox="1">
            <a:spLocks noGrp="1"/>
          </p:cNvSpPr>
          <p:nvPr>
            <p:ph type="body" idx="1"/>
          </p:nvPr>
        </p:nvSpPr>
        <p:spPr>
          <a:xfrm>
            <a:off x="381000" y="1371600"/>
            <a:ext cx="8574088" cy="2116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rmAutofit lnSpcReduction="10000"/>
          </a:bodyPr>
          <a:lstStyle/>
          <a:p>
            <a:pPr marL="45720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 sz="2400"/>
              <a:t>You have to run nine jobs, with running times of </a:t>
            </a:r>
            <a:r>
              <a:rPr lang="en-US" sz="240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r>
              <a:rPr lang="en-US" sz="2400"/>
              <a:t>, </a:t>
            </a:r>
            <a:r>
              <a:rPr lang="en-US" sz="240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5</a:t>
            </a:r>
            <a:r>
              <a:rPr lang="en-US" sz="2400"/>
              <a:t>, </a:t>
            </a:r>
            <a:r>
              <a:rPr lang="en-US" sz="240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6</a:t>
            </a:r>
            <a:r>
              <a:rPr lang="en-US" sz="2400"/>
              <a:t>, </a:t>
            </a:r>
            <a:r>
              <a:rPr lang="en-US" sz="240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10</a:t>
            </a:r>
            <a:r>
              <a:rPr lang="en-US" sz="2400"/>
              <a:t>, </a:t>
            </a:r>
            <a:r>
              <a:rPr lang="en-US" sz="240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11</a:t>
            </a:r>
            <a:r>
              <a:rPr lang="en-US" sz="2400"/>
              <a:t>, </a:t>
            </a:r>
            <a:r>
              <a:rPr lang="en-US" sz="240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14</a:t>
            </a:r>
            <a:r>
              <a:rPr lang="en-US" sz="2400"/>
              <a:t>, </a:t>
            </a:r>
            <a:r>
              <a:rPr lang="en-US" sz="240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15</a:t>
            </a:r>
            <a:r>
              <a:rPr lang="en-US" sz="2400"/>
              <a:t>, </a:t>
            </a:r>
            <a:r>
              <a:rPr lang="en-US" sz="240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18</a:t>
            </a:r>
            <a:r>
              <a:rPr lang="en-US" sz="2400"/>
              <a:t>, and </a:t>
            </a:r>
            <a:r>
              <a:rPr lang="en-US" sz="240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20</a:t>
            </a:r>
            <a:r>
              <a:rPr lang="en-US" sz="2400"/>
              <a:t> minutes</a:t>
            </a:r>
            <a:endParaRPr/>
          </a:p>
          <a:p>
            <a:pPr marL="45720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 sz="2400"/>
              <a:t>You have three processors on which you can run these jobs</a:t>
            </a:r>
            <a:endParaRPr/>
          </a:p>
          <a:p>
            <a:pPr marL="45720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 sz="2400"/>
              <a:t>You decide to do the longest-running jobs first, on whatever processor is available</a:t>
            </a:r>
            <a:endParaRPr/>
          </a:p>
        </p:txBody>
      </p:sp>
      <p:grpSp>
        <p:nvGrpSpPr>
          <p:cNvPr id="2" name="Google Shape;1703;p72"/>
          <p:cNvGrpSpPr/>
          <p:nvPr/>
        </p:nvGrpSpPr>
        <p:grpSpPr>
          <a:xfrm>
            <a:off x="1219200" y="3657600"/>
            <a:ext cx="3802063" cy="382588"/>
            <a:chOff x="768" y="2304"/>
            <a:chExt cx="2395" cy="241"/>
          </a:xfrm>
        </p:grpSpPr>
        <p:sp>
          <p:nvSpPr>
            <p:cNvPr id="1704" name="Google Shape;1704;p72"/>
            <p:cNvSpPr/>
            <p:nvPr/>
          </p:nvSpPr>
          <p:spPr>
            <a:xfrm>
              <a:off x="768" y="2304"/>
              <a:ext cx="2395" cy="241"/>
            </a:xfrm>
            <a:custGeom>
              <a:avLst/>
              <a:gdLst/>
              <a:ahLst/>
              <a:cxnLst/>
              <a:rect l="l" t="t" r="r" b="b"/>
              <a:pathLst>
                <a:path w="2395" h="241" extrusionOk="0">
                  <a:moveTo>
                    <a:pt x="0" y="0"/>
                  </a:moveTo>
                  <a:lnTo>
                    <a:pt x="0" y="240"/>
                  </a:lnTo>
                  <a:lnTo>
                    <a:pt x="2394" y="240"/>
                  </a:lnTo>
                  <a:lnTo>
                    <a:pt x="2394" y="0"/>
                  </a:lnTo>
                  <a:lnTo>
                    <a:pt x="0" y="0"/>
                  </a:lnTo>
                </a:path>
              </a:pathLst>
            </a:custGeom>
            <a:solidFill>
              <a:srgbClr val="FFFFBF"/>
            </a:solidFill>
            <a:ln w="127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5" name="Google Shape;1705;p72"/>
            <p:cNvSpPr/>
            <p:nvPr/>
          </p:nvSpPr>
          <p:spPr>
            <a:xfrm>
              <a:off x="829" y="2336"/>
              <a:ext cx="2272" cy="1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accent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20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" name="Google Shape;1706;p72"/>
          <p:cNvGrpSpPr/>
          <p:nvPr/>
        </p:nvGrpSpPr>
        <p:grpSpPr>
          <a:xfrm>
            <a:off x="1219200" y="4267200"/>
            <a:ext cx="3468688" cy="382588"/>
            <a:chOff x="768" y="2688"/>
            <a:chExt cx="2185" cy="241"/>
          </a:xfrm>
        </p:grpSpPr>
        <p:sp>
          <p:nvSpPr>
            <p:cNvPr id="1707" name="Google Shape;1707;p72"/>
            <p:cNvSpPr/>
            <p:nvPr/>
          </p:nvSpPr>
          <p:spPr>
            <a:xfrm>
              <a:off x="768" y="2688"/>
              <a:ext cx="2185" cy="241"/>
            </a:xfrm>
            <a:custGeom>
              <a:avLst/>
              <a:gdLst/>
              <a:ahLst/>
              <a:cxnLst/>
              <a:rect l="l" t="t" r="r" b="b"/>
              <a:pathLst>
                <a:path w="2185" h="241" extrusionOk="0">
                  <a:moveTo>
                    <a:pt x="0" y="0"/>
                  </a:moveTo>
                  <a:lnTo>
                    <a:pt x="0" y="240"/>
                  </a:lnTo>
                  <a:lnTo>
                    <a:pt x="2184" y="240"/>
                  </a:lnTo>
                  <a:lnTo>
                    <a:pt x="2184" y="0"/>
                  </a:lnTo>
                  <a:lnTo>
                    <a:pt x="0" y="0"/>
                  </a:lnTo>
                </a:path>
              </a:pathLst>
            </a:custGeom>
            <a:solidFill>
              <a:srgbClr val="FFBFBF"/>
            </a:solidFill>
            <a:ln w="127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8" name="Google Shape;1708;p72"/>
            <p:cNvSpPr/>
            <p:nvPr/>
          </p:nvSpPr>
          <p:spPr>
            <a:xfrm>
              <a:off x="829" y="2720"/>
              <a:ext cx="2062" cy="1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accent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18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" name="Google Shape;1709;p72"/>
          <p:cNvGrpSpPr/>
          <p:nvPr/>
        </p:nvGrpSpPr>
        <p:grpSpPr>
          <a:xfrm>
            <a:off x="1219200" y="4953000"/>
            <a:ext cx="2868613" cy="382588"/>
            <a:chOff x="768" y="3120"/>
            <a:chExt cx="1807" cy="241"/>
          </a:xfrm>
        </p:grpSpPr>
        <p:sp>
          <p:nvSpPr>
            <p:cNvPr id="1710" name="Google Shape;1710;p72"/>
            <p:cNvSpPr/>
            <p:nvPr/>
          </p:nvSpPr>
          <p:spPr>
            <a:xfrm>
              <a:off x="768" y="3120"/>
              <a:ext cx="1807" cy="241"/>
            </a:xfrm>
            <a:custGeom>
              <a:avLst/>
              <a:gdLst/>
              <a:ahLst/>
              <a:cxnLst/>
              <a:rect l="l" t="t" r="r" b="b"/>
              <a:pathLst>
                <a:path w="1807" h="241" extrusionOk="0">
                  <a:moveTo>
                    <a:pt x="0" y="0"/>
                  </a:moveTo>
                  <a:lnTo>
                    <a:pt x="0" y="240"/>
                  </a:lnTo>
                  <a:lnTo>
                    <a:pt x="1806" y="240"/>
                  </a:lnTo>
                  <a:lnTo>
                    <a:pt x="1806" y="0"/>
                  </a:lnTo>
                  <a:lnTo>
                    <a:pt x="0" y="0"/>
                  </a:lnTo>
                </a:path>
              </a:pathLst>
            </a:custGeom>
            <a:solidFill>
              <a:srgbClr val="BFFFFF"/>
            </a:solidFill>
            <a:ln w="127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1" name="Google Shape;1711;p72"/>
            <p:cNvSpPr/>
            <p:nvPr/>
          </p:nvSpPr>
          <p:spPr>
            <a:xfrm>
              <a:off x="829" y="3152"/>
              <a:ext cx="1684" cy="1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accent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15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" name="Google Shape;1712;p72"/>
          <p:cNvGrpSpPr/>
          <p:nvPr/>
        </p:nvGrpSpPr>
        <p:grpSpPr>
          <a:xfrm>
            <a:off x="4083050" y="4953000"/>
            <a:ext cx="2735263" cy="382588"/>
            <a:chOff x="2572" y="3120"/>
            <a:chExt cx="1723" cy="241"/>
          </a:xfrm>
        </p:grpSpPr>
        <p:sp>
          <p:nvSpPr>
            <p:cNvPr id="1713" name="Google Shape;1713;p72"/>
            <p:cNvSpPr/>
            <p:nvPr/>
          </p:nvSpPr>
          <p:spPr>
            <a:xfrm>
              <a:off x="2572" y="3120"/>
              <a:ext cx="1723" cy="241"/>
            </a:xfrm>
            <a:custGeom>
              <a:avLst/>
              <a:gdLst/>
              <a:ahLst/>
              <a:cxnLst/>
              <a:rect l="l" t="t" r="r" b="b"/>
              <a:pathLst>
                <a:path w="1723" h="241" extrusionOk="0">
                  <a:moveTo>
                    <a:pt x="0" y="0"/>
                  </a:moveTo>
                  <a:lnTo>
                    <a:pt x="0" y="240"/>
                  </a:lnTo>
                  <a:lnTo>
                    <a:pt x="1722" y="240"/>
                  </a:lnTo>
                  <a:lnTo>
                    <a:pt x="1722" y="0"/>
                  </a:lnTo>
                  <a:lnTo>
                    <a:pt x="0" y="0"/>
                  </a:lnTo>
                </a:path>
              </a:pathLst>
            </a:custGeom>
            <a:solidFill>
              <a:srgbClr val="BFFFFF"/>
            </a:solidFill>
            <a:ln w="127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4" name="Google Shape;1714;p72"/>
            <p:cNvSpPr/>
            <p:nvPr/>
          </p:nvSpPr>
          <p:spPr>
            <a:xfrm>
              <a:off x="2633" y="3152"/>
              <a:ext cx="1600" cy="1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accent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14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715;p72"/>
          <p:cNvGrpSpPr/>
          <p:nvPr/>
        </p:nvGrpSpPr>
        <p:grpSpPr>
          <a:xfrm>
            <a:off x="4679950" y="4267200"/>
            <a:ext cx="2135188" cy="382588"/>
            <a:chOff x="2948" y="2688"/>
            <a:chExt cx="1345" cy="241"/>
          </a:xfrm>
        </p:grpSpPr>
        <p:sp>
          <p:nvSpPr>
            <p:cNvPr id="1716" name="Google Shape;1716;p72"/>
            <p:cNvSpPr/>
            <p:nvPr/>
          </p:nvSpPr>
          <p:spPr>
            <a:xfrm>
              <a:off x="2948" y="2688"/>
              <a:ext cx="1345" cy="241"/>
            </a:xfrm>
            <a:custGeom>
              <a:avLst/>
              <a:gdLst/>
              <a:ahLst/>
              <a:cxnLst/>
              <a:rect l="l" t="t" r="r" b="b"/>
              <a:pathLst>
                <a:path w="1345" h="241" extrusionOk="0">
                  <a:moveTo>
                    <a:pt x="0" y="0"/>
                  </a:moveTo>
                  <a:lnTo>
                    <a:pt x="0" y="240"/>
                  </a:lnTo>
                  <a:lnTo>
                    <a:pt x="1344" y="240"/>
                  </a:lnTo>
                  <a:lnTo>
                    <a:pt x="1344" y="0"/>
                  </a:lnTo>
                  <a:lnTo>
                    <a:pt x="0" y="0"/>
                  </a:lnTo>
                </a:path>
              </a:pathLst>
            </a:custGeom>
            <a:solidFill>
              <a:srgbClr val="FFBFBF"/>
            </a:solidFill>
            <a:ln w="127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7" name="Google Shape;1717;p72"/>
            <p:cNvSpPr/>
            <p:nvPr/>
          </p:nvSpPr>
          <p:spPr>
            <a:xfrm>
              <a:off x="3009" y="2720"/>
              <a:ext cx="1222" cy="1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accent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11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" name="Google Shape;1718;p72"/>
          <p:cNvGrpSpPr/>
          <p:nvPr/>
        </p:nvGrpSpPr>
        <p:grpSpPr>
          <a:xfrm>
            <a:off x="5029200" y="3657600"/>
            <a:ext cx="1935163" cy="382588"/>
            <a:chOff x="3168" y="2304"/>
            <a:chExt cx="1219" cy="241"/>
          </a:xfrm>
        </p:grpSpPr>
        <p:sp>
          <p:nvSpPr>
            <p:cNvPr id="1719" name="Google Shape;1719;p72"/>
            <p:cNvSpPr/>
            <p:nvPr/>
          </p:nvSpPr>
          <p:spPr>
            <a:xfrm>
              <a:off x="3168" y="2304"/>
              <a:ext cx="1219" cy="241"/>
            </a:xfrm>
            <a:custGeom>
              <a:avLst/>
              <a:gdLst/>
              <a:ahLst/>
              <a:cxnLst/>
              <a:rect l="l" t="t" r="r" b="b"/>
              <a:pathLst>
                <a:path w="1219" h="241" extrusionOk="0">
                  <a:moveTo>
                    <a:pt x="0" y="0"/>
                  </a:moveTo>
                  <a:lnTo>
                    <a:pt x="0" y="240"/>
                  </a:lnTo>
                  <a:lnTo>
                    <a:pt x="1218" y="240"/>
                  </a:lnTo>
                  <a:lnTo>
                    <a:pt x="1218" y="0"/>
                  </a:lnTo>
                  <a:lnTo>
                    <a:pt x="0" y="0"/>
                  </a:lnTo>
                </a:path>
              </a:pathLst>
            </a:custGeom>
            <a:solidFill>
              <a:srgbClr val="FFFFBF"/>
            </a:solidFill>
            <a:ln w="127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0" name="Google Shape;1720;p72"/>
            <p:cNvSpPr/>
            <p:nvPr/>
          </p:nvSpPr>
          <p:spPr>
            <a:xfrm>
              <a:off x="3229" y="2336"/>
              <a:ext cx="1096" cy="1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accent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10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" name="Google Shape;1721;p72"/>
          <p:cNvGrpSpPr/>
          <p:nvPr/>
        </p:nvGrpSpPr>
        <p:grpSpPr>
          <a:xfrm>
            <a:off x="6800850" y="4267200"/>
            <a:ext cx="1201738" cy="382588"/>
            <a:chOff x="4284" y="2688"/>
            <a:chExt cx="757" cy="241"/>
          </a:xfrm>
        </p:grpSpPr>
        <p:sp>
          <p:nvSpPr>
            <p:cNvPr id="1722" name="Google Shape;1722;p72"/>
            <p:cNvSpPr/>
            <p:nvPr/>
          </p:nvSpPr>
          <p:spPr>
            <a:xfrm>
              <a:off x="4284" y="2688"/>
              <a:ext cx="757" cy="241"/>
            </a:xfrm>
            <a:custGeom>
              <a:avLst/>
              <a:gdLst/>
              <a:ahLst/>
              <a:cxnLst/>
              <a:rect l="l" t="t" r="r" b="b"/>
              <a:pathLst>
                <a:path w="757" h="241" extrusionOk="0">
                  <a:moveTo>
                    <a:pt x="0" y="0"/>
                  </a:moveTo>
                  <a:lnTo>
                    <a:pt x="0" y="240"/>
                  </a:lnTo>
                  <a:lnTo>
                    <a:pt x="756" y="240"/>
                  </a:lnTo>
                  <a:lnTo>
                    <a:pt x="756" y="0"/>
                  </a:lnTo>
                  <a:lnTo>
                    <a:pt x="0" y="0"/>
                  </a:lnTo>
                </a:path>
              </a:pathLst>
            </a:custGeom>
            <a:solidFill>
              <a:srgbClr val="FFBFBF"/>
            </a:solidFill>
            <a:ln w="127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3" name="Google Shape;1723;p72"/>
            <p:cNvSpPr/>
            <p:nvPr/>
          </p:nvSpPr>
          <p:spPr>
            <a:xfrm>
              <a:off x="4345" y="2720"/>
              <a:ext cx="634" cy="1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accent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6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oogle Shape;1724;p72"/>
          <p:cNvGrpSpPr/>
          <p:nvPr/>
        </p:nvGrpSpPr>
        <p:grpSpPr>
          <a:xfrm>
            <a:off x="6824663" y="4953000"/>
            <a:ext cx="1068387" cy="382588"/>
            <a:chOff x="4299" y="3120"/>
            <a:chExt cx="673" cy="241"/>
          </a:xfrm>
        </p:grpSpPr>
        <p:sp>
          <p:nvSpPr>
            <p:cNvPr id="1725" name="Google Shape;1725;p72"/>
            <p:cNvSpPr/>
            <p:nvPr/>
          </p:nvSpPr>
          <p:spPr>
            <a:xfrm>
              <a:off x="4299" y="3120"/>
              <a:ext cx="673" cy="241"/>
            </a:xfrm>
            <a:custGeom>
              <a:avLst/>
              <a:gdLst/>
              <a:ahLst/>
              <a:cxnLst/>
              <a:rect l="l" t="t" r="r" b="b"/>
              <a:pathLst>
                <a:path w="673" h="241" extrusionOk="0">
                  <a:moveTo>
                    <a:pt x="0" y="0"/>
                  </a:moveTo>
                  <a:lnTo>
                    <a:pt x="0" y="240"/>
                  </a:lnTo>
                  <a:lnTo>
                    <a:pt x="672" y="240"/>
                  </a:lnTo>
                  <a:lnTo>
                    <a:pt x="672" y="0"/>
                  </a:lnTo>
                  <a:lnTo>
                    <a:pt x="0" y="0"/>
                  </a:lnTo>
                </a:path>
              </a:pathLst>
            </a:custGeom>
            <a:solidFill>
              <a:srgbClr val="BFFFFF"/>
            </a:solidFill>
            <a:ln w="127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6" name="Google Shape;1726;p72"/>
            <p:cNvSpPr/>
            <p:nvPr/>
          </p:nvSpPr>
          <p:spPr>
            <a:xfrm>
              <a:off x="4360" y="3152"/>
              <a:ext cx="550" cy="1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accent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5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727;p72"/>
          <p:cNvGrpSpPr/>
          <p:nvPr/>
        </p:nvGrpSpPr>
        <p:grpSpPr>
          <a:xfrm>
            <a:off x="6953250" y="3657600"/>
            <a:ext cx="668338" cy="382588"/>
            <a:chOff x="4380" y="2304"/>
            <a:chExt cx="421" cy="241"/>
          </a:xfrm>
        </p:grpSpPr>
        <p:sp>
          <p:nvSpPr>
            <p:cNvPr id="1728" name="Google Shape;1728;p72"/>
            <p:cNvSpPr/>
            <p:nvPr/>
          </p:nvSpPr>
          <p:spPr>
            <a:xfrm>
              <a:off x="4380" y="2304"/>
              <a:ext cx="421" cy="241"/>
            </a:xfrm>
            <a:custGeom>
              <a:avLst/>
              <a:gdLst/>
              <a:ahLst/>
              <a:cxnLst/>
              <a:rect l="l" t="t" r="r" b="b"/>
              <a:pathLst>
                <a:path w="421" h="241" extrusionOk="0">
                  <a:moveTo>
                    <a:pt x="0" y="0"/>
                  </a:moveTo>
                  <a:lnTo>
                    <a:pt x="0" y="240"/>
                  </a:lnTo>
                  <a:lnTo>
                    <a:pt x="420" y="240"/>
                  </a:lnTo>
                  <a:lnTo>
                    <a:pt x="420" y="0"/>
                  </a:lnTo>
                  <a:lnTo>
                    <a:pt x="0" y="0"/>
                  </a:lnTo>
                </a:path>
              </a:pathLst>
            </a:custGeom>
            <a:solidFill>
              <a:srgbClr val="FFFFBF"/>
            </a:solidFill>
            <a:ln w="127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9" name="Google Shape;1729;p72"/>
            <p:cNvSpPr/>
            <p:nvPr/>
          </p:nvSpPr>
          <p:spPr>
            <a:xfrm>
              <a:off x="4441" y="2336"/>
              <a:ext cx="298" cy="1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accent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30" name="Google Shape;1730;p72"/>
          <p:cNvSpPr/>
          <p:nvPr/>
        </p:nvSpPr>
        <p:spPr>
          <a:xfrm>
            <a:off x="763588" y="3582988"/>
            <a:ext cx="606425" cy="1768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P1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P2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P3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1" name="Google Shape;1731;p72"/>
          <p:cNvSpPr txBox="1">
            <a:spLocks noGrp="1"/>
          </p:cNvSpPr>
          <p:nvPr>
            <p:ph type="body" idx="2"/>
          </p:nvPr>
        </p:nvSpPr>
        <p:spPr>
          <a:xfrm>
            <a:off x="762000" y="5638800"/>
            <a:ext cx="76962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rmAutofit/>
          </a:bodyPr>
          <a:lstStyle/>
          <a:p>
            <a:pPr marL="45720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 sz="2400"/>
              <a:t>Time to completion: </a:t>
            </a:r>
            <a:r>
              <a:rPr lang="en-US" sz="240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18 + 11 + 6 = 35</a:t>
            </a:r>
            <a:r>
              <a:rPr lang="en-US" sz="2400"/>
              <a:t> minutes</a:t>
            </a:r>
            <a:endParaRPr/>
          </a:p>
          <a:p>
            <a:pPr marL="45720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 sz="2400"/>
              <a:t>This solution isn’t bad, but we might be able to do better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" name="Google Shape;1740;p7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None/>
              </a:pPr>
              <a:t>74</a:t>
            </a:fld>
            <a:endParaRPr/>
          </a:p>
        </p:txBody>
      </p:sp>
      <p:sp>
        <p:nvSpPr>
          <p:cNvPr id="1741" name="Google Shape;1741;p73"/>
          <p:cNvSpPr txBox="1">
            <a:spLocks noGrp="1"/>
          </p:cNvSpPr>
          <p:nvPr>
            <p:ph type="title"/>
          </p:nvPr>
        </p:nvSpPr>
        <p:spPr>
          <a:xfrm>
            <a:off x="1219200" y="304800"/>
            <a:ext cx="7793038" cy="762000"/>
          </a:xfrm>
          <a:prstGeom prst="rect">
            <a:avLst/>
          </a:prstGeom>
          <a:solidFill>
            <a:srgbClr val="538CD5"/>
          </a:solidFill>
          <a:ln>
            <a:noFill/>
          </a:ln>
        </p:spPr>
        <p:txBody>
          <a:bodyPr spcFirstLastPara="1" wrap="square" lIns="90475" tIns="44450" rIns="90475" bIns="4445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>
                <a:solidFill>
                  <a:schemeClr val="lt1"/>
                </a:solidFill>
              </a:rPr>
              <a:t>Another approach</a:t>
            </a:r>
            <a:endParaRPr/>
          </a:p>
        </p:txBody>
      </p:sp>
      <p:sp>
        <p:nvSpPr>
          <p:cNvPr id="1742" name="Google Shape;1742;p73"/>
          <p:cNvSpPr txBox="1">
            <a:spLocks noGrp="1"/>
          </p:cNvSpPr>
          <p:nvPr>
            <p:ph type="body" idx="1"/>
          </p:nvPr>
        </p:nvSpPr>
        <p:spPr>
          <a:xfrm>
            <a:off x="381000" y="1371600"/>
            <a:ext cx="8574088" cy="14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rmAutofit/>
          </a:bodyPr>
          <a:lstStyle/>
          <a:p>
            <a:pPr marL="45720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 sz="2400"/>
              <a:t>What would be the result if you ran the </a:t>
            </a:r>
            <a:r>
              <a:rPr lang="en-US" sz="2400" i="1"/>
              <a:t>shortest</a:t>
            </a:r>
            <a:r>
              <a:rPr lang="en-US" sz="2400"/>
              <a:t> job first?</a:t>
            </a:r>
            <a:endParaRPr/>
          </a:p>
          <a:p>
            <a:pPr marL="45720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 sz="2400"/>
              <a:t>Again, the running times are </a:t>
            </a:r>
            <a:r>
              <a:rPr lang="en-US" sz="240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r>
              <a:rPr lang="en-US" sz="2400"/>
              <a:t>, </a:t>
            </a:r>
            <a:r>
              <a:rPr lang="en-US" sz="240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5</a:t>
            </a:r>
            <a:r>
              <a:rPr lang="en-US" sz="2400"/>
              <a:t>, </a:t>
            </a:r>
            <a:r>
              <a:rPr lang="en-US" sz="240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6</a:t>
            </a:r>
            <a:r>
              <a:rPr lang="en-US" sz="2400"/>
              <a:t>, </a:t>
            </a:r>
            <a:r>
              <a:rPr lang="en-US" sz="240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10</a:t>
            </a:r>
            <a:r>
              <a:rPr lang="en-US" sz="2400"/>
              <a:t>, </a:t>
            </a:r>
            <a:r>
              <a:rPr lang="en-US" sz="240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11</a:t>
            </a:r>
            <a:r>
              <a:rPr lang="en-US" sz="2400"/>
              <a:t>, </a:t>
            </a:r>
            <a:r>
              <a:rPr lang="en-US" sz="240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14</a:t>
            </a:r>
            <a:r>
              <a:rPr lang="en-US" sz="2400"/>
              <a:t>, </a:t>
            </a:r>
            <a:r>
              <a:rPr lang="en-US" sz="240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15</a:t>
            </a:r>
            <a:r>
              <a:rPr lang="en-US" sz="2400"/>
              <a:t>, </a:t>
            </a:r>
            <a:r>
              <a:rPr lang="en-US" sz="240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18</a:t>
            </a:r>
            <a:r>
              <a:rPr lang="en-US" sz="2400"/>
              <a:t>, and </a:t>
            </a:r>
            <a:r>
              <a:rPr lang="en-US" sz="240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20</a:t>
            </a:r>
            <a:r>
              <a:rPr lang="en-US" sz="2400"/>
              <a:t> minutes</a:t>
            </a:r>
            <a:endParaRPr/>
          </a:p>
        </p:txBody>
      </p:sp>
      <p:sp>
        <p:nvSpPr>
          <p:cNvPr id="1743" name="Google Shape;1743;p73"/>
          <p:cNvSpPr txBox="1">
            <a:spLocks noGrp="1"/>
          </p:cNvSpPr>
          <p:nvPr>
            <p:ph type="body" idx="2"/>
          </p:nvPr>
        </p:nvSpPr>
        <p:spPr>
          <a:xfrm>
            <a:off x="609600" y="4876800"/>
            <a:ext cx="7848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rmAutofit fontScale="92500"/>
          </a:bodyPr>
          <a:lstStyle/>
          <a:p>
            <a:pPr marL="45720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44144"/>
              <a:buChar char="•"/>
            </a:pPr>
            <a:r>
              <a:rPr lang="en-US" sz="2400"/>
              <a:t>That wasn’t such a good idea; time to completion is now</a:t>
            </a:r>
            <a:br>
              <a:rPr lang="en-US" sz="2400"/>
            </a:br>
            <a:r>
              <a:rPr lang="en-US" sz="240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6 + 14 + 20 = 40</a:t>
            </a:r>
            <a:r>
              <a:rPr lang="en-US" sz="2400"/>
              <a:t> minutes</a:t>
            </a:r>
            <a:endParaRPr/>
          </a:p>
          <a:p>
            <a:pPr marL="45720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44144"/>
              <a:buChar char="•"/>
            </a:pPr>
            <a:r>
              <a:rPr lang="en-US" sz="2400"/>
              <a:t>Note, however, that the greedy algorithm itself is fast</a:t>
            </a:r>
            <a:endParaRPr/>
          </a:p>
          <a:p>
            <a:pPr marL="91440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ct val="151351"/>
              <a:buChar char="–"/>
            </a:pPr>
            <a:r>
              <a:rPr lang="en-US" sz="2000"/>
              <a:t>All we had to do at each stage was pick the minimum or maximum</a:t>
            </a:r>
            <a:endParaRPr/>
          </a:p>
        </p:txBody>
      </p:sp>
      <p:grpSp>
        <p:nvGrpSpPr>
          <p:cNvPr id="2" name="Google Shape;1744;p73"/>
          <p:cNvGrpSpPr/>
          <p:nvPr/>
        </p:nvGrpSpPr>
        <p:grpSpPr>
          <a:xfrm>
            <a:off x="5235575" y="4343400"/>
            <a:ext cx="3802063" cy="382588"/>
            <a:chOff x="3298" y="2736"/>
            <a:chExt cx="2395" cy="241"/>
          </a:xfrm>
        </p:grpSpPr>
        <p:sp>
          <p:nvSpPr>
            <p:cNvPr id="1745" name="Google Shape;1745;p73"/>
            <p:cNvSpPr/>
            <p:nvPr/>
          </p:nvSpPr>
          <p:spPr>
            <a:xfrm>
              <a:off x="3298" y="2736"/>
              <a:ext cx="2395" cy="241"/>
            </a:xfrm>
            <a:custGeom>
              <a:avLst/>
              <a:gdLst/>
              <a:ahLst/>
              <a:cxnLst/>
              <a:rect l="l" t="t" r="r" b="b"/>
              <a:pathLst>
                <a:path w="2395" h="241" extrusionOk="0">
                  <a:moveTo>
                    <a:pt x="0" y="0"/>
                  </a:moveTo>
                  <a:lnTo>
                    <a:pt x="0" y="240"/>
                  </a:lnTo>
                  <a:lnTo>
                    <a:pt x="2394" y="240"/>
                  </a:lnTo>
                  <a:lnTo>
                    <a:pt x="2394" y="0"/>
                  </a:lnTo>
                  <a:lnTo>
                    <a:pt x="0" y="0"/>
                  </a:lnTo>
                </a:path>
              </a:pathLst>
            </a:custGeom>
            <a:solidFill>
              <a:srgbClr val="BFFFFF"/>
            </a:solidFill>
            <a:ln w="127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6" name="Google Shape;1746;p73"/>
            <p:cNvSpPr/>
            <p:nvPr/>
          </p:nvSpPr>
          <p:spPr>
            <a:xfrm>
              <a:off x="3359" y="2768"/>
              <a:ext cx="2272" cy="1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accent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20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" name="Google Shape;1747;p73"/>
          <p:cNvGrpSpPr/>
          <p:nvPr/>
        </p:nvGrpSpPr>
        <p:grpSpPr>
          <a:xfrm>
            <a:off x="4495800" y="3733800"/>
            <a:ext cx="3468688" cy="382588"/>
            <a:chOff x="2832" y="2352"/>
            <a:chExt cx="2185" cy="241"/>
          </a:xfrm>
        </p:grpSpPr>
        <p:sp>
          <p:nvSpPr>
            <p:cNvPr id="1748" name="Google Shape;1748;p73"/>
            <p:cNvSpPr/>
            <p:nvPr/>
          </p:nvSpPr>
          <p:spPr>
            <a:xfrm>
              <a:off x="2832" y="2352"/>
              <a:ext cx="2185" cy="241"/>
            </a:xfrm>
            <a:custGeom>
              <a:avLst/>
              <a:gdLst/>
              <a:ahLst/>
              <a:cxnLst/>
              <a:rect l="l" t="t" r="r" b="b"/>
              <a:pathLst>
                <a:path w="2185" h="241" extrusionOk="0">
                  <a:moveTo>
                    <a:pt x="0" y="0"/>
                  </a:moveTo>
                  <a:lnTo>
                    <a:pt x="0" y="240"/>
                  </a:lnTo>
                  <a:lnTo>
                    <a:pt x="2184" y="240"/>
                  </a:lnTo>
                  <a:lnTo>
                    <a:pt x="2184" y="0"/>
                  </a:lnTo>
                  <a:lnTo>
                    <a:pt x="0" y="0"/>
                  </a:lnTo>
                </a:path>
              </a:pathLst>
            </a:custGeom>
            <a:solidFill>
              <a:srgbClr val="FFBFBF"/>
            </a:solidFill>
            <a:ln w="127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9" name="Google Shape;1749;p73"/>
            <p:cNvSpPr/>
            <p:nvPr/>
          </p:nvSpPr>
          <p:spPr>
            <a:xfrm>
              <a:off x="2893" y="2384"/>
              <a:ext cx="2062" cy="1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accent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18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" name="Google Shape;1750;p73"/>
          <p:cNvGrpSpPr/>
          <p:nvPr/>
        </p:nvGrpSpPr>
        <p:grpSpPr>
          <a:xfrm>
            <a:off x="3886200" y="3124200"/>
            <a:ext cx="2868613" cy="382588"/>
            <a:chOff x="2448" y="1968"/>
            <a:chExt cx="1807" cy="241"/>
          </a:xfrm>
        </p:grpSpPr>
        <p:sp>
          <p:nvSpPr>
            <p:cNvPr id="1751" name="Google Shape;1751;p73"/>
            <p:cNvSpPr/>
            <p:nvPr/>
          </p:nvSpPr>
          <p:spPr>
            <a:xfrm>
              <a:off x="2448" y="1968"/>
              <a:ext cx="1807" cy="241"/>
            </a:xfrm>
            <a:custGeom>
              <a:avLst/>
              <a:gdLst/>
              <a:ahLst/>
              <a:cxnLst/>
              <a:rect l="l" t="t" r="r" b="b"/>
              <a:pathLst>
                <a:path w="1807" h="241" extrusionOk="0">
                  <a:moveTo>
                    <a:pt x="0" y="0"/>
                  </a:moveTo>
                  <a:lnTo>
                    <a:pt x="0" y="240"/>
                  </a:lnTo>
                  <a:lnTo>
                    <a:pt x="1806" y="240"/>
                  </a:lnTo>
                  <a:lnTo>
                    <a:pt x="1806" y="0"/>
                  </a:lnTo>
                  <a:lnTo>
                    <a:pt x="0" y="0"/>
                  </a:lnTo>
                </a:path>
              </a:pathLst>
            </a:custGeom>
            <a:solidFill>
              <a:srgbClr val="FFFFBF"/>
            </a:solidFill>
            <a:ln w="127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2" name="Google Shape;1752;p73"/>
            <p:cNvSpPr/>
            <p:nvPr/>
          </p:nvSpPr>
          <p:spPr>
            <a:xfrm>
              <a:off x="2509" y="2000"/>
              <a:ext cx="1684" cy="1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accent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15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" name="Google Shape;1753;p73"/>
          <p:cNvGrpSpPr/>
          <p:nvPr/>
        </p:nvGrpSpPr>
        <p:grpSpPr>
          <a:xfrm>
            <a:off x="2490788" y="4343400"/>
            <a:ext cx="2735262" cy="382588"/>
            <a:chOff x="1569" y="2736"/>
            <a:chExt cx="1723" cy="241"/>
          </a:xfrm>
        </p:grpSpPr>
        <p:sp>
          <p:nvSpPr>
            <p:cNvPr id="1754" name="Google Shape;1754;p73"/>
            <p:cNvSpPr/>
            <p:nvPr/>
          </p:nvSpPr>
          <p:spPr>
            <a:xfrm>
              <a:off x="1569" y="2736"/>
              <a:ext cx="1723" cy="241"/>
            </a:xfrm>
            <a:custGeom>
              <a:avLst/>
              <a:gdLst/>
              <a:ahLst/>
              <a:cxnLst/>
              <a:rect l="l" t="t" r="r" b="b"/>
              <a:pathLst>
                <a:path w="1723" h="241" extrusionOk="0">
                  <a:moveTo>
                    <a:pt x="0" y="0"/>
                  </a:moveTo>
                  <a:lnTo>
                    <a:pt x="0" y="240"/>
                  </a:lnTo>
                  <a:lnTo>
                    <a:pt x="1722" y="240"/>
                  </a:lnTo>
                  <a:lnTo>
                    <a:pt x="1722" y="0"/>
                  </a:lnTo>
                  <a:lnTo>
                    <a:pt x="0" y="0"/>
                  </a:lnTo>
                </a:path>
              </a:pathLst>
            </a:custGeom>
            <a:solidFill>
              <a:srgbClr val="BFFFFF"/>
            </a:solidFill>
            <a:ln w="127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5" name="Google Shape;1755;p73"/>
            <p:cNvSpPr/>
            <p:nvPr/>
          </p:nvSpPr>
          <p:spPr>
            <a:xfrm>
              <a:off x="1630" y="2768"/>
              <a:ext cx="1600" cy="1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accent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14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" name="Google Shape;1756;p73"/>
          <p:cNvGrpSpPr/>
          <p:nvPr/>
        </p:nvGrpSpPr>
        <p:grpSpPr>
          <a:xfrm>
            <a:off x="2362200" y="3733800"/>
            <a:ext cx="2135188" cy="382588"/>
            <a:chOff x="1488" y="2352"/>
            <a:chExt cx="1345" cy="241"/>
          </a:xfrm>
        </p:grpSpPr>
        <p:sp>
          <p:nvSpPr>
            <p:cNvPr id="1757" name="Google Shape;1757;p73"/>
            <p:cNvSpPr/>
            <p:nvPr/>
          </p:nvSpPr>
          <p:spPr>
            <a:xfrm>
              <a:off x="1488" y="2352"/>
              <a:ext cx="1345" cy="241"/>
            </a:xfrm>
            <a:custGeom>
              <a:avLst/>
              <a:gdLst/>
              <a:ahLst/>
              <a:cxnLst/>
              <a:rect l="l" t="t" r="r" b="b"/>
              <a:pathLst>
                <a:path w="1345" h="241" extrusionOk="0">
                  <a:moveTo>
                    <a:pt x="0" y="0"/>
                  </a:moveTo>
                  <a:lnTo>
                    <a:pt x="0" y="240"/>
                  </a:lnTo>
                  <a:lnTo>
                    <a:pt x="1344" y="240"/>
                  </a:lnTo>
                  <a:lnTo>
                    <a:pt x="1344" y="0"/>
                  </a:lnTo>
                  <a:lnTo>
                    <a:pt x="0" y="0"/>
                  </a:lnTo>
                </a:path>
              </a:pathLst>
            </a:custGeom>
            <a:solidFill>
              <a:srgbClr val="FFBFBF"/>
            </a:solidFill>
            <a:ln w="127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8" name="Google Shape;1758;p73"/>
            <p:cNvSpPr/>
            <p:nvPr/>
          </p:nvSpPr>
          <p:spPr>
            <a:xfrm>
              <a:off x="1549" y="2384"/>
              <a:ext cx="1222" cy="1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accent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11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" name="Google Shape;1759;p73"/>
          <p:cNvGrpSpPr/>
          <p:nvPr/>
        </p:nvGrpSpPr>
        <p:grpSpPr>
          <a:xfrm>
            <a:off x="1958975" y="3124200"/>
            <a:ext cx="1935163" cy="382588"/>
            <a:chOff x="1234" y="1968"/>
            <a:chExt cx="1219" cy="241"/>
          </a:xfrm>
        </p:grpSpPr>
        <p:sp>
          <p:nvSpPr>
            <p:cNvPr id="1760" name="Google Shape;1760;p73"/>
            <p:cNvSpPr/>
            <p:nvPr/>
          </p:nvSpPr>
          <p:spPr>
            <a:xfrm>
              <a:off x="1234" y="1968"/>
              <a:ext cx="1219" cy="241"/>
            </a:xfrm>
            <a:custGeom>
              <a:avLst/>
              <a:gdLst/>
              <a:ahLst/>
              <a:cxnLst/>
              <a:rect l="l" t="t" r="r" b="b"/>
              <a:pathLst>
                <a:path w="1219" h="241" extrusionOk="0">
                  <a:moveTo>
                    <a:pt x="0" y="0"/>
                  </a:moveTo>
                  <a:lnTo>
                    <a:pt x="0" y="240"/>
                  </a:lnTo>
                  <a:lnTo>
                    <a:pt x="1218" y="240"/>
                  </a:lnTo>
                  <a:lnTo>
                    <a:pt x="1218" y="0"/>
                  </a:lnTo>
                  <a:lnTo>
                    <a:pt x="0" y="0"/>
                  </a:lnTo>
                </a:path>
              </a:pathLst>
            </a:custGeom>
            <a:solidFill>
              <a:srgbClr val="FFFFBF"/>
            </a:solidFill>
            <a:ln w="127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1" name="Google Shape;1761;p73"/>
            <p:cNvSpPr/>
            <p:nvPr/>
          </p:nvSpPr>
          <p:spPr>
            <a:xfrm>
              <a:off x="1295" y="2000"/>
              <a:ext cx="1096" cy="1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accent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10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" name="Google Shape;1762;p73"/>
          <p:cNvGrpSpPr/>
          <p:nvPr/>
        </p:nvGrpSpPr>
        <p:grpSpPr>
          <a:xfrm>
            <a:off x="1295400" y="4343400"/>
            <a:ext cx="1201738" cy="382588"/>
            <a:chOff x="816" y="2736"/>
            <a:chExt cx="757" cy="241"/>
          </a:xfrm>
        </p:grpSpPr>
        <p:sp>
          <p:nvSpPr>
            <p:cNvPr id="1763" name="Google Shape;1763;p73"/>
            <p:cNvSpPr/>
            <p:nvPr/>
          </p:nvSpPr>
          <p:spPr>
            <a:xfrm>
              <a:off x="816" y="2736"/>
              <a:ext cx="757" cy="241"/>
            </a:xfrm>
            <a:custGeom>
              <a:avLst/>
              <a:gdLst/>
              <a:ahLst/>
              <a:cxnLst/>
              <a:rect l="l" t="t" r="r" b="b"/>
              <a:pathLst>
                <a:path w="757" h="241" extrusionOk="0">
                  <a:moveTo>
                    <a:pt x="0" y="0"/>
                  </a:moveTo>
                  <a:lnTo>
                    <a:pt x="0" y="240"/>
                  </a:lnTo>
                  <a:lnTo>
                    <a:pt x="756" y="240"/>
                  </a:lnTo>
                  <a:lnTo>
                    <a:pt x="756" y="0"/>
                  </a:lnTo>
                  <a:lnTo>
                    <a:pt x="0" y="0"/>
                  </a:lnTo>
                </a:path>
              </a:pathLst>
            </a:custGeom>
            <a:solidFill>
              <a:srgbClr val="BFFFFF"/>
            </a:solidFill>
            <a:ln w="127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4" name="Google Shape;1764;p73"/>
            <p:cNvSpPr/>
            <p:nvPr/>
          </p:nvSpPr>
          <p:spPr>
            <a:xfrm>
              <a:off x="877" y="2768"/>
              <a:ext cx="634" cy="1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accent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6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oogle Shape;1765;p73"/>
          <p:cNvGrpSpPr/>
          <p:nvPr/>
        </p:nvGrpSpPr>
        <p:grpSpPr>
          <a:xfrm>
            <a:off x="1295400" y="3733800"/>
            <a:ext cx="1068388" cy="382588"/>
            <a:chOff x="816" y="2352"/>
            <a:chExt cx="673" cy="241"/>
          </a:xfrm>
        </p:grpSpPr>
        <p:sp>
          <p:nvSpPr>
            <p:cNvPr id="1766" name="Google Shape;1766;p73"/>
            <p:cNvSpPr/>
            <p:nvPr/>
          </p:nvSpPr>
          <p:spPr>
            <a:xfrm>
              <a:off x="816" y="2352"/>
              <a:ext cx="673" cy="241"/>
            </a:xfrm>
            <a:custGeom>
              <a:avLst/>
              <a:gdLst/>
              <a:ahLst/>
              <a:cxnLst/>
              <a:rect l="l" t="t" r="r" b="b"/>
              <a:pathLst>
                <a:path w="673" h="241" extrusionOk="0">
                  <a:moveTo>
                    <a:pt x="0" y="0"/>
                  </a:moveTo>
                  <a:lnTo>
                    <a:pt x="0" y="240"/>
                  </a:lnTo>
                  <a:lnTo>
                    <a:pt x="672" y="240"/>
                  </a:lnTo>
                  <a:lnTo>
                    <a:pt x="672" y="0"/>
                  </a:lnTo>
                  <a:lnTo>
                    <a:pt x="0" y="0"/>
                  </a:lnTo>
                </a:path>
              </a:pathLst>
            </a:custGeom>
            <a:solidFill>
              <a:srgbClr val="FFBFBF"/>
            </a:solidFill>
            <a:ln w="127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7" name="Google Shape;1767;p73"/>
            <p:cNvSpPr/>
            <p:nvPr/>
          </p:nvSpPr>
          <p:spPr>
            <a:xfrm>
              <a:off x="877" y="2384"/>
              <a:ext cx="550" cy="1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accent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5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1768;p73"/>
          <p:cNvGrpSpPr/>
          <p:nvPr/>
        </p:nvGrpSpPr>
        <p:grpSpPr>
          <a:xfrm>
            <a:off x="1295400" y="3124200"/>
            <a:ext cx="668338" cy="382588"/>
            <a:chOff x="816" y="1968"/>
            <a:chExt cx="421" cy="241"/>
          </a:xfrm>
        </p:grpSpPr>
        <p:sp>
          <p:nvSpPr>
            <p:cNvPr id="1769" name="Google Shape;1769;p73"/>
            <p:cNvSpPr/>
            <p:nvPr/>
          </p:nvSpPr>
          <p:spPr>
            <a:xfrm>
              <a:off x="816" y="1968"/>
              <a:ext cx="421" cy="241"/>
            </a:xfrm>
            <a:custGeom>
              <a:avLst/>
              <a:gdLst/>
              <a:ahLst/>
              <a:cxnLst/>
              <a:rect l="l" t="t" r="r" b="b"/>
              <a:pathLst>
                <a:path w="421" h="241" extrusionOk="0">
                  <a:moveTo>
                    <a:pt x="0" y="0"/>
                  </a:moveTo>
                  <a:lnTo>
                    <a:pt x="0" y="240"/>
                  </a:lnTo>
                  <a:lnTo>
                    <a:pt x="420" y="240"/>
                  </a:lnTo>
                  <a:lnTo>
                    <a:pt x="420" y="0"/>
                  </a:lnTo>
                  <a:lnTo>
                    <a:pt x="0" y="0"/>
                  </a:lnTo>
                </a:path>
              </a:pathLst>
            </a:custGeom>
            <a:solidFill>
              <a:srgbClr val="FFFFBF"/>
            </a:solidFill>
            <a:ln w="1270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0" name="Google Shape;1770;p73"/>
            <p:cNvSpPr/>
            <p:nvPr/>
          </p:nvSpPr>
          <p:spPr>
            <a:xfrm>
              <a:off x="877" y="2000"/>
              <a:ext cx="298" cy="1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accent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71" name="Google Shape;1771;p73"/>
          <p:cNvSpPr/>
          <p:nvPr/>
        </p:nvSpPr>
        <p:spPr>
          <a:xfrm>
            <a:off x="763588" y="3049588"/>
            <a:ext cx="606425" cy="1768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P1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P2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P3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7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7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7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0" name="Google Shape;1780;p7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None/>
              </a:pPr>
              <a:t>75</a:t>
            </a:fld>
            <a:endParaRPr/>
          </a:p>
        </p:txBody>
      </p:sp>
      <p:sp>
        <p:nvSpPr>
          <p:cNvPr id="1781" name="Google Shape;1781;p74"/>
          <p:cNvSpPr txBox="1">
            <a:spLocks noGrp="1"/>
          </p:cNvSpPr>
          <p:nvPr>
            <p:ph type="title"/>
          </p:nvPr>
        </p:nvSpPr>
        <p:spPr>
          <a:xfrm>
            <a:off x="1219200" y="304800"/>
            <a:ext cx="7793038" cy="762000"/>
          </a:xfrm>
          <a:prstGeom prst="rect">
            <a:avLst/>
          </a:prstGeom>
          <a:solidFill>
            <a:srgbClr val="538CD5"/>
          </a:solidFill>
          <a:ln>
            <a:noFill/>
          </a:ln>
        </p:spPr>
        <p:txBody>
          <a:bodyPr spcFirstLastPara="1" wrap="square" lIns="90475" tIns="44450" rIns="90475" bIns="4445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>
                <a:solidFill>
                  <a:schemeClr val="lt1"/>
                </a:solidFill>
              </a:rPr>
              <a:t>An optimum solution</a:t>
            </a:r>
            <a:endParaRPr/>
          </a:p>
        </p:txBody>
      </p:sp>
      <p:sp>
        <p:nvSpPr>
          <p:cNvPr id="1782" name="Google Shape;1782;p74"/>
          <p:cNvSpPr txBox="1">
            <a:spLocks noGrp="1"/>
          </p:cNvSpPr>
          <p:nvPr>
            <p:ph type="body" idx="2"/>
          </p:nvPr>
        </p:nvSpPr>
        <p:spPr>
          <a:xfrm>
            <a:off x="381000" y="4016375"/>
            <a:ext cx="8574088" cy="2116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rmAutofit lnSpcReduction="10000"/>
          </a:bodyPr>
          <a:lstStyle/>
          <a:p>
            <a:pPr marL="45720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 sz="2400"/>
              <a:t>This solution is clearly optimal (why?)</a:t>
            </a:r>
            <a:endParaRPr/>
          </a:p>
          <a:p>
            <a:pPr marL="45720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 sz="2400"/>
              <a:t>Clearly, there are other optimal solutions (why?)</a:t>
            </a:r>
            <a:endParaRPr/>
          </a:p>
          <a:p>
            <a:pPr marL="45720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 sz="2400"/>
              <a:t>How do we find such a solution?</a:t>
            </a:r>
            <a:endParaRPr/>
          </a:p>
          <a:p>
            <a:pPr marL="91440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US" sz="2000"/>
              <a:t>One way: Try all possible assignments of jobs to processors</a:t>
            </a:r>
            <a:endParaRPr/>
          </a:p>
          <a:p>
            <a:pPr marL="91440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US" sz="2000"/>
              <a:t>Unfortunately, this approach can take exponential time</a:t>
            </a:r>
            <a:endParaRPr/>
          </a:p>
        </p:txBody>
      </p:sp>
      <p:sp>
        <p:nvSpPr>
          <p:cNvPr id="1783" name="Google Shape;1783;p74"/>
          <p:cNvSpPr txBox="1">
            <a:spLocks noGrp="1"/>
          </p:cNvSpPr>
          <p:nvPr>
            <p:ph type="body" idx="1"/>
          </p:nvPr>
        </p:nvSpPr>
        <p:spPr>
          <a:xfrm>
            <a:off x="381000" y="1371600"/>
            <a:ext cx="8574088" cy="528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rmAutofit lnSpcReduction="10000"/>
          </a:bodyPr>
          <a:lstStyle/>
          <a:p>
            <a:pPr marL="45720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 sz="2400"/>
              <a:t>Better solutions do exist:</a:t>
            </a:r>
            <a:endParaRPr/>
          </a:p>
        </p:txBody>
      </p:sp>
      <p:grpSp>
        <p:nvGrpSpPr>
          <p:cNvPr id="2" name="Google Shape;1784;p74"/>
          <p:cNvGrpSpPr/>
          <p:nvPr/>
        </p:nvGrpSpPr>
        <p:grpSpPr>
          <a:xfrm>
            <a:off x="763588" y="2135188"/>
            <a:ext cx="7132637" cy="1768475"/>
            <a:chOff x="481" y="1345"/>
            <a:chExt cx="4493" cy="1114"/>
          </a:xfrm>
        </p:grpSpPr>
        <p:grpSp>
          <p:nvGrpSpPr>
            <p:cNvPr id="3" name="Google Shape;1785;p74"/>
            <p:cNvGrpSpPr/>
            <p:nvPr/>
          </p:nvGrpSpPr>
          <p:grpSpPr>
            <a:xfrm>
              <a:off x="768" y="1392"/>
              <a:ext cx="2449" cy="241"/>
              <a:chOff x="768" y="1392"/>
              <a:chExt cx="2449" cy="241"/>
            </a:xfrm>
          </p:grpSpPr>
          <p:sp>
            <p:nvSpPr>
              <p:cNvPr id="1786" name="Google Shape;1786;p74"/>
              <p:cNvSpPr/>
              <p:nvPr/>
            </p:nvSpPr>
            <p:spPr>
              <a:xfrm>
                <a:off x="768" y="1392"/>
                <a:ext cx="2449" cy="241"/>
              </a:xfrm>
              <a:custGeom>
                <a:avLst/>
                <a:gdLst/>
                <a:ahLst/>
                <a:cxnLst/>
                <a:rect l="l" t="t" r="r" b="b"/>
                <a:pathLst>
                  <a:path w="2449" h="241" extrusionOk="0">
                    <a:moveTo>
                      <a:pt x="0" y="0"/>
                    </a:moveTo>
                    <a:lnTo>
                      <a:pt x="0" y="240"/>
                    </a:lnTo>
                    <a:lnTo>
                      <a:pt x="2448" y="240"/>
                    </a:lnTo>
                    <a:lnTo>
                      <a:pt x="2448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FFFFBF"/>
              </a:solidFill>
              <a:ln w="12700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7" name="Google Shape;1787;p74"/>
              <p:cNvSpPr/>
              <p:nvPr/>
            </p:nvSpPr>
            <p:spPr>
              <a:xfrm>
                <a:off x="829" y="1424"/>
                <a:ext cx="2326" cy="1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0475" tIns="44450" rIns="90475" bIns="444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US" sz="1400" b="0" i="0" u="none" strike="noStrike" cap="none">
                    <a:solidFill>
                      <a:schemeClr val="accent2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20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" name="Google Shape;1788;p74"/>
            <p:cNvGrpSpPr/>
            <p:nvPr/>
          </p:nvGrpSpPr>
          <p:grpSpPr>
            <a:xfrm>
              <a:off x="768" y="1790"/>
              <a:ext cx="2185" cy="241"/>
              <a:chOff x="768" y="1790"/>
              <a:chExt cx="2185" cy="241"/>
            </a:xfrm>
          </p:grpSpPr>
          <p:sp>
            <p:nvSpPr>
              <p:cNvPr id="1789" name="Google Shape;1789;p74"/>
              <p:cNvSpPr/>
              <p:nvPr/>
            </p:nvSpPr>
            <p:spPr>
              <a:xfrm>
                <a:off x="768" y="1790"/>
                <a:ext cx="2185" cy="241"/>
              </a:xfrm>
              <a:custGeom>
                <a:avLst/>
                <a:gdLst/>
                <a:ahLst/>
                <a:cxnLst/>
                <a:rect l="l" t="t" r="r" b="b"/>
                <a:pathLst>
                  <a:path w="2185" h="241" extrusionOk="0">
                    <a:moveTo>
                      <a:pt x="0" y="0"/>
                    </a:moveTo>
                    <a:lnTo>
                      <a:pt x="0" y="240"/>
                    </a:lnTo>
                    <a:lnTo>
                      <a:pt x="2184" y="240"/>
                    </a:lnTo>
                    <a:lnTo>
                      <a:pt x="218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FFBFBF"/>
              </a:solidFill>
              <a:ln w="12700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0" name="Google Shape;1790;p74"/>
              <p:cNvSpPr/>
              <p:nvPr/>
            </p:nvSpPr>
            <p:spPr>
              <a:xfrm>
                <a:off x="829" y="1822"/>
                <a:ext cx="2062" cy="1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0475" tIns="44450" rIns="90475" bIns="444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US" sz="1400" b="0" i="0" u="none" strike="noStrike" cap="none">
                    <a:solidFill>
                      <a:schemeClr val="accent2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18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" name="Google Shape;1791;p74"/>
            <p:cNvGrpSpPr/>
            <p:nvPr/>
          </p:nvGrpSpPr>
          <p:grpSpPr>
            <a:xfrm>
              <a:off x="768" y="2208"/>
              <a:ext cx="1807" cy="241"/>
              <a:chOff x="768" y="2208"/>
              <a:chExt cx="1807" cy="241"/>
            </a:xfrm>
          </p:grpSpPr>
          <p:sp>
            <p:nvSpPr>
              <p:cNvPr id="1792" name="Google Shape;1792;p74"/>
              <p:cNvSpPr/>
              <p:nvPr/>
            </p:nvSpPr>
            <p:spPr>
              <a:xfrm>
                <a:off x="768" y="2208"/>
                <a:ext cx="1807" cy="241"/>
              </a:xfrm>
              <a:custGeom>
                <a:avLst/>
                <a:gdLst/>
                <a:ahLst/>
                <a:cxnLst/>
                <a:rect l="l" t="t" r="r" b="b"/>
                <a:pathLst>
                  <a:path w="1807" h="241" extrusionOk="0">
                    <a:moveTo>
                      <a:pt x="0" y="0"/>
                    </a:moveTo>
                    <a:lnTo>
                      <a:pt x="0" y="240"/>
                    </a:lnTo>
                    <a:lnTo>
                      <a:pt x="1806" y="240"/>
                    </a:lnTo>
                    <a:lnTo>
                      <a:pt x="180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BFFFFF"/>
              </a:solidFill>
              <a:ln w="12700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3" name="Google Shape;1793;p74"/>
              <p:cNvSpPr/>
              <p:nvPr/>
            </p:nvSpPr>
            <p:spPr>
              <a:xfrm>
                <a:off x="829" y="2240"/>
                <a:ext cx="1684" cy="1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0475" tIns="44450" rIns="90475" bIns="444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US" sz="1400" b="0" i="0" u="none" strike="noStrike" cap="none">
                    <a:solidFill>
                      <a:schemeClr val="accent2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15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" name="Google Shape;1794;p74"/>
            <p:cNvGrpSpPr/>
            <p:nvPr/>
          </p:nvGrpSpPr>
          <p:grpSpPr>
            <a:xfrm>
              <a:off x="3222" y="1392"/>
              <a:ext cx="1723" cy="241"/>
              <a:chOff x="3222" y="1392"/>
              <a:chExt cx="1723" cy="241"/>
            </a:xfrm>
          </p:grpSpPr>
          <p:sp>
            <p:nvSpPr>
              <p:cNvPr id="1795" name="Google Shape;1795;p74"/>
              <p:cNvSpPr/>
              <p:nvPr/>
            </p:nvSpPr>
            <p:spPr>
              <a:xfrm>
                <a:off x="3222" y="1392"/>
                <a:ext cx="1723" cy="241"/>
              </a:xfrm>
              <a:custGeom>
                <a:avLst/>
                <a:gdLst/>
                <a:ahLst/>
                <a:cxnLst/>
                <a:rect l="l" t="t" r="r" b="b"/>
                <a:pathLst>
                  <a:path w="1723" h="241" extrusionOk="0">
                    <a:moveTo>
                      <a:pt x="0" y="0"/>
                    </a:moveTo>
                    <a:lnTo>
                      <a:pt x="0" y="240"/>
                    </a:lnTo>
                    <a:lnTo>
                      <a:pt x="1722" y="240"/>
                    </a:lnTo>
                    <a:lnTo>
                      <a:pt x="1722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BFFFFF"/>
              </a:solidFill>
              <a:ln w="12700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6" name="Google Shape;1796;p74"/>
              <p:cNvSpPr/>
              <p:nvPr/>
            </p:nvSpPr>
            <p:spPr>
              <a:xfrm>
                <a:off x="3283" y="1424"/>
                <a:ext cx="1600" cy="1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0475" tIns="44450" rIns="90475" bIns="444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US" sz="1400" b="0" i="0" u="none" strike="noStrike" cap="none">
                    <a:solidFill>
                      <a:schemeClr val="accent2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14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" name="Google Shape;1797;p74"/>
            <p:cNvGrpSpPr/>
            <p:nvPr/>
          </p:nvGrpSpPr>
          <p:grpSpPr>
            <a:xfrm>
              <a:off x="2948" y="1790"/>
              <a:ext cx="1345" cy="241"/>
              <a:chOff x="2948" y="1790"/>
              <a:chExt cx="1345" cy="241"/>
            </a:xfrm>
          </p:grpSpPr>
          <p:sp>
            <p:nvSpPr>
              <p:cNvPr id="1798" name="Google Shape;1798;p74"/>
              <p:cNvSpPr/>
              <p:nvPr/>
            </p:nvSpPr>
            <p:spPr>
              <a:xfrm>
                <a:off x="2948" y="1790"/>
                <a:ext cx="1345" cy="241"/>
              </a:xfrm>
              <a:custGeom>
                <a:avLst/>
                <a:gdLst/>
                <a:ahLst/>
                <a:cxnLst/>
                <a:rect l="l" t="t" r="r" b="b"/>
                <a:pathLst>
                  <a:path w="1345" h="241" extrusionOk="0">
                    <a:moveTo>
                      <a:pt x="0" y="0"/>
                    </a:moveTo>
                    <a:lnTo>
                      <a:pt x="0" y="240"/>
                    </a:lnTo>
                    <a:lnTo>
                      <a:pt x="1344" y="240"/>
                    </a:lnTo>
                    <a:lnTo>
                      <a:pt x="134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FFBFBF"/>
              </a:solidFill>
              <a:ln w="12700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9" name="Google Shape;1799;p74"/>
              <p:cNvSpPr/>
              <p:nvPr/>
            </p:nvSpPr>
            <p:spPr>
              <a:xfrm>
                <a:off x="3009" y="1822"/>
                <a:ext cx="1222" cy="1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0475" tIns="44450" rIns="90475" bIns="444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US" sz="1400" b="0" i="0" u="none" strike="noStrike" cap="none">
                    <a:solidFill>
                      <a:schemeClr val="accent2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11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" name="Google Shape;1800;p74"/>
            <p:cNvGrpSpPr/>
            <p:nvPr/>
          </p:nvGrpSpPr>
          <p:grpSpPr>
            <a:xfrm>
              <a:off x="2574" y="2208"/>
              <a:ext cx="1219" cy="241"/>
              <a:chOff x="2574" y="2208"/>
              <a:chExt cx="1219" cy="241"/>
            </a:xfrm>
          </p:grpSpPr>
          <p:sp>
            <p:nvSpPr>
              <p:cNvPr id="1801" name="Google Shape;1801;p74"/>
              <p:cNvSpPr/>
              <p:nvPr/>
            </p:nvSpPr>
            <p:spPr>
              <a:xfrm>
                <a:off x="2574" y="2208"/>
                <a:ext cx="1219" cy="241"/>
              </a:xfrm>
              <a:custGeom>
                <a:avLst/>
                <a:gdLst/>
                <a:ahLst/>
                <a:cxnLst/>
                <a:rect l="l" t="t" r="r" b="b"/>
                <a:pathLst>
                  <a:path w="1219" h="241" extrusionOk="0">
                    <a:moveTo>
                      <a:pt x="0" y="0"/>
                    </a:moveTo>
                    <a:lnTo>
                      <a:pt x="0" y="240"/>
                    </a:lnTo>
                    <a:lnTo>
                      <a:pt x="1218" y="240"/>
                    </a:lnTo>
                    <a:lnTo>
                      <a:pt x="1218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FFFFBF"/>
              </a:solidFill>
              <a:ln w="12700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2" name="Google Shape;1802;p74"/>
              <p:cNvSpPr/>
              <p:nvPr/>
            </p:nvSpPr>
            <p:spPr>
              <a:xfrm>
                <a:off x="2635" y="2240"/>
                <a:ext cx="1096" cy="1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0475" tIns="44450" rIns="90475" bIns="444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US" sz="1400" b="0" i="0" u="none" strike="noStrike" cap="none">
                    <a:solidFill>
                      <a:schemeClr val="accent2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10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" name="Google Shape;1803;p74"/>
            <p:cNvGrpSpPr/>
            <p:nvPr/>
          </p:nvGrpSpPr>
          <p:grpSpPr>
            <a:xfrm>
              <a:off x="3792" y="2208"/>
              <a:ext cx="757" cy="241"/>
              <a:chOff x="3792" y="2208"/>
              <a:chExt cx="757" cy="241"/>
            </a:xfrm>
          </p:grpSpPr>
          <p:sp>
            <p:nvSpPr>
              <p:cNvPr id="1804" name="Google Shape;1804;p74"/>
              <p:cNvSpPr/>
              <p:nvPr/>
            </p:nvSpPr>
            <p:spPr>
              <a:xfrm>
                <a:off x="3792" y="2208"/>
                <a:ext cx="757" cy="241"/>
              </a:xfrm>
              <a:custGeom>
                <a:avLst/>
                <a:gdLst/>
                <a:ahLst/>
                <a:cxnLst/>
                <a:rect l="l" t="t" r="r" b="b"/>
                <a:pathLst>
                  <a:path w="757" h="241" extrusionOk="0">
                    <a:moveTo>
                      <a:pt x="0" y="0"/>
                    </a:moveTo>
                    <a:lnTo>
                      <a:pt x="0" y="240"/>
                    </a:lnTo>
                    <a:lnTo>
                      <a:pt x="756" y="240"/>
                    </a:lnTo>
                    <a:lnTo>
                      <a:pt x="75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FFBFBF"/>
              </a:solidFill>
              <a:ln w="12700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5" name="Google Shape;1805;p74"/>
              <p:cNvSpPr/>
              <p:nvPr/>
            </p:nvSpPr>
            <p:spPr>
              <a:xfrm>
                <a:off x="3853" y="2240"/>
                <a:ext cx="634" cy="1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0475" tIns="44450" rIns="90475" bIns="444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US" sz="1400" b="0" i="0" u="none" strike="noStrike" cap="none">
                    <a:solidFill>
                      <a:schemeClr val="accent2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6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" name="Google Shape;1806;p74"/>
            <p:cNvGrpSpPr/>
            <p:nvPr/>
          </p:nvGrpSpPr>
          <p:grpSpPr>
            <a:xfrm>
              <a:off x="4292" y="1790"/>
              <a:ext cx="673" cy="241"/>
              <a:chOff x="4292" y="1790"/>
              <a:chExt cx="673" cy="241"/>
            </a:xfrm>
          </p:grpSpPr>
          <p:sp>
            <p:nvSpPr>
              <p:cNvPr id="1807" name="Google Shape;1807;p74"/>
              <p:cNvSpPr/>
              <p:nvPr/>
            </p:nvSpPr>
            <p:spPr>
              <a:xfrm>
                <a:off x="4292" y="1790"/>
                <a:ext cx="673" cy="241"/>
              </a:xfrm>
              <a:custGeom>
                <a:avLst/>
                <a:gdLst/>
                <a:ahLst/>
                <a:cxnLst/>
                <a:rect l="l" t="t" r="r" b="b"/>
                <a:pathLst>
                  <a:path w="673" h="241" extrusionOk="0">
                    <a:moveTo>
                      <a:pt x="0" y="0"/>
                    </a:moveTo>
                    <a:lnTo>
                      <a:pt x="0" y="240"/>
                    </a:lnTo>
                    <a:lnTo>
                      <a:pt x="672" y="240"/>
                    </a:lnTo>
                    <a:lnTo>
                      <a:pt x="672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BFFFFF"/>
              </a:solidFill>
              <a:ln w="12700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8" name="Google Shape;1808;p74"/>
              <p:cNvSpPr/>
              <p:nvPr/>
            </p:nvSpPr>
            <p:spPr>
              <a:xfrm>
                <a:off x="4353" y="1822"/>
                <a:ext cx="550" cy="1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0475" tIns="44450" rIns="90475" bIns="444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US" sz="1400" b="0" i="0" u="none" strike="noStrike" cap="none">
                    <a:solidFill>
                      <a:schemeClr val="accent2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5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" name="Google Shape;1809;p74"/>
            <p:cNvGrpSpPr/>
            <p:nvPr/>
          </p:nvGrpSpPr>
          <p:grpSpPr>
            <a:xfrm>
              <a:off x="4553" y="2208"/>
              <a:ext cx="421" cy="241"/>
              <a:chOff x="4553" y="2208"/>
              <a:chExt cx="421" cy="241"/>
            </a:xfrm>
          </p:grpSpPr>
          <p:sp>
            <p:nvSpPr>
              <p:cNvPr id="1810" name="Google Shape;1810;p74"/>
              <p:cNvSpPr/>
              <p:nvPr/>
            </p:nvSpPr>
            <p:spPr>
              <a:xfrm>
                <a:off x="4553" y="2208"/>
                <a:ext cx="421" cy="241"/>
              </a:xfrm>
              <a:custGeom>
                <a:avLst/>
                <a:gdLst/>
                <a:ahLst/>
                <a:cxnLst/>
                <a:rect l="l" t="t" r="r" b="b"/>
                <a:pathLst>
                  <a:path w="421" h="241" extrusionOk="0">
                    <a:moveTo>
                      <a:pt x="0" y="0"/>
                    </a:moveTo>
                    <a:lnTo>
                      <a:pt x="0" y="240"/>
                    </a:lnTo>
                    <a:lnTo>
                      <a:pt x="420" y="240"/>
                    </a:lnTo>
                    <a:lnTo>
                      <a:pt x="420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FFFFBF"/>
              </a:solidFill>
              <a:ln w="12700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1" name="Google Shape;1811;p74"/>
              <p:cNvSpPr/>
              <p:nvPr/>
            </p:nvSpPr>
            <p:spPr>
              <a:xfrm>
                <a:off x="4614" y="2240"/>
                <a:ext cx="298" cy="1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0475" tIns="44450" rIns="90475" bIns="444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US" sz="1400" b="0" i="0" u="none" strike="noStrike" cap="none">
                    <a:solidFill>
                      <a:schemeClr val="accent2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3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12" name="Google Shape;1812;p74"/>
            <p:cNvSpPr/>
            <p:nvPr/>
          </p:nvSpPr>
          <p:spPr>
            <a:xfrm>
              <a:off x="481" y="1345"/>
              <a:ext cx="382" cy="11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accent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P1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20000"/>
                </a:lnSpc>
                <a:spcBef>
                  <a:spcPts val="7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accent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P2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20000"/>
                </a:lnSpc>
                <a:spcBef>
                  <a:spcPts val="7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accent2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P3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1954</Words>
  <Application>Microsoft Office PowerPoint</Application>
  <PresentationFormat>On-screen Show (4:3)</PresentationFormat>
  <Paragraphs>587</Paragraphs>
  <Slides>75</Slides>
  <Notes>75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84" baseType="lpstr">
      <vt:lpstr>Calibri</vt:lpstr>
      <vt:lpstr>Times New Roman</vt:lpstr>
      <vt:lpstr>Quattrocento Sans</vt:lpstr>
      <vt:lpstr>Lucida Sans</vt:lpstr>
      <vt:lpstr>Trebuchet MS</vt:lpstr>
      <vt:lpstr>Helvetica Neue</vt:lpstr>
      <vt:lpstr>Noto Sans Symbols</vt:lpstr>
      <vt:lpstr>Arial</vt:lpstr>
      <vt:lpstr>Office Theme</vt:lpstr>
      <vt:lpstr>   Pimpri Chinchwad Education Trust’s Pimpri Chinchwad College of Engineering and Research, Ravet, Pune Department of Computer Engineering   </vt:lpstr>
      <vt:lpstr>Examination Scheme:</vt:lpstr>
      <vt:lpstr>SPPU Syllabus </vt:lpstr>
      <vt:lpstr>Contents</vt:lpstr>
      <vt:lpstr>Introduction to Programming</vt:lpstr>
      <vt:lpstr>Types of Language</vt:lpstr>
      <vt:lpstr>Introduction to data structures</vt:lpstr>
      <vt:lpstr>TYPES OF DATA STRUCTURES</vt:lpstr>
      <vt:lpstr>Data Structure</vt:lpstr>
      <vt:lpstr>Abstract Data Type</vt:lpstr>
      <vt:lpstr>PowerPoint Presentation</vt:lpstr>
      <vt:lpstr>*Structure 1.1:Abstract data type Natural_Number  structure Natural_Number is     objects:  an ordered subrange of the integers starting at zero and ending        at the maximum integer (INT_MAX) on the computer     functions:        for all x, y ∈ Nat_Number; TRUE, FALSE ∈ Boolean        and where +, -, &lt;, and == are the usual integer operations.        Nat_No Zero (  )         ::=  0        Boolean  Is_Zero(x)    ::= if (x) return FALSE                                                  else return TRUE        Nat_No Add(x, y)       ::= if ((x+y) &lt;= INT_MAX) return x+y                                                   else return INT_MAX        Boolean Equal(x,y)    ::= if (x== y) return TRUE                                                 else return FALSE        Nat_No Successor(x)  ::= if (x == INT_MAX) return x                                                  else return x+1        Nat_No Subtract(x,y) ::= if (x&lt;y) return 0                                                  else return x-y     end Natural_Number    </vt:lpstr>
      <vt:lpstr>Data Structures Operations </vt:lpstr>
      <vt:lpstr>Algorithm</vt:lpstr>
      <vt:lpstr>Characteristics of Algorithms</vt:lpstr>
      <vt:lpstr>Find Greatest Common Divisor of  Two Nonnegative</vt:lpstr>
      <vt:lpstr>Find Greatest Common Divisor of  Two Nonnegative</vt:lpstr>
      <vt:lpstr>Notion of algorithm</vt:lpstr>
      <vt:lpstr>Algorithm Design And Analysis Process</vt:lpstr>
      <vt:lpstr>1.Understand the problem</vt:lpstr>
      <vt:lpstr>2. Ascertaining the Capabilities of  the Computational Device</vt:lpstr>
      <vt:lpstr>3. Choosing between Exact and  Approximate Problem Solving</vt:lpstr>
      <vt:lpstr>4. Algorithm Design Technique</vt:lpstr>
      <vt:lpstr>5. Designing an Algorithm and Data  Structures</vt:lpstr>
      <vt:lpstr>Methods of Specifying an Algorithm</vt:lpstr>
      <vt:lpstr> Pseudocode </vt:lpstr>
      <vt:lpstr>PowerPoint Presentation</vt:lpstr>
      <vt:lpstr>PowerPoint Presentation</vt:lpstr>
      <vt:lpstr>PowerPoint Presentation</vt:lpstr>
      <vt:lpstr>PowerPoint Presentation</vt:lpstr>
      <vt:lpstr>Relationship among data , data structures, and algorithms</vt:lpstr>
      <vt:lpstr>Implementation of Data Structures</vt:lpstr>
      <vt:lpstr>Flowcharts</vt:lpstr>
      <vt:lpstr>Algorithm Analysis</vt:lpstr>
      <vt:lpstr>Time complexity</vt:lpstr>
      <vt:lpstr>Asymptotic Notation:</vt:lpstr>
      <vt:lpstr>🞂 Running time of an algorithm as a function of  input sizen.</vt:lpstr>
      <vt:lpstr>PowerPoint Presentation</vt:lpstr>
      <vt:lpstr>PowerPoint Presentation</vt:lpstr>
      <vt:lpstr>Ans: In the given Problem</vt:lpstr>
      <vt:lpstr>    Ans: In the given Problem</vt:lpstr>
      <vt:lpstr>PowerPoint Presentation</vt:lpstr>
      <vt:lpstr>Ans:</vt:lpstr>
      <vt:lpstr>Ans:</vt:lpstr>
      <vt:lpstr>PowerPoint Presentation</vt:lpstr>
      <vt:lpstr>Ans: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Space Complexity S(P)=C+SP(I)</vt:lpstr>
      <vt:lpstr>*Program 1.9: Simple arithmetic function  float abc(float a, float b, float c) {     return a + b + b * c + (a + b - c) / (a + b) + 4.00;  }    *Program 1.10: Iterative function for summing a list of numbers  float sum(float list[ ], int n) {   float tempsum = 0;   int i;   for (i = 0; i&lt;n; i++)      tempsum += list [i];   return tempsum; }       </vt:lpstr>
      <vt:lpstr>*Program 1.11: Recursive function for summing a list of numbers  float rsum(float list[ ], int n) {    if (n) return rsum(list, n-1) + list[n-1];    return 0;  }     *Figure 1.1: Space needed for one recursive call of Program 1.11 (p.21)  </vt:lpstr>
      <vt:lpstr>Algorithm Stetargies </vt:lpstr>
      <vt:lpstr>Divide and Conquer</vt:lpstr>
      <vt:lpstr>Divide-and-Conquer</vt:lpstr>
      <vt:lpstr>Divide and Conquer</vt:lpstr>
      <vt:lpstr>Divide-and-conquer technique</vt:lpstr>
      <vt:lpstr>Divide and Conquer Algorithms</vt:lpstr>
      <vt:lpstr>D-A-C</vt:lpstr>
      <vt:lpstr>Algorithm for General Divide and Conquer  Sorting</vt:lpstr>
      <vt:lpstr>Greedy Algorithms</vt:lpstr>
      <vt:lpstr>Greedy Algorithms</vt:lpstr>
      <vt:lpstr>Greedy Algorithms</vt:lpstr>
      <vt:lpstr>Optimization problems</vt:lpstr>
      <vt:lpstr>Example: Counting money</vt:lpstr>
      <vt:lpstr>A scheduling problem</vt:lpstr>
      <vt:lpstr>Another approach</vt:lpstr>
      <vt:lpstr>An optimum solution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Pimpri Chinchwad Education Trust’s Pimpri Chinchwad College of Engineering and Research, Ravet, Pune Department of Computer Engineering</dc:title>
  <dc:creator>Dell</dc:creator>
  <cp:lastModifiedBy>Admin</cp:lastModifiedBy>
  <cp:revision>8</cp:revision>
  <dcterms:created xsi:type="dcterms:W3CDTF">2016-06-10T09:11:37Z</dcterms:created>
  <dcterms:modified xsi:type="dcterms:W3CDTF">2025-07-12T06:49:13Z</dcterms:modified>
</cp:coreProperties>
</file>