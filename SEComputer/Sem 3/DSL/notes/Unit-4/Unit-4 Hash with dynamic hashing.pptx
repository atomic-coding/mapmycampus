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A3526C-82DB-40AD-80DA-B62CF892E569}">
  <a:tblStyle styleId="{C0A3526C-82DB-40AD-80DA-B62CF892E56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7 (6*1 = 6)-&gt;1,	18-&gt; 0, 41(6*6=36) -&gt; 5, 34 (5*6)=30-&gt; 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Q: Why don’t we just create a table of size 100, or 40 and just map them directly to location?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A: Assumption is key </a:t>
            </a:r>
            <a:r>
              <a:rPr lang="en-US" b="1"/>
              <a:t>space</a:t>
            </a:r>
            <a:r>
              <a:rPr lang="en-US"/>
              <a:t> is much larger than the number of values we have to insert. (Ex. Using social security # as the key to put students in this class in a hash table. Table of size 999,999,999??)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Q: How long does that take to insert? O(1)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Q: How do we </a:t>
            </a:r>
            <a:r>
              <a:rPr lang="en-US" b="1" u="sng"/>
              <a:t>find</a:t>
            </a:r>
            <a:r>
              <a:rPr lang="en-US"/>
              <a:t> them?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Q: How long does that take?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Q: What if we insert 12? (It wants to go in location 0 – CONFLICT)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3) Takes the position of each character into account, like with a positional number system.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[s0 + s1*37 + s2*37^2+s3*37^3]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Add a function of I to the original hash value to resolve the collision.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Primary clustering – we notice this effect in the previous slide.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Any key that hashes into the cluster 1) will require several attempts to resolve collision and 2) will then add to the cluster. (Both 1 and 2 are bad)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You can see that this works pretty well for an empty table and gets worse as the table fills up.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There’s another problem here. If a bunch of elements hash to the same spot, they mess each other up.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But, worse, if a bunch of elements hash to the same </a:t>
            </a:r>
            <a:r>
              <a:rPr lang="en-US" i="1"/>
              <a:t>area</a:t>
            </a:r>
            <a:r>
              <a:rPr lang="en-US"/>
              <a:t> of the table, they mess each other up! (Even though the hash function isn’t producing lots of collisions!)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This phenomenon is called primary clustering.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19138"/>
            <a:ext cx="4802187" cy="3602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7:notes"/>
          <p:cNvSpPr txBox="1">
            <a:spLocks noGrp="1"/>
          </p:cNvSpPr>
          <p:nvPr>
            <p:ph type="body" idx="1"/>
          </p:nvPr>
        </p:nvSpPr>
        <p:spPr>
          <a:xfrm>
            <a:off x="976312" y="4560887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There’s some really nasty math that shows that (because of things like primary clustering), each successful search w/linear probing costs…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That’s 2.5 probes per unsuccessful search for lambda = 0.5.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50.5 comparisons for lambda = 0.9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We don’t want to let lambda get above 1/2 for linear probing.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Add a function of I to the original hash value to resolve the collision.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Less likely to encounter primary clustering, but could run into secondary clustering.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Although keys that hash to the same initial location will still use the same sequence of probes (and conflict with each other).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big to make hash table? Lambda = ½, (hash table is twice as big as the number of elements expected.)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Note: (i +1)</a:t>
            </a:r>
            <a:r>
              <a:rPr lang="en-US" baseline="30000"/>
              <a:t>2 </a:t>
            </a:r>
            <a:r>
              <a:rPr lang="en-US"/>
              <a:t>– i</a:t>
            </a:r>
            <a:r>
              <a:rPr lang="en-US" baseline="30000"/>
              <a:t>2</a:t>
            </a:r>
            <a:r>
              <a:rPr lang="en-US"/>
              <a:t> = 2i + 1  Thus, to get to the NEXT step, you can add 2* current value of i plus one.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19138"/>
            <a:ext cx="4802187" cy="3602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0:notes"/>
          <p:cNvSpPr txBox="1">
            <a:spLocks noGrp="1"/>
          </p:cNvSpPr>
          <p:nvPr>
            <p:ph type="body" idx="1"/>
          </p:nvPr>
        </p:nvSpPr>
        <p:spPr>
          <a:xfrm>
            <a:off x="976312" y="4560887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And, it works reasonably well.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Here it does fine until the table is more than half full.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Let’s take a closer look at what happens when the table is half full.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19138"/>
            <a:ext cx="4802187" cy="3602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21:notes"/>
          <p:cNvSpPr txBox="1">
            <a:spLocks noGrp="1"/>
          </p:cNvSpPr>
          <p:nvPr>
            <p:ph type="body" idx="1"/>
          </p:nvPr>
        </p:nvSpPr>
        <p:spPr>
          <a:xfrm>
            <a:off x="976312" y="4560887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At lambda = 1/2 about 1.5 probes per successful search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That’s actually pretty close to perfect… but there are two problems.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First, we might fail if the load factor is above 1/2.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Second, quadratic probing still suffers from secondary clustering. That’s where multiple keys hashed to the same spot all follow the same probe sequence.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How can we solve </a:t>
            </a:r>
            <a:r>
              <a:rPr lang="en-US" b="1"/>
              <a:t>that</a:t>
            </a:r>
            <a:r>
              <a:rPr lang="en-US"/>
              <a:t>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So the probe sequence is a function of the key in two different ways – for the original starting location (h(k) AND for the amount of offset you move out each time you have a collision (g(k)).  (as opposed to both linear probing and quadratic probing where the offset is independent of the key)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** In choosing g care must be taken so that  it never evaluates to 0.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 good choice for g is to choose a prime R &lt; TableSIze and let g(k) = R – (k mod R).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Double Hashing is Safe for λ &lt;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subTitle" idx="1"/>
          </p:nvPr>
        </p:nvSpPr>
        <p:spPr>
          <a:xfrm>
            <a:off x="306450" y="560000"/>
            <a:ext cx="83829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 smtClean="0"/>
              <a:t>UNIT-IV </a:t>
            </a:r>
            <a:r>
              <a:rPr lang="en-US" sz="2800" b="1" dirty="0"/>
              <a:t>Hashing : </a:t>
            </a:r>
            <a:endParaRPr sz="2800" b="1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Hash Table- Concepts-hash table, hash function, basic operations, bucket, collision, probe, synonym,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overflow, open hashing, closed hashing, perfect hash function, load density, full table, load factor,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rehashing, issues in hashing, hash functions- properties of good hash function, division,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multiplication, extraction, mid-square, folding and universal, Collision resolution strategies- open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addressing and chaining, Hash table overflow- open addressing and chaining, extendible hashing,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closed addressing and separate chaining.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Skip List- representation, searching and operations- insertion, removal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Hash Tables</a:t>
            </a: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711200" y="1085850"/>
            <a:ext cx="77724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 time accesses!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an array of some 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size, usually a prime number.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idea: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1016000" y="3371850"/>
            <a:ext cx="2946400" cy="1733550"/>
          </a:xfrm>
          <a:custGeom>
            <a:avLst/>
            <a:gdLst/>
            <a:ahLst/>
            <a:cxnLst/>
            <a:rect l="l" t="t" r="r" b="b"/>
            <a:pathLst>
              <a:path w="1473" h="1959" extrusionOk="0">
                <a:moveTo>
                  <a:pt x="982" y="68"/>
                </a:moveTo>
                <a:cubicBezTo>
                  <a:pt x="876" y="15"/>
                  <a:pt x="715" y="60"/>
                  <a:pt x="598" y="68"/>
                </a:cubicBezTo>
                <a:cubicBezTo>
                  <a:pt x="577" y="75"/>
                  <a:pt x="555" y="83"/>
                  <a:pt x="534" y="90"/>
                </a:cubicBezTo>
                <a:cubicBezTo>
                  <a:pt x="523" y="94"/>
                  <a:pt x="502" y="100"/>
                  <a:pt x="502" y="100"/>
                </a:cubicBezTo>
                <a:cubicBezTo>
                  <a:pt x="381" y="182"/>
                  <a:pt x="500" y="108"/>
                  <a:pt x="353" y="175"/>
                </a:cubicBezTo>
                <a:cubicBezTo>
                  <a:pt x="287" y="205"/>
                  <a:pt x="241" y="264"/>
                  <a:pt x="182" y="303"/>
                </a:cubicBezTo>
                <a:cubicBezTo>
                  <a:pt x="130" y="382"/>
                  <a:pt x="197" y="285"/>
                  <a:pt x="129" y="367"/>
                </a:cubicBezTo>
                <a:cubicBezTo>
                  <a:pt x="105" y="396"/>
                  <a:pt x="97" y="432"/>
                  <a:pt x="76" y="463"/>
                </a:cubicBezTo>
                <a:cubicBezTo>
                  <a:pt x="54" y="550"/>
                  <a:pt x="16" y="629"/>
                  <a:pt x="1" y="719"/>
                </a:cubicBezTo>
                <a:cubicBezTo>
                  <a:pt x="5" y="758"/>
                  <a:pt x="0" y="799"/>
                  <a:pt x="12" y="836"/>
                </a:cubicBezTo>
                <a:cubicBezTo>
                  <a:pt x="13" y="840"/>
                  <a:pt x="68" y="853"/>
                  <a:pt x="86" y="858"/>
                </a:cubicBezTo>
                <a:cubicBezTo>
                  <a:pt x="195" y="889"/>
                  <a:pt x="34" y="863"/>
                  <a:pt x="321" y="879"/>
                </a:cubicBezTo>
                <a:cubicBezTo>
                  <a:pt x="332" y="886"/>
                  <a:pt x="346" y="889"/>
                  <a:pt x="353" y="900"/>
                </a:cubicBezTo>
                <a:cubicBezTo>
                  <a:pt x="365" y="919"/>
                  <a:pt x="374" y="964"/>
                  <a:pt x="374" y="964"/>
                </a:cubicBezTo>
                <a:cubicBezTo>
                  <a:pt x="371" y="987"/>
                  <a:pt x="368" y="1044"/>
                  <a:pt x="353" y="1071"/>
                </a:cubicBezTo>
                <a:cubicBezTo>
                  <a:pt x="322" y="1126"/>
                  <a:pt x="287" y="1177"/>
                  <a:pt x="257" y="1231"/>
                </a:cubicBezTo>
                <a:cubicBezTo>
                  <a:pt x="235" y="1271"/>
                  <a:pt x="229" y="1310"/>
                  <a:pt x="204" y="1348"/>
                </a:cubicBezTo>
                <a:cubicBezTo>
                  <a:pt x="212" y="1485"/>
                  <a:pt x="191" y="1571"/>
                  <a:pt x="332" y="1604"/>
                </a:cubicBezTo>
                <a:cubicBezTo>
                  <a:pt x="375" y="1601"/>
                  <a:pt x="418" y="1600"/>
                  <a:pt x="460" y="1594"/>
                </a:cubicBezTo>
                <a:cubicBezTo>
                  <a:pt x="508" y="1588"/>
                  <a:pt x="541" y="1545"/>
                  <a:pt x="588" y="1530"/>
                </a:cubicBezTo>
                <a:cubicBezTo>
                  <a:pt x="623" y="1495"/>
                  <a:pt x="668" y="1471"/>
                  <a:pt x="716" y="1455"/>
                </a:cubicBezTo>
                <a:cubicBezTo>
                  <a:pt x="772" y="1463"/>
                  <a:pt x="806" y="1460"/>
                  <a:pt x="844" y="1498"/>
                </a:cubicBezTo>
                <a:cubicBezTo>
                  <a:pt x="855" y="1533"/>
                  <a:pt x="875" y="1559"/>
                  <a:pt x="886" y="1594"/>
                </a:cubicBezTo>
                <a:cubicBezTo>
                  <a:pt x="894" y="1728"/>
                  <a:pt x="871" y="1876"/>
                  <a:pt x="993" y="1956"/>
                </a:cubicBezTo>
                <a:cubicBezTo>
                  <a:pt x="1285" y="1941"/>
                  <a:pt x="1104" y="1959"/>
                  <a:pt x="1249" y="1914"/>
                </a:cubicBezTo>
                <a:cubicBezTo>
                  <a:pt x="1307" y="1825"/>
                  <a:pt x="1231" y="1928"/>
                  <a:pt x="1302" y="1871"/>
                </a:cubicBezTo>
                <a:cubicBezTo>
                  <a:pt x="1312" y="1863"/>
                  <a:pt x="1315" y="1848"/>
                  <a:pt x="1324" y="1839"/>
                </a:cubicBezTo>
                <a:cubicBezTo>
                  <a:pt x="1333" y="1830"/>
                  <a:pt x="1345" y="1825"/>
                  <a:pt x="1356" y="1818"/>
                </a:cubicBezTo>
                <a:cubicBezTo>
                  <a:pt x="1466" y="1650"/>
                  <a:pt x="1423" y="1499"/>
                  <a:pt x="1473" y="1306"/>
                </a:cubicBezTo>
                <a:cubicBezTo>
                  <a:pt x="1466" y="1156"/>
                  <a:pt x="1470" y="1037"/>
                  <a:pt x="1398" y="911"/>
                </a:cubicBezTo>
                <a:cubicBezTo>
                  <a:pt x="1326" y="785"/>
                  <a:pt x="1399" y="935"/>
                  <a:pt x="1345" y="836"/>
                </a:cubicBezTo>
                <a:cubicBezTo>
                  <a:pt x="1330" y="808"/>
                  <a:pt x="1302" y="751"/>
                  <a:pt x="1302" y="751"/>
                </a:cubicBezTo>
                <a:cubicBezTo>
                  <a:pt x="1293" y="711"/>
                  <a:pt x="1280" y="673"/>
                  <a:pt x="1270" y="634"/>
                </a:cubicBezTo>
                <a:cubicBezTo>
                  <a:pt x="1279" y="537"/>
                  <a:pt x="1290" y="439"/>
                  <a:pt x="1345" y="356"/>
                </a:cubicBezTo>
                <a:cubicBezTo>
                  <a:pt x="1356" y="285"/>
                  <a:pt x="1372" y="215"/>
                  <a:pt x="1345" y="143"/>
                </a:cubicBezTo>
                <a:cubicBezTo>
                  <a:pt x="1322" y="82"/>
                  <a:pt x="1267" y="75"/>
                  <a:pt x="1217" y="58"/>
                </a:cubicBezTo>
                <a:cubicBezTo>
                  <a:pt x="1196" y="51"/>
                  <a:pt x="1153" y="36"/>
                  <a:pt x="1153" y="36"/>
                </a:cubicBezTo>
                <a:cubicBezTo>
                  <a:pt x="985" y="48"/>
                  <a:pt x="1018" y="0"/>
                  <a:pt x="982" y="68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838200" y="5486400"/>
            <a:ext cx="41767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space (e.g., integers, strings)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6"/>
          <p:cNvCxnSpPr/>
          <p:nvPr/>
        </p:nvCxnSpPr>
        <p:spPr>
          <a:xfrm>
            <a:off x="4572000" y="4343400"/>
            <a:ext cx="1524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lg" len="lg"/>
          </a:ln>
        </p:spPr>
      </p:cxnSp>
      <p:graphicFrame>
        <p:nvGraphicFramePr>
          <p:cNvPr id="120" name="Google Shape;120;p16"/>
          <p:cNvGraphicFramePr/>
          <p:nvPr/>
        </p:nvGraphicFramePr>
        <p:xfrm>
          <a:off x="7010400" y="1828800"/>
          <a:ext cx="1524000" cy="4146215"/>
        </p:xfrm>
        <a:graphic>
          <a:graphicData uri="http://schemas.openxmlformats.org/drawingml/2006/table">
            <a:tbl>
              <a:tblPr>
                <a:noFill/>
                <a:tableStyleId>{C0A3526C-82DB-40AD-80DA-B62CF892E569}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1" name="Google Shape;121;p16"/>
          <p:cNvSpPr txBox="1"/>
          <p:nvPr/>
        </p:nvSpPr>
        <p:spPr>
          <a:xfrm>
            <a:off x="6019800" y="5486400"/>
            <a:ext cx="1857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TableSize –1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470400" y="3327400"/>
            <a:ext cx="19177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 function: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h(K)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162800" y="1143000"/>
            <a:ext cx="1409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 table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"/>
          </p:nvPr>
        </p:nvSpPr>
        <p:spPr>
          <a:xfrm>
            <a:off x="711200" y="1085850"/>
            <a:ext cx="77724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space = integers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TableSize = 10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(K) = K mod 10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7, 18, 41, 94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p17"/>
          <p:cNvGraphicFramePr/>
          <p:nvPr/>
        </p:nvGraphicFramePr>
        <p:xfrm>
          <a:off x="6172200" y="685800"/>
          <a:ext cx="2133600" cy="5185420"/>
        </p:xfrm>
        <a:graphic>
          <a:graphicData uri="http://schemas.openxmlformats.org/drawingml/2006/table">
            <a:tbl>
              <a:tblPr>
                <a:noFill/>
                <a:tableStyleId>{C0A3526C-82DB-40AD-80DA-B62CF892E569}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41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94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18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Another Example</a:t>
            </a: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1"/>
          </p:nvPr>
        </p:nvSpPr>
        <p:spPr>
          <a:xfrm>
            <a:off x="711200" y="1085850"/>
            <a:ext cx="77724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space = integers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TableSize = 6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(K) = K mod 6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7, 18, 41, 34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18"/>
          <p:cNvGraphicFramePr/>
          <p:nvPr/>
        </p:nvGraphicFramePr>
        <p:xfrm>
          <a:off x="6096000" y="1371600"/>
          <a:ext cx="2133600" cy="3110880"/>
        </p:xfrm>
        <a:graphic>
          <a:graphicData uri="http://schemas.openxmlformats.org/drawingml/2006/table">
            <a:tbl>
              <a:tblPr>
                <a:noFill/>
                <a:tableStyleId>{C0A3526C-82DB-40AD-80DA-B62CF892E569}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18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34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41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762000" y="685800"/>
            <a:ext cx="802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Hash Functions</a:t>
            </a:r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1"/>
          </p:nvPr>
        </p:nvSpPr>
        <p:spPr>
          <a:xfrm>
            <a:off x="711200" y="1085850"/>
            <a:ext cx="7772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simple/fast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compute,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 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collisions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keys distributed </a:t>
            </a: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evenly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among cells.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Perfect Hash function:</a:t>
            </a:r>
            <a:endParaRPr/>
          </a:p>
          <a:p>
            <a:pPr marL="34290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Sample Hash Functions:</a:t>
            </a:r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696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space = strings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s</a:t>
            </a:r>
            <a:r>
              <a:rPr lang="en-US" sz="2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lang="en-US" sz="2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lang="en-US" sz="2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… s </a:t>
            </a:r>
            <a:r>
              <a:rPr lang="en-US" sz="2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k-1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baseline="-2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 = s</a:t>
            </a:r>
            <a:r>
              <a:rPr lang="en-US" sz="28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 TableSize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 startAt="2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 =			 	            mod TableSize</a:t>
            </a:r>
            <a:endParaRPr/>
          </a:p>
          <a:p>
            <a:pPr marL="609600" lvl="0" indent="-431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 startAt="2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 = 			 	         mod  TableSize</a:t>
            </a:r>
            <a:endParaRPr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0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8200" y="3298690"/>
            <a:ext cx="3810000" cy="1479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5276" y="3962400"/>
            <a:ext cx="1904999" cy="9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Collision Resolution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Collision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when two keys map to the same location in the hash table.  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ways to resolve collisions: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Separate Chaining</a:t>
            </a:r>
            <a:endParaRPr/>
          </a:p>
          <a:p>
            <a:pPr marL="609600" lvl="0" indent="-609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Addressing (linear probing, quadratic probing, double hashing)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Separate Chaining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1"/>
          </p:nvPr>
        </p:nvSpPr>
        <p:spPr>
          <a:xfrm>
            <a:off x="5257800" y="3048000"/>
            <a:ext cx="38862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Separate chaining</a:t>
            </a:r>
            <a:r>
              <a:rPr lang="en-US" sz="32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keys that map to the same hash value are kept in a list (or “bucket”).</a:t>
            </a:r>
            <a:endParaRPr/>
          </a:p>
        </p:txBody>
      </p:sp>
      <p:graphicFrame>
        <p:nvGraphicFramePr>
          <p:cNvPr id="175" name="Google Shape;175;p22"/>
          <p:cNvGraphicFramePr/>
          <p:nvPr/>
        </p:nvGraphicFramePr>
        <p:xfrm>
          <a:off x="1219200" y="1066800"/>
          <a:ext cx="2133600" cy="5185420"/>
        </p:xfrm>
        <a:graphic>
          <a:graphicData uri="http://schemas.openxmlformats.org/drawingml/2006/table">
            <a:tbl>
              <a:tblPr>
                <a:noFill/>
                <a:tableStyleId>{C0A3526C-82DB-40AD-80DA-B62CF892E569}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22/12/42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107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6" name="Google Shape;176;p22"/>
          <p:cNvSpPr txBox="1"/>
          <p:nvPr/>
        </p:nvSpPr>
        <p:spPr>
          <a:xfrm>
            <a:off x="7461300" y="857250"/>
            <a:ext cx="12447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Analysis of find</a:t>
            </a:r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711200" y="1085850"/>
            <a:ext cx="7772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Defn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lang="en-US" sz="32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factor,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λ, of a hash table is the ratio: </a:t>
            </a: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0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← no. of elements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		       ← table size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separate chaining, λ = average # of elements in a bucket</a:t>
            </a: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Unsuccessful find:</a:t>
            </a: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 find:</a:t>
            </a:r>
            <a:endParaRPr/>
          </a:p>
        </p:txBody>
      </p:sp>
      <p:pic>
        <p:nvPicPr>
          <p:cNvPr id="185" name="Google Shape;18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8250" y="2277950"/>
            <a:ext cx="438150" cy="80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How big should the hash table be?</a:t>
            </a:r>
            <a:endParaRPr/>
          </a:p>
        </p:txBody>
      </p:sp>
      <p:sp>
        <p:nvSpPr>
          <p:cNvPr id="192" name="Google Shape;192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Separate Chaining: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tableSize: Why Prime?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304800" y="11430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stored in hash table: 7160, 493, 60, 55, 321, 900, 810</a:t>
            </a: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tableSize = 10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data hashes to 0, 3,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5, 1,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tableSize = 11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data hashes to 10, 9, 5, 0, 2, </a:t>
            </a:r>
            <a:r>
              <a:rPr lang="en-US" sz="28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7</a:t>
            </a:r>
            <a:endParaRPr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6380162" y="2362200"/>
            <a:ext cx="2763837" cy="22923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CC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99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Real-life data tends to have a pattern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Being a multiple of 11 is usually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pattern 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Open Addressing</a:t>
            </a:r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body" idx="1"/>
          </p:nvPr>
        </p:nvSpPr>
        <p:spPr>
          <a:xfrm>
            <a:off x="5181600" y="3429000"/>
            <a:ext cx="373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Probing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after checking spot h(k), try spot h(k)+1, if that is full, try h(k)+2, then h(k)+3, etc.</a:t>
            </a:r>
            <a:endParaRPr/>
          </a:p>
        </p:txBody>
      </p:sp>
      <p:graphicFrame>
        <p:nvGraphicFramePr>
          <p:cNvPr id="209" name="Google Shape;209;p26"/>
          <p:cNvGraphicFramePr/>
          <p:nvPr/>
        </p:nvGraphicFramePr>
        <p:xfrm>
          <a:off x="1320800" y="1371600"/>
          <a:ext cx="2133600" cy="5185420"/>
        </p:xfrm>
        <a:graphic>
          <a:graphicData uri="http://schemas.openxmlformats.org/drawingml/2006/table">
            <a:tbl>
              <a:tblPr>
                <a:noFill/>
                <a:tableStyleId>{C0A3526C-82DB-40AD-80DA-B62CF892E569}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109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38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0" name="Google Shape;210;p26"/>
          <p:cNvSpPr txBox="1"/>
          <p:nvPr/>
        </p:nvSpPr>
        <p:spPr>
          <a:xfrm>
            <a:off x="7086600" y="762000"/>
            <a:ext cx="124460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Terminology Alert!</a:t>
            </a:r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body" idx="1"/>
          </p:nvPr>
        </p:nvSpPr>
        <p:spPr>
          <a:xfrm>
            <a:off x="1143000" y="2586037"/>
            <a:ext cx="3810000" cy="350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Hashing”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equals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“Separate Chaining”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body" idx="2"/>
          </p:nvPr>
        </p:nvSpPr>
        <p:spPr>
          <a:xfrm>
            <a:off x="4746625" y="2586037"/>
            <a:ext cx="3502025" cy="326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“Closed Hashing”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   equals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Addressing”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Linear Probing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f(i) = i</a:t>
            </a:r>
            <a:br>
              <a:rPr lang="en-US" sz="32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 sequence: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0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 h(k) mod TableSize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+ 1) mod TableSize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2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+ 2) mod TableSize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. . 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800" b="0" i="0" u="none" baseline="30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probe = (h(k) + i) mod TableSize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Linear Probing – Clustering </a:t>
            </a:r>
            <a:endParaRPr/>
          </a:p>
        </p:txBody>
      </p:sp>
      <p:pic>
        <p:nvPicPr>
          <p:cNvPr id="234" name="Google Shape;234;p29" descr="lpclu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1976437"/>
            <a:ext cx="4619625" cy="38909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9"/>
          <p:cNvSpPr txBox="1"/>
          <p:nvPr/>
        </p:nvSpPr>
        <p:spPr>
          <a:xfrm>
            <a:off x="6113462" y="5721350"/>
            <a:ext cx="14224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[R. Sedgewick]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763587" y="2559050"/>
            <a:ext cx="11414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collision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839787" y="3016250"/>
            <a:ext cx="11414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collision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9"/>
          <p:cNvCxnSpPr/>
          <p:nvPr/>
        </p:nvCxnSpPr>
        <p:spPr>
          <a:xfrm>
            <a:off x="1905000" y="3200400"/>
            <a:ext cx="8382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9" name="Google Shape;239;p29"/>
          <p:cNvCxnSpPr/>
          <p:nvPr/>
        </p:nvCxnSpPr>
        <p:spPr>
          <a:xfrm>
            <a:off x="1828800" y="2743200"/>
            <a:ext cx="685800" cy="762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0" name="Google Shape;240;p29"/>
          <p:cNvSpPr txBox="1"/>
          <p:nvPr/>
        </p:nvSpPr>
        <p:spPr>
          <a:xfrm>
            <a:off x="6629400" y="2863850"/>
            <a:ext cx="21859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 in small cluster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9"/>
          <p:cNvCxnSpPr/>
          <p:nvPr/>
        </p:nvCxnSpPr>
        <p:spPr>
          <a:xfrm flipH="1">
            <a:off x="5562600" y="3048000"/>
            <a:ext cx="1066800" cy="1524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2" name="Google Shape;242;p29"/>
          <p:cNvSpPr txBox="1"/>
          <p:nvPr/>
        </p:nvSpPr>
        <p:spPr>
          <a:xfrm>
            <a:off x="6648450" y="4768850"/>
            <a:ext cx="215106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Times New Roman"/>
              <a:buNone/>
            </a:pPr>
            <a:r>
              <a:rPr lang="en-US" sz="16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 in large cluster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9"/>
          <p:cNvCxnSpPr/>
          <p:nvPr/>
        </p:nvCxnSpPr>
        <p:spPr>
          <a:xfrm flipH="1">
            <a:off x="5257800" y="4953000"/>
            <a:ext cx="1447800" cy="2286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 txBox="1"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Load Factor in Linear Probing</a:t>
            </a:r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3922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2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λ &lt; 1, linear probing </a:t>
            </a:r>
            <a:r>
              <a:rPr lang="en-US" sz="2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find an empty slot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# of probes (for large table sizes)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 search:</a:t>
            </a:r>
            <a:endParaRPr/>
          </a:p>
          <a:p>
            <a:pPr marL="742950" lvl="1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unsuccessful search:</a:t>
            </a:r>
            <a:endParaRPr/>
          </a:p>
          <a:p>
            <a:pPr marL="742950" lvl="1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133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probing suffers from </a:t>
            </a:r>
            <a:r>
              <a:rPr lang="en-US" sz="2400" b="1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primary clustering</a:t>
            </a:r>
            <a:endParaRPr sz="2400" b="1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quickly degrades for λ &gt; 1/2</a:t>
            </a:r>
            <a:endParaRPr/>
          </a:p>
        </p:txBody>
      </p:sp>
      <p:pic>
        <p:nvPicPr>
          <p:cNvPr id="252" name="Google Shape;25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9600" y="3962400"/>
            <a:ext cx="1752600" cy="87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9600" y="2743200"/>
            <a:ext cx="1752600" cy="8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Quadratic Probing</a:t>
            </a:r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f(i) = i</a:t>
            </a:r>
            <a:r>
              <a:rPr lang="en-US" sz="3200" b="0" i="0" u="none" baseline="30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marL="342900" lvl="0" indent="-34290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baseline="30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 sequence: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0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 h(k) mod TableSize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+ 1) mod TableSize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2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+ 4) mod TableSize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3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+ 9) mod TableSize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. . .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i</a:t>
            </a:r>
            <a:r>
              <a:rPr lang="en-US" sz="2800" b="0" i="0" u="none" baseline="30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probe = (h(k) + i</a:t>
            </a:r>
            <a:r>
              <a:rPr lang="en-US" sz="2800" b="0" i="0" u="none" baseline="30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 mod TableSize </a:t>
            </a:r>
            <a:endParaRPr/>
          </a:p>
        </p:txBody>
      </p:sp>
      <p:sp>
        <p:nvSpPr>
          <p:cNvPr id="262" name="Google Shape;262;p31"/>
          <p:cNvSpPr txBox="1"/>
          <p:nvPr/>
        </p:nvSpPr>
        <p:spPr>
          <a:xfrm>
            <a:off x="7086600" y="381000"/>
            <a:ext cx="1828800" cy="1562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likely to encounter Primary Clustering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2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Quadratic Probing</a:t>
            </a:r>
            <a:endParaRPr/>
          </a:p>
        </p:txBody>
      </p:sp>
      <p:graphicFrame>
        <p:nvGraphicFramePr>
          <p:cNvPr id="269" name="Google Shape;269;p32"/>
          <p:cNvGraphicFramePr/>
          <p:nvPr/>
        </p:nvGraphicFramePr>
        <p:xfrm>
          <a:off x="1320800" y="1371600"/>
          <a:ext cx="2133600" cy="5185420"/>
        </p:xfrm>
        <a:graphic>
          <a:graphicData uri="http://schemas.openxmlformats.org/drawingml/2006/table">
            <a:tbl>
              <a:tblPr>
                <a:noFill/>
                <a:tableStyleId>{C0A3526C-82DB-40AD-80DA-B62CF892E569}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70" name="Google Shape;270;p32"/>
          <p:cNvSpPr txBox="1"/>
          <p:nvPr/>
        </p:nvSpPr>
        <p:spPr>
          <a:xfrm>
            <a:off x="6400800" y="1447800"/>
            <a:ext cx="1397000" cy="228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Insert: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79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Quadratic Probing Example</a:t>
            </a:r>
            <a:endParaRPr/>
          </a:p>
        </p:txBody>
      </p:sp>
      <p:grpSp>
        <p:nvGrpSpPr>
          <p:cNvPr id="278" name="Google Shape;278;p33"/>
          <p:cNvGrpSpPr/>
          <p:nvPr/>
        </p:nvGrpSpPr>
        <p:grpSpPr>
          <a:xfrm>
            <a:off x="381000" y="1371600"/>
            <a:ext cx="1368425" cy="5029200"/>
            <a:chOff x="385" y="1008"/>
            <a:chExt cx="862" cy="3168"/>
          </a:xfrm>
        </p:grpSpPr>
        <p:sp>
          <p:nvSpPr>
            <p:cNvPr id="279" name="Google Shape;279;p33"/>
            <p:cNvSpPr txBox="1"/>
            <p:nvPr/>
          </p:nvSpPr>
          <p:spPr>
            <a:xfrm>
              <a:off x="663" y="1518"/>
              <a:ext cx="328" cy="32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33"/>
            <p:cNvSpPr txBox="1"/>
            <p:nvPr/>
          </p:nvSpPr>
          <p:spPr>
            <a:xfrm>
              <a:off x="663" y="1846"/>
              <a:ext cx="328" cy="32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" name="Google Shape;281;p33"/>
            <p:cNvSpPr txBox="1"/>
            <p:nvPr/>
          </p:nvSpPr>
          <p:spPr>
            <a:xfrm>
              <a:off x="663" y="2172"/>
              <a:ext cx="328" cy="32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33"/>
            <p:cNvSpPr txBox="1"/>
            <p:nvPr/>
          </p:nvSpPr>
          <p:spPr>
            <a:xfrm>
              <a:off x="663" y="2832"/>
              <a:ext cx="328" cy="32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p33"/>
            <p:cNvSpPr txBox="1"/>
            <p:nvPr/>
          </p:nvSpPr>
          <p:spPr>
            <a:xfrm>
              <a:off x="663" y="3160"/>
              <a:ext cx="328" cy="327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33"/>
            <p:cNvSpPr txBox="1"/>
            <p:nvPr/>
          </p:nvSpPr>
          <p:spPr>
            <a:xfrm>
              <a:off x="663" y="3487"/>
              <a:ext cx="328" cy="329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imes New Roman"/>
                <a:buNone/>
              </a:pPr>
              <a:r>
                <a:rPr lang="en-US" sz="2400" b="0" i="0" u="none" strike="noStrike" cap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76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3"/>
            <p:cNvSpPr txBox="1"/>
            <p:nvPr/>
          </p:nvSpPr>
          <p:spPr>
            <a:xfrm>
              <a:off x="663" y="2504"/>
              <a:ext cx="328" cy="32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6" name="Google Shape;286;p33"/>
            <p:cNvSpPr txBox="1"/>
            <p:nvPr/>
          </p:nvSpPr>
          <p:spPr>
            <a:xfrm>
              <a:off x="514" y="247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3"/>
            <p:cNvSpPr txBox="1"/>
            <p:nvPr/>
          </p:nvSpPr>
          <p:spPr>
            <a:xfrm>
              <a:off x="514" y="2141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3"/>
            <p:cNvSpPr txBox="1"/>
            <p:nvPr/>
          </p:nvSpPr>
          <p:spPr>
            <a:xfrm>
              <a:off x="514" y="181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3"/>
            <p:cNvSpPr txBox="1"/>
            <p:nvPr/>
          </p:nvSpPr>
          <p:spPr>
            <a:xfrm>
              <a:off x="514" y="1490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33"/>
            <p:cNvSpPr txBox="1"/>
            <p:nvPr/>
          </p:nvSpPr>
          <p:spPr>
            <a:xfrm>
              <a:off x="510" y="344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33"/>
            <p:cNvSpPr txBox="1"/>
            <p:nvPr/>
          </p:nvSpPr>
          <p:spPr>
            <a:xfrm>
              <a:off x="510" y="312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3"/>
            <p:cNvSpPr txBox="1"/>
            <p:nvPr/>
          </p:nvSpPr>
          <p:spPr>
            <a:xfrm>
              <a:off x="510" y="2797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3"/>
            <p:cNvSpPr txBox="1"/>
            <p:nvPr/>
          </p:nvSpPr>
          <p:spPr>
            <a:xfrm>
              <a:off x="385" y="1008"/>
              <a:ext cx="862" cy="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insert(</a:t>
              </a:r>
              <a:r>
                <a:rPr lang="en-US" sz="2400" b="0" i="0" u="none" strike="noStrike" cap="non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76</a:t>
              </a:r>
              <a:r>
                <a:rPr lang="en-US"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76%7 = 6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3"/>
            <p:cNvSpPr txBox="1"/>
            <p:nvPr/>
          </p:nvSpPr>
          <p:spPr>
            <a:xfrm>
              <a:off x="729" y="3888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5" name="Google Shape;295;p33"/>
          <p:cNvSpPr txBox="1"/>
          <p:nvPr/>
        </p:nvSpPr>
        <p:spPr>
          <a:xfrm>
            <a:off x="2114550" y="1371600"/>
            <a:ext cx="13684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insert(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40%7 = 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3848100" y="1371600"/>
            <a:ext cx="13684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insert(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48%7 = 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5581650" y="1371600"/>
            <a:ext cx="12160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insert(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5%7 = 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7162800" y="1371600"/>
            <a:ext cx="13684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insert(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55%7 = 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3"/>
          <p:cNvSpPr txBox="1"/>
          <p:nvPr/>
        </p:nvSpPr>
        <p:spPr>
          <a:xfrm>
            <a:off x="7165975" y="2590800"/>
            <a:ext cx="13684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insert(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47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47%7 = 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 txBox="1"/>
          <p:nvPr/>
        </p:nvSpPr>
        <p:spPr>
          <a:xfrm>
            <a:off x="6324600" y="2743200"/>
            <a:ext cx="928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Quadratic Probing: Properties</a:t>
            </a:r>
            <a:endParaRPr/>
          </a:p>
        </p:txBody>
      </p:sp>
      <p:sp>
        <p:nvSpPr>
          <p:cNvPr id="308" name="Google Shape;308;p34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423150" cy="3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λ &lt; ½, quadratic probing will find an empty slot; for bigger λ, quadratic probing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find a slot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Quadratic probing does not suffer from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clustering: keys hashing to the same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not bad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what about keys that hash to the same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spot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–"/>
            </a:pPr>
            <a:r>
              <a:rPr lang="en-US" sz="2000" b="1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Secondary Clustering!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Double Hashing</a:t>
            </a:r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305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f(i) = i * g(k)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g is a second hash function 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 sequence: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0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 h(k) mod TableSize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g(k)) mod TableSize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2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+ 2*g(k)) mod TableSize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3</a:t>
            </a:r>
            <a:r>
              <a:rPr lang="en-US" sz="28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probe = (h(k) + 3*g(k)) mod TableSize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. . 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i</a:t>
            </a:r>
            <a:r>
              <a:rPr lang="en-US" sz="2800" b="0" i="0" u="none" baseline="30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probe = (h(</a:t>
            </a:r>
            <a:r>
              <a:rPr lang="en-US" sz="2800" b="0" i="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 + i*g(</a:t>
            </a:r>
            <a:r>
              <a:rPr lang="en-US" sz="2800" b="0" i="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)) mod TableSize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Double Hashing Example</a:t>
            </a:r>
            <a:endParaRPr/>
          </a:p>
        </p:txBody>
      </p:sp>
      <p:sp>
        <p:nvSpPr>
          <p:cNvPr id="323" name="Google Shape;323;p36"/>
          <p:cNvSpPr txBox="1"/>
          <p:nvPr/>
        </p:nvSpPr>
        <p:spPr>
          <a:xfrm>
            <a:off x="685800" y="3124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685800" y="3505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685800" y="3886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685800" y="4267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6"/>
          <p:cNvSpPr txBox="1"/>
          <p:nvPr/>
        </p:nvSpPr>
        <p:spPr>
          <a:xfrm>
            <a:off x="685800" y="4648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6"/>
          <p:cNvSpPr txBox="1"/>
          <p:nvPr/>
        </p:nvSpPr>
        <p:spPr>
          <a:xfrm>
            <a:off x="685800" y="5029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6"/>
          <p:cNvSpPr txBox="1"/>
          <p:nvPr/>
        </p:nvSpPr>
        <p:spPr>
          <a:xfrm>
            <a:off x="685800" y="5410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6"/>
          <p:cNvSpPr txBox="1"/>
          <p:nvPr/>
        </p:nvSpPr>
        <p:spPr>
          <a:xfrm>
            <a:off x="1143000" y="3124200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6"/>
          <p:cNvSpPr txBox="1"/>
          <p:nvPr/>
        </p:nvSpPr>
        <p:spPr>
          <a:xfrm>
            <a:off x="1143000" y="3505200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6"/>
          <p:cNvSpPr txBox="1"/>
          <p:nvPr/>
        </p:nvSpPr>
        <p:spPr>
          <a:xfrm>
            <a:off x="1143000" y="3886200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6"/>
          <p:cNvSpPr txBox="1"/>
          <p:nvPr/>
        </p:nvSpPr>
        <p:spPr>
          <a:xfrm>
            <a:off x="1143000" y="4267200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6"/>
          <p:cNvSpPr txBox="1"/>
          <p:nvPr/>
        </p:nvSpPr>
        <p:spPr>
          <a:xfrm>
            <a:off x="1143000" y="4648200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6"/>
          <p:cNvSpPr txBox="1"/>
          <p:nvPr/>
        </p:nvSpPr>
        <p:spPr>
          <a:xfrm>
            <a:off x="1143000" y="5029200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6"/>
          <p:cNvSpPr txBox="1"/>
          <p:nvPr/>
        </p:nvSpPr>
        <p:spPr>
          <a:xfrm>
            <a:off x="1143000" y="5410200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6"/>
          <p:cNvSpPr txBox="1"/>
          <p:nvPr/>
        </p:nvSpPr>
        <p:spPr>
          <a:xfrm>
            <a:off x="1133475" y="2373312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6"/>
          <p:cNvSpPr txBox="1"/>
          <p:nvPr/>
        </p:nvSpPr>
        <p:spPr>
          <a:xfrm>
            <a:off x="2057400" y="3113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2057400" y="3494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2057400" y="3875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2057400" y="4256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6"/>
          <p:cNvSpPr txBox="1"/>
          <p:nvPr/>
        </p:nvSpPr>
        <p:spPr>
          <a:xfrm>
            <a:off x="2057400" y="4637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6"/>
          <p:cNvSpPr txBox="1"/>
          <p:nvPr/>
        </p:nvSpPr>
        <p:spPr>
          <a:xfrm>
            <a:off x="2057400" y="5018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2057400" y="5399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2514600" y="3113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2514600" y="3494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6"/>
          <p:cNvSpPr txBox="1"/>
          <p:nvPr/>
        </p:nvSpPr>
        <p:spPr>
          <a:xfrm>
            <a:off x="2514600" y="3875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2514600" y="4256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2514600" y="4637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2514600" y="5018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36"/>
          <p:cNvSpPr txBox="1"/>
          <p:nvPr/>
        </p:nvSpPr>
        <p:spPr>
          <a:xfrm>
            <a:off x="2514600" y="5399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6"/>
          <p:cNvSpPr txBox="1"/>
          <p:nvPr/>
        </p:nvSpPr>
        <p:spPr>
          <a:xfrm>
            <a:off x="2505075" y="23622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3429000" y="3113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3429000" y="3494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3429000" y="3875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3429000" y="4256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3429000" y="4637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3429000" y="5018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3429000" y="5399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3886200" y="3113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3886200" y="3494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3886200" y="3875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3886200" y="4256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3886200" y="4637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36"/>
          <p:cNvSpPr txBox="1"/>
          <p:nvPr/>
        </p:nvSpPr>
        <p:spPr>
          <a:xfrm>
            <a:off x="3886200" y="5018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3886200" y="5399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3876675" y="23622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6"/>
          <p:cNvSpPr txBox="1"/>
          <p:nvPr/>
        </p:nvSpPr>
        <p:spPr>
          <a:xfrm>
            <a:off x="4800600" y="3113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 txBox="1"/>
          <p:nvPr/>
        </p:nvSpPr>
        <p:spPr>
          <a:xfrm>
            <a:off x="4800600" y="3494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4800600" y="3875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 txBox="1"/>
          <p:nvPr/>
        </p:nvSpPr>
        <p:spPr>
          <a:xfrm>
            <a:off x="4800600" y="4256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4800600" y="4637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4800600" y="5018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4800600" y="5399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5257800" y="3113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36"/>
          <p:cNvSpPr txBox="1"/>
          <p:nvPr/>
        </p:nvSpPr>
        <p:spPr>
          <a:xfrm>
            <a:off x="5257800" y="3494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5257800" y="3875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5257800" y="4256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5257800" y="4637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5257800" y="5018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5257800" y="5399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6"/>
          <p:cNvSpPr txBox="1"/>
          <p:nvPr/>
        </p:nvSpPr>
        <p:spPr>
          <a:xfrm>
            <a:off x="5248275" y="23622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 txBox="1"/>
          <p:nvPr/>
        </p:nvSpPr>
        <p:spPr>
          <a:xfrm>
            <a:off x="6096000" y="3113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6096000" y="3494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 txBox="1"/>
          <p:nvPr/>
        </p:nvSpPr>
        <p:spPr>
          <a:xfrm>
            <a:off x="6096000" y="3875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6096000" y="4256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6"/>
          <p:cNvSpPr txBox="1"/>
          <p:nvPr/>
        </p:nvSpPr>
        <p:spPr>
          <a:xfrm>
            <a:off x="6096000" y="4637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 txBox="1"/>
          <p:nvPr/>
        </p:nvSpPr>
        <p:spPr>
          <a:xfrm>
            <a:off x="6096000" y="5018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6"/>
          <p:cNvSpPr txBox="1"/>
          <p:nvPr/>
        </p:nvSpPr>
        <p:spPr>
          <a:xfrm>
            <a:off x="6096000" y="5399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6"/>
          <p:cNvSpPr txBox="1"/>
          <p:nvPr/>
        </p:nvSpPr>
        <p:spPr>
          <a:xfrm>
            <a:off x="6553200" y="3113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36"/>
          <p:cNvSpPr txBox="1"/>
          <p:nvPr/>
        </p:nvSpPr>
        <p:spPr>
          <a:xfrm>
            <a:off x="6553200" y="3494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6"/>
          <p:cNvSpPr txBox="1"/>
          <p:nvPr/>
        </p:nvSpPr>
        <p:spPr>
          <a:xfrm>
            <a:off x="6553200" y="3875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6"/>
          <p:cNvSpPr txBox="1"/>
          <p:nvPr/>
        </p:nvSpPr>
        <p:spPr>
          <a:xfrm>
            <a:off x="6553200" y="4256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6"/>
          <p:cNvSpPr txBox="1"/>
          <p:nvPr/>
        </p:nvSpPr>
        <p:spPr>
          <a:xfrm>
            <a:off x="6553200" y="4637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36"/>
          <p:cNvSpPr txBox="1"/>
          <p:nvPr/>
        </p:nvSpPr>
        <p:spPr>
          <a:xfrm>
            <a:off x="6553200" y="5018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6553200" y="5399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 txBox="1"/>
          <p:nvPr/>
        </p:nvSpPr>
        <p:spPr>
          <a:xfrm>
            <a:off x="6543675" y="23622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6"/>
          <p:cNvSpPr txBox="1"/>
          <p:nvPr/>
        </p:nvSpPr>
        <p:spPr>
          <a:xfrm>
            <a:off x="7467600" y="3113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/>
          <p:cNvSpPr txBox="1"/>
          <p:nvPr/>
        </p:nvSpPr>
        <p:spPr>
          <a:xfrm>
            <a:off x="7467600" y="3494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6"/>
          <p:cNvSpPr txBox="1"/>
          <p:nvPr/>
        </p:nvSpPr>
        <p:spPr>
          <a:xfrm>
            <a:off x="7467600" y="3875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7467600" y="4256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6"/>
          <p:cNvSpPr txBox="1"/>
          <p:nvPr/>
        </p:nvSpPr>
        <p:spPr>
          <a:xfrm>
            <a:off x="7467600" y="4637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 txBox="1"/>
          <p:nvPr/>
        </p:nvSpPr>
        <p:spPr>
          <a:xfrm>
            <a:off x="7467600" y="5018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7467600" y="539908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7924800" y="3113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6"/>
          <p:cNvSpPr txBox="1"/>
          <p:nvPr/>
        </p:nvSpPr>
        <p:spPr>
          <a:xfrm>
            <a:off x="7924800" y="3494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6"/>
          <p:cNvSpPr txBox="1"/>
          <p:nvPr/>
        </p:nvSpPr>
        <p:spPr>
          <a:xfrm>
            <a:off x="7924800" y="3875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6"/>
          <p:cNvSpPr txBox="1"/>
          <p:nvPr/>
        </p:nvSpPr>
        <p:spPr>
          <a:xfrm>
            <a:off x="7924800" y="4256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7924800" y="4637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6"/>
          <p:cNvSpPr txBox="1"/>
          <p:nvPr/>
        </p:nvSpPr>
        <p:spPr>
          <a:xfrm>
            <a:off x="7924800" y="5018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6"/>
          <p:cNvSpPr txBox="1"/>
          <p:nvPr/>
        </p:nvSpPr>
        <p:spPr>
          <a:xfrm>
            <a:off x="7924800" y="5399087"/>
            <a:ext cx="533400" cy="38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6"/>
          <p:cNvSpPr txBox="1"/>
          <p:nvPr/>
        </p:nvSpPr>
        <p:spPr>
          <a:xfrm>
            <a:off x="7915275" y="23622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6"/>
          <p:cNvSpPr txBox="1"/>
          <p:nvPr/>
        </p:nvSpPr>
        <p:spPr>
          <a:xfrm>
            <a:off x="1050925" y="1611312"/>
            <a:ext cx="45894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h(k) = k mod 7 and g(k) = 5 – (k mod 5)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6"/>
          <p:cNvSpPr txBox="1"/>
          <p:nvPr/>
        </p:nvSpPr>
        <p:spPr>
          <a:xfrm>
            <a:off x="212725" y="5791200"/>
            <a:ext cx="812323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Probes  1                   1                 1                  2                 1                 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7"/>
          <p:cNvSpPr txBox="1">
            <a:spLocks noGrp="1"/>
          </p:cNvSpPr>
          <p:nvPr>
            <p:ph type="title"/>
          </p:nvPr>
        </p:nvSpPr>
        <p:spPr>
          <a:xfrm>
            <a:off x="152400" y="17145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Resolving Collisions with Double Hashing</a:t>
            </a:r>
            <a:endParaRPr/>
          </a:p>
        </p:txBody>
      </p:sp>
      <p:sp>
        <p:nvSpPr>
          <p:cNvPr id="422" name="Google Shape;422;p37"/>
          <p:cNvSpPr txBox="1">
            <a:spLocks noGrp="1"/>
          </p:cNvSpPr>
          <p:nvPr>
            <p:ph type="body" idx="1"/>
          </p:nvPr>
        </p:nvSpPr>
        <p:spPr>
          <a:xfrm>
            <a:off x="4419600" y="914400"/>
            <a:ext cx="4495800" cy="198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Functions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H(K) = K mod M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H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(K) = 1 + ((K/M) mod (M-1))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 =</a:t>
            </a:r>
            <a:endParaRPr/>
          </a:p>
        </p:txBody>
      </p:sp>
      <p:graphicFrame>
        <p:nvGraphicFramePr>
          <p:cNvPr id="423" name="Google Shape;423;p37"/>
          <p:cNvGraphicFramePr/>
          <p:nvPr/>
        </p:nvGraphicFramePr>
        <p:xfrm>
          <a:off x="1320800" y="914400"/>
          <a:ext cx="2133600" cy="5185420"/>
        </p:xfrm>
        <a:graphic>
          <a:graphicData uri="http://schemas.openxmlformats.org/drawingml/2006/table">
            <a:tbl>
              <a:tblPr>
                <a:noFill/>
                <a:tableStyleId>{C0A3526C-82DB-40AD-80DA-B62CF892E569}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50" u="none" strike="noStrike" cap="none"/>
                    </a:p>
                  </a:txBody>
                  <a:tcPr marL="91450" marR="91450" marT="45725" marB="45725" anchor="ctr" anchorCtr="1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4" name="Google Shape;424;p37"/>
          <p:cNvSpPr txBox="1"/>
          <p:nvPr/>
        </p:nvSpPr>
        <p:spPr>
          <a:xfrm>
            <a:off x="4343400" y="3048000"/>
            <a:ext cx="4343400" cy="315118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these values into the hash table in this order.  Resolve any collisions with double hashing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>
            <a:spLocks noGrp="1"/>
          </p:cNvSpPr>
          <p:nvPr>
            <p:ph type="title"/>
          </p:nvPr>
        </p:nvSpPr>
        <p:spPr>
          <a:xfrm>
            <a:off x="671732" y="0"/>
            <a:ext cx="7772400" cy="7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Dynamic Hashing </a:t>
            </a:r>
            <a:endParaRPr/>
          </a:p>
        </p:txBody>
      </p:sp>
      <p:sp>
        <p:nvSpPr>
          <p:cNvPr id="430" name="Google Shape;430;p38"/>
          <p:cNvSpPr txBox="1">
            <a:spLocks noGrp="1"/>
          </p:cNvSpPr>
          <p:nvPr>
            <p:ph type="body" idx="1"/>
          </p:nvPr>
        </p:nvSpPr>
        <p:spPr>
          <a:xfrm>
            <a:off x="446648" y="827648"/>
            <a:ext cx="8134643" cy="50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good performance , it is necessary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to increase size of hash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table; whenever its loading density exceeds a pre specified threshold </a:t>
            </a:r>
            <a:endParaRPr/>
          </a:p>
          <a:p>
            <a:pPr marL="171450" lvl="0" indent="-1714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EX: if there are b buckets in hash table and using a division hash function then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D=b. </a:t>
            </a:r>
            <a:endParaRPr/>
          </a:p>
          <a:p>
            <a:pPr marL="171450" lvl="0" indent="-17145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When an insert causes the loading density to exceed the prespecified threshold. We use array doubling to increase the number of buckets to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2b+1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This change in divisor require to rebuild hash table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Dynamic Hashing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 Also  known as extendible hashing , aims to reduce the rebuild time by ensuring that each rebuild changes the home bucket for the entries in only  1 bucket. 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Objective of dynamic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hashing is to provide acceptable hash table performance on a per operation basis.</a:t>
            </a:r>
            <a:endParaRPr/>
          </a:p>
        </p:txBody>
      </p:sp>
      <p:sp>
        <p:nvSpPr>
          <p:cNvPr id="431" name="Google Shape;431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9"/>
          <p:cNvSpPr txBox="1">
            <a:spLocks noGrp="1"/>
          </p:cNvSpPr>
          <p:nvPr>
            <p:ph type="title"/>
          </p:nvPr>
        </p:nvSpPr>
        <p:spPr>
          <a:xfrm>
            <a:off x="671732" y="0"/>
            <a:ext cx="7772400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Types of Dynamic Hashing </a:t>
            </a:r>
            <a:endParaRPr/>
          </a:p>
        </p:txBody>
      </p:sp>
      <p:sp>
        <p:nvSpPr>
          <p:cNvPr id="437" name="Google Shape;437;p39"/>
          <p:cNvSpPr txBox="1">
            <a:spLocks noGrp="1"/>
          </p:cNvSpPr>
          <p:nvPr>
            <p:ph type="body" idx="1"/>
          </p:nvPr>
        </p:nvSpPr>
        <p:spPr>
          <a:xfrm>
            <a:off x="446648" y="616628"/>
            <a:ext cx="8134643" cy="50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Using Directory </a:t>
            </a:r>
            <a:endParaRPr/>
          </a:p>
          <a:p>
            <a:pPr marL="571500" lvl="0" indent="-4572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With out directory </a:t>
            </a:r>
            <a:endParaRPr/>
          </a:p>
          <a:p>
            <a:pPr marL="571500" lvl="0" indent="-4572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Both forms, hash function h used to map key into non negative  	integers. </a:t>
            </a:r>
            <a:endParaRPr/>
          </a:p>
          <a:p>
            <a:pPr marL="571500" lvl="0" indent="-4572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Ex: h(k) transforms keys into 6 bit non negative integers. </a:t>
            </a:r>
            <a:endParaRPr/>
          </a:p>
          <a:p>
            <a:pPr marL="571500" lvl="0" indent="-4572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Let keys with 2 character each and h transfroms letters such as A B and C into bit sequence like 100, 101 and  110</a:t>
            </a:r>
            <a:endParaRPr/>
          </a:p>
          <a:p>
            <a:pPr marL="571500" lvl="0" indent="-4572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Digits 0 to 7 are transformed into their 3 bit representation </a:t>
            </a:r>
            <a:endParaRPr/>
          </a:p>
          <a:p>
            <a:pPr marL="571500" lvl="0" indent="-45720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aphicFrame>
        <p:nvGraphicFramePr>
          <p:cNvPr id="439" name="Google Shape;439;p39"/>
          <p:cNvGraphicFramePr/>
          <p:nvPr/>
        </p:nvGraphicFramePr>
        <p:xfrm>
          <a:off x="1903826" y="4039764"/>
          <a:ext cx="2679100" cy="2701350"/>
        </p:xfrm>
        <a:graphic>
          <a:graphicData uri="http://schemas.openxmlformats.org/drawingml/2006/table">
            <a:tbl>
              <a:tblPr firstRow="1" bandRow="1">
                <a:noFill/>
                <a:tableStyleId>{C0A3526C-82DB-40AD-80DA-B62CF892E569}</a:tableStyleId>
              </a:tblPr>
              <a:tblGrid>
                <a:gridCol w="133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/>
                        <a:t>K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h(K)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A0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100 000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A1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100 001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B0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101 000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B1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101 001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110 001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110 010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110 011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C5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110 101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"/>
          <p:cNvSpPr txBox="1">
            <a:spLocks noGrp="1"/>
          </p:cNvSpPr>
          <p:nvPr>
            <p:ph type="title"/>
          </p:nvPr>
        </p:nvSpPr>
        <p:spPr>
          <a:xfrm>
            <a:off x="468084" y="0"/>
            <a:ext cx="8675915" cy="74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Dynamic Hash Table with directories</a:t>
            </a:r>
            <a:endParaRPr/>
          </a:p>
        </p:txBody>
      </p:sp>
      <p:sp>
        <p:nvSpPr>
          <p:cNvPr id="445" name="Google Shape;445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446" name="Google Shape;44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35" y="1949107"/>
            <a:ext cx="3061114" cy="3285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6638" y="1990725"/>
            <a:ext cx="2739756" cy="395888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0"/>
          <p:cNvSpPr txBox="1"/>
          <p:nvPr/>
        </p:nvSpPr>
        <p:spPr>
          <a:xfrm>
            <a:off x="1252025" y="6274191"/>
            <a:ext cx="965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 = 2</a:t>
            </a:r>
            <a:endParaRPr/>
          </a:p>
        </p:txBody>
      </p:sp>
      <p:sp>
        <p:nvSpPr>
          <p:cNvPr id="449" name="Google Shape;449;p40"/>
          <p:cNvSpPr txBox="1"/>
          <p:nvPr/>
        </p:nvSpPr>
        <p:spPr>
          <a:xfrm>
            <a:off x="4499317" y="6285914"/>
            <a:ext cx="965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 = 3</a:t>
            </a:r>
            <a:endParaRPr/>
          </a:p>
        </p:txBody>
      </p:sp>
      <p:sp>
        <p:nvSpPr>
          <p:cNvPr id="450" name="Google Shape;450;p40"/>
          <p:cNvSpPr txBox="1"/>
          <p:nvPr/>
        </p:nvSpPr>
        <p:spPr>
          <a:xfrm>
            <a:off x="275770" y="962965"/>
            <a:ext cx="857794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bits of h(k) used to index the directory  is called the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directory depth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Hashing Summary</a:t>
            </a:r>
            <a:endParaRPr/>
          </a:p>
        </p:txBody>
      </p:sp>
      <p:sp>
        <p:nvSpPr>
          <p:cNvPr id="457" name="Google Shape;457;p4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Hashing is one of the most important data structures.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Hashing has many applications where operations are limited to find, insert, and delete.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hash tables have good amortized complexity.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Microsoft Office PowerPoint</Application>
  <PresentationFormat>On-screen Show (4:3)</PresentationFormat>
  <Paragraphs>463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Office Theme</vt:lpstr>
      <vt:lpstr>PowerPoint Presentation</vt:lpstr>
      <vt:lpstr>Hash Tables</vt:lpstr>
      <vt:lpstr>Example</vt:lpstr>
      <vt:lpstr>Another Example</vt:lpstr>
      <vt:lpstr>Hash Functions</vt:lpstr>
      <vt:lpstr>Sample Hash Functions:</vt:lpstr>
      <vt:lpstr>Collision Resolution</vt:lpstr>
      <vt:lpstr>Separate Chaining</vt:lpstr>
      <vt:lpstr>Analysis of find</vt:lpstr>
      <vt:lpstr>How big should the hash table be?</vt:lpstr>
      <vt:lpstr>tableSize: Why Prime?</vt:lpstr>
      <vt:lpstr>Open Addressing</vt:lpstr>
      <vt:lpstr>Terminology Alert!</vt:lpstr>
      <vt:lpstr>Linear Probing</vt:lpstr>
      <vt:lpstr>Linear Probing – Clustering </vt:lpstr>
      <vt:lpstr>Load Factor in Linear Probing</vt:lpstr>
      <vt:lpstr>Quadratic Probing</vt:lpstr>
      <vt:lpstr>Quadratic Probing</vt:lpstr>
      <vt:lpstr>Quadratic Probing Example</vt:lpstr>
      <vt:lpstr>Quadratic Probing: Properties</vt:lpstr>
      <vt:lpstr>Double Hashing</vt:lpstr>
      <vt:lpstr>Double Hashing Example</vt:lpstr>
      <vt:lpstr>Resolving Collisions with Double Hashing</vt:lpstr>
      <vt:lpstr>Dynamic Hashing </vt:lpstr>
      <vt:lpstr>Types of Dynamic Hashing </vt:lpstr>
      <vt:lpstr>Dynamic Hash Table with directories</vt:lpstr>
      <vt:lpstr>Hashing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</cp:revision>
  <dcterms:modified xsi:type="dcterms:W3CDTF">2025-09-16T06:38:35Z</dcterms:modified>
</cp:coreProperties>
</file>