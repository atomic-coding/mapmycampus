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6qPlcxhrrArqutfD/s+ZZW3RD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37"/>
          <p:cNvCxnSpPr/>
          <p:nvPr/>
        </p:nvCxnSpPr>
        <p:spPr>
          <a:xfrm>
            <a:off x="7315200" y="1066800"/>
            <a:ext cx="0" cy="449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" name="Google Shape;50;p37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51" name="Google Shape;51;p37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7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7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7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7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7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7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7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7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7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7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7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7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7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7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7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7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7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7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7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7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7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7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7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7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7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7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7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7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" name="Google Shape;82;p37"/>
          <p:cNvCxnSpPr/>
          <p:nvPr/>
        </p:nvCxnSpPr>
        <p:spPr>
          <a:xfrm>
            <a:off x="304800" y="28194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37"/>
          <p:cNvSpPr txBox="1"/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" type="subTitle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SzPts val="224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indent="-320039" lvl="4" marL="22860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indent="-320040" lvl="7" marL="36576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indent="-320040" lvl="8" marL="41148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1"/>
          <p:cNvSpPr txBox="1"/>
          <p:nvPr>
            <p:ph idx="1" type="body"/>
          </p:nvPr>
        </p:nvSpPr>
        <p:spPr>
          <a:xfrm>
            <a:off x="457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indent="-320039" lvl="4" marL="22860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indent="-320040" lvl="7" marL="36576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indent="-320040" lvl="8" marL="41148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/>
        </p:txBody>
      </p:sp>
      <p:sp>
        <p:nvSpPr>
          <p:cNvPr id="108" name="Google Shape;108;p41"/>
          <p:cNvSpPr txBox="1"/>
          <p:nvPr>
            <p:ph idx="2" type="body"/>
          </p:nvPr>
        </p:nvSpPr>
        <p:spPr>
          <a:xfrm>
            <a:off x="4648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indent="-320039" lvl="4" marL="22860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indent="-320040" lvl="7" marL="36576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indent="-320040" lvl="8" marL="41148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/>
        </p:txBody>
      </p:sp>
      <p:sp>
        <p:nvSpPr>
          <p:cNvPr id="109" name="Google Shape;109;p4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5" name="Google Shape;115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9879" lvl="4" marL="22860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indent="-309879" lvl="5" marL="27432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indent="-309879" lvl="6" marL="32004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indent="-309879" lvl="7" marL="36576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indent="-309879" lvl="8" marL="41148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/>
        </p:txBody>
      </p:sp>
      <p:sp>
        <p:nvSpPr>
          <p:cNvPr id="116" name="Google Shape;116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7" name="Google Shape;117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9879" lvl="4" marL="22860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indent="-309879" lvl="5" marL="27432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indent="-309879" lvl="6" marL="32004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indent="-309879" lvl="7" marL="36576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indent="-309879" lvl="8" marL="4114800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indent="-353060" lvl="1" marL="9144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/>
        </p:txBody>
      </p:sp>
      <p:sp>
        <p:nvSpPr>
          <p:cNvPr id="128" name="Google Shape;128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9" name="Google Shape;129;p4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4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6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6"/>
          <p:cNvSpPr txBox="1"/>
          <p:nvPr>
            <p:ph idx="1" type="body"/>
          </p:nvPr>
        </p:nvSpPr>
        <p:spPr>
          <a:xfrm rot="5400000">
            <a:off x="2366169" y="-189706"/>
            <a:ext cx="44116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indent="-320039" lvl="4" marL="22860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indent="-320040" lvl="7" marL="36576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indent="-320040" lvl="8" marL="41148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/>
        </p:txBody>
      </p:sp>
      <p:sp>
        <p:nvSpPr>
          <p:cNvPr id="142" name="Google Shape;142;p4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7"/>
          <p:cNvSpPr txBox="1"/>
          <p:nvPr>
            <p:ph type="title"/>
          </p:nvPr>
        </p:nvSpPr>
        <p:spPr>
          <a:xfrm rot="5400000">
            <a:off x="4653757" y="2097882"/>
            <a:ext cx="600868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7"/>
          <p:cNvSpPr txBox="1"/>
          <p:nvPr>
            <p:ph idx="1" type="body"/>
          </p:nvPr>
        </p:nvSpPr>
        <p:spPr>
          <a:xfrm rot="5400000">
            <a:off x="462756" y="116681"/>
            <a:ext cx="6008687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indent="-320039" lvl="4" marL="22860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indent="-320040" lvl="7" marL="36576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indent="-320040" lvl="8" marL="411480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/>
        </p:txBody>
      </p:sp>
      <p:sp>
        <p:nvSpPr>
          <p:cNvPr id="148" name="Google Shape;148;p4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6"/>
          <p:cNvCxnSpPr/>
          <p:nvPr/>
        </p:nvCxnSpPr>
        <p:spPr>
          <a:xfrm>
            <a:off x="7962900" y="1524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" name="Google Shape;11;p36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835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" name="Google Shape;16;p36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7" name="Google Shape;17;p36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5360" y="960"/>
              <a:ext cx="77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6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6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6"/>
            <p:cNvSpPr/>
            <p:nvPr/>
          </p:nvSpPr>
          <p:spPr>
            <a:xfrm>
              <a:off x="5360" y="1072"/>
              <a:ext cx="77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6"/>
            <p:cNvSpPr/>
            <p:nvPr/>
          </p:nvSpPr>
          <p:spPr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6"/>
            <p:cNvSpPr/>
            <p:nvPr/>
          </p:nvSpPr>
          <p:spPr>
            <a:xfrm>
              <a:off x="5136" y="1184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6"/>
            <p:cNvSpPr/>
            <p:nvPr/>
          </p:nvSpPr>
          <p:spPr>
            <a:xfrm>
              <a:off x="5248" y="1184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6"/>
            <p:cNvSpPr/>
            <p:nvPr/>
          </p:nvSpPr>
          <p:spPr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6"/>
            <p:cNvSpPr/>
            <p:nvPr/>
          </p:nvSpPr>
          <p:spPr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6"/>
            <p:cNvSpPr/>
            <p:nvPr/>
          </p:nvSpPr>
          <p:spPr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6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6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6"/>
            <p:cNvSpPr/>
            <p:nvPr/>
          </p:nvSpPr>
          <p:spPr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6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6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6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6"/>
            <p:cNvSpPr/>
            <p:nvPr/>
          </p:nvSpPr>
          <p:spPr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6"/>
            <p:cNvSpPr/>
            <p:nvPr/>
          </p:nvSpPr>
          <p:spPr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6"/>
            <p:cNvSpPr/>
            <p:nvPr/>
          </p:nvSpPr>
          <p:spPr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6"/>
            <p:cNvSpPr/>
            <p:nvPr/>
          </p:nvSpPr>
          <p:spPr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6"/>
            <p:cNvSpPr/>
            <p:nvPr/>
          </p:nvSpPr>
          <p:spPr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6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6"/>
            <p:cNvSpPr/>
            <p:nvPr/>
          </p:nvSpPr>
          <p:spPr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/>
              <a:t> Graph</a:t>
            </a:r>
            <a:endParaRPr b="1"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3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Graphs</a:t>
            </a:r>
            <a:endParaRPr/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●"/>
            </a:pPr>
            <a:r>
              <a:rPr lang="en-US" sz="2400"/>
              <a:t>Used to solve complex routing problems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US" sz="2400"/>
              <a:t>A graph </a:t>
            </a:r>
            <a:r>
              <a:rPr b="1" lang="en-US" sz="2400"/>
              <a:t>G(V,E)</a:t>
            </a:r>
            <a:r>
              <a:rPr lang="en-US" sz="2400"/>
              <a:t> is a collection of </a:t>
            </a:r>
            <a:r>
              <a:rPr i="1" lang="en-US" sz="2400"/>
              <a:t>vertices</a:t>
            </a:r>
            <a:r>
              <a:rPr lang="en-US" sz="2400"/>
              <a:t> (or nodes) and a collection of </a:t>
            </a:r>
            <a:r>
              <a:rPr i="1" lang="en-US" sz="2400"/>
              <a:t>edges</a:t>
            </a:r>
            <a:r>
              <a:rPr lang="en-US" sz="2400"/>
              <a:t> that connect pairs of vertices. 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US" sz="2400"/>
              <a:t>A graph may be </a:t>
            </a:r>
            <a:r>
              <a:rPr i="1" lang="en-US" sz="2400"/>
              <a:t>undirected</a:t>
            </a:r>
            <a:r>
              <a:rPr lang="en-US" sz="2400"/>
              <a:t>, meaning that there is no distinction between the two vertices associated with each edge, or its edges may be </a:t>
            </a:r>
            <a:r>
              <a:rPr i="1" lang="en-US" sz="2400"/>
              <a:t>directed</a:t>
            </a:r>
            <a:r>
              <a:rPr lang="en-US" sz="2400"/>
              <a:t> from one vertex to another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4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Graphs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457200" y="1447800"/>
            <a:ext cx="5638800" cy="25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Historical Background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1736, Euler solved the problem known as the </a:t>
            </a:r>
            <a:r>
              <a:rPr b="1"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Seven Bridges of Königsberg.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city of Königsberg, Prussia was set on the Pregel River, and included two large islands which were connected to each other and the mainland by seven bridges. </a:t>
            </a:r>
            <a:endParaRPr/>
          </a:p>
        </p:txBody>
      </p:sp>
      <p:pic>
        <p:nvPicPr>
          <p:cNvPr id="170" name="Google Shape;1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7600" y="762000"/>
            <a:ext cx="2946400" cy="31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457200" y="4113213"/>
            <a:ext cx="83820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problem is to decide whether it is possible to follow a path that crosses each bridge exactly once and returns to the starting point.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not: there is no Eulerian circuit. This solution is considered to be the first theorem of graph theory, specifically of planar graph theory.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33400" y="5638800"/>
            <a:ext cx="38862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Taken from Wikipedia on 9-Aug-2009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5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Graphs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533400" y="1524000"/>
            <a:ext cx="73152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Seven Bridges of Konigsberg</a:t>
            </a:r>
            <a:endParaRPr/>
          </a:p>
        </p:txBody>
      </p:sp>
      <p:pic>
        <p:nvPicPr>
          <p:cNvPr descr="Konigsberg_bridges.png"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05000"/>
            <a:ext cx="4114800" cy="2743200"/>
          </a:xfrm>
          <a:prstGeom prst="rect">
            <a:avLst/>
          </a:prstGeom>
          <a:noFill/>
          <a:ln cap="flat" cmpd="sng" w="9525">
            <a:solidFill>
              <a:srgbClr val="C0D6D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165px-Konigsburg_graph_svg.png"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1981200"/>
            <a:ext cx="2895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 txBox="1"/>
          <p:nvPr/>
        </p:nvSpPr>
        <p:spPr>
          <a:xfrm>
            <a:off x="685800" y="4800600"/>
            <a:ext cx="7620000" cy="175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Euler observed that a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necessary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condition for the existence of Eulerian circuits is that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vertices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graph have an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degree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that for an Eulerian path either all, or all but two (i.e., the two endpoint) vertices have an even degree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  this means the Königsberg graph is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Eulerian.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6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Graphs</a:t>
            </a:r>
            <a:endParaRPr/>
          </a:p>
        </p:txBody>
      </p:sp>
      <p:pic>
        <p:nvPicPr>
          <p:cNvPr descr="225px-Leonhard_Euler_2.jpg"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76400"/>
            <a:ext cx="19812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2209800" y="1697038"/>
            <a:ext cx="6705600" cy="2862262"/>
          </a:xfrm>
          <a:prstGeom prst="rect">
            <a:avLst/>
          </a:prstGeom>
          <a:noFill/>
          <a:ln cap="flat" cmpd="sng" w="9525">
            <a:solidFill>
              <a:srgbClr val="C0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Leonhard Paul Euler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(15 April 1707 – 18 September 1783)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Swiss mathematician, made important discoveries in fields as diverse as calculus and graph theory.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introduced much of the modern mathematical terminology and notation. Renowned for his work in mechanics, fluid dynamics, optics, and astronomy.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Euler is considered to be the preeminent mathematician of the 18th century and one of the greatest of all time. 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0" y="6096000"/>
            <a:ext cx="31242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Taken from Wikipedia on 9-Aug-2009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7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198" name="Google Shape;198;p7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Graph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 collection of nodes and line segments</a:t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Vertex (plural:vertices) 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 node in a graph</a:t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Edge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 line which connects two vertices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8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05" name="Google Shape;205;p8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Directed graph (or digraph)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Each edge has a direction</a:t>
            </a:r>
            <a:endParaRPr/>
          </a:p>
          <a:p>
            <a:pPr indent="-232093" lvl="1" marL="692150" rtl="0" algn="l">
              <a:spcBef>
                <a:spcPts val="52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Arc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edge in a directed graph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Directed Graph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981200" y="20574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90600" y="32766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553200" y="3429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657600" y="33528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5052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9906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2133600" y="2133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1143000" y="33528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810000" y="34290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143000" y="5410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657600" y="54102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705600" y="3505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224" name="Google Shape;224;p9"/>
          <p:cNvCxnSpPr/>
          <p:nvPr/>
        </p:nvCxnSpPr>
        <p:spPr>
          <a:xfrm flipH="1">
            <a:off x="1524000" y="2590800"/>
            <a:ext cx="5334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225" name="Google Shape;225;p9"/>
          <p:cNvCxnSpPr/>
          <p:nvPr/>
        </p:nvCxnSpPr>
        <p:spPr>
          <a:xfrm>
            <a:off x="4343400" y="3657600"/>
            <a:ext cx="2209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226" name="Google Shape;226;p9"/>
          <p:cNvCxnSpPr/>
          <p:nvPr/>
        </p:nvCxnSpPr>
        <p:spPr>
          <a:xfrm>
            <a:off x="1676400" y="3657600"/>
            <a:ext cx="198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227" name="Google Shape;227;p9"/>
          <p:cNvCxnSpPr/>
          <p:nvPr/>
        </p:nvCxnSpPr>
        <p:spPr>
          <a:xfrm flipH="1">
            <a:off x="1295400" y="3886200"/>
            <a:ext cx="76200" cy="144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228" name="Google Shape;228;p9"/>
          <p:cNvCxnSpPr/>
          <p:nvPr/>
        </p:nvCxnSpPr>
        <p:spPr>
          <a:xfrm flipH="1">
            <a:off x="3886200" y="3962400"/>
            <a:ext cx="76200" cy="137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229" name="Google Shape;229;p9"/>
          <p:cNvCxnSpPr/>
          <p:nvPr/>
        </p:nvCxnSpPr>
        <p:spPr>
          <a:xfrm flipH="1" rot="10800000">
            <a:off x="1600200" y="3886200"/>
            <a:ext cx="2133600" cy="152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230" name="Google Shape;230;p9"/>
          <p:cNvCxnSpPr/>
          <p:nvPr/>
        </p:nvCxnSpPr>
        <p:spPr>
          <a:xfrm flipH="1" rot="10800000">
            <a:off x="1676400" y="5638800"/>
            <a:ext cx="1828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31" name="Google Shape;231;p9"/>
          <p:cNvSpPr txBox="1"/>
          <p:nvPr/>
        </p:nvSpPr>
        <p:spPr>
          <a:xfrm>
            <a:off x="4648200" y="32004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2667000" y="21336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0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Undirected graph	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There is no direction on any graph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flow can go either direction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11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Undirected Graph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981200" y="20574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90600" y="32766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553200" y="3429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657600" y="33528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5052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906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2133600" y="2133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143000" y="33528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810000" y="34290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143000" y="5410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3657600" y="54102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705600" y="3505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258" name="Google Shape;258;p11"/>
          <p:cNvCxnSpPr/>
          <p:nvPr/>
        </p:nvCxnSpPr>
        <p:spPr>
          <a:xfrm flipH="1">
            <a:off x="1524000" y="2590800"/>
            <a:ext cx="5334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59" name="Google Shape;259;p11"/>
          <p:cNvCxnSpPr/>
          <p:nvPr/>
        </p:nvCxnSpPr>
        <p:spPr>
          <a:xfrm>
            <a:off x="4343400" y="3657600"/>
            <a:ext cx="2209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60" name="Google Shape;260;p11"/>
          <p:cNvCxnSpPr/>
          <p:nvPr/>
        </p:nvCxnSpPr>
        <p:spPr>
          <a:xfrm>
            <a:off x="1676400" y="3657600"/>
            <a:ext cx="198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61" name="Google Shape;261;p11"/>
          <p:cNvCxnSpPr/>
          <p:nvPr/>
        </p:nvCxnSpPr>
        <p:spPr>
          <a:xfrm flipH="1">
            <a:off x="1295400" y="3886200"/>
            <a:ext cx="76200" cy="144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62" name="Google Shape;262;p11"/>
          <p:cNvCxnSpPr/>
          <p:nvPr/>
        </p:nvCxnSpPr>
        <p:spPr>
          <a:xfrm flipH="1">
            <a:off x="3886200" y="3962400"/>
            <a:ext cx="76200" cy="137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63" name="Google Shape;263;p11"/>
          <p:cNvCxnSpPr/>
          <p:nvPr/>
        </p:nvCxnSpPr>
        <p:spPr>
          <a:xfrm flipH="1" rot="10800000">
            <a:off x="1600200" y="3886200"/>
            <a:ext cx="2133600" cy="152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64" name="Google Shape;264;p11"/>
          <p:cNvCxnSpPr/>
          <p:nvPr/>
        </p:nvCxnSpPr>
        <p:spPr>
          <a:xfrm flipH="1" rot="10800000">
            <a:off x="1676400" y="5638800"/>
            <a:ext cx="1828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sp>
        <p:nvSpPr>
          <p:cNvPr id="265" name="Google Shape;265;p11"/>
          <p:cNvSpPr txBox="1"/>
          <p:nvPr/>
        </p:nvSpPr>
        <p:spPr>
          <a:xfrm>
            <a:off x="4572000" y="32766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2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72" name="Google Shape;272;p12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Adjacent Vertices (neighbors)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Two vertices are said to be adjacent if there exists an edge which directly connects them</a:t>
            </a:r>
            <a:endParaRPr/>
          </a:p>
          <a:p>
            <a:pPr indent="-232093" lvl="1" marL="692150" rtl="0" algn="l">
              <a:spcBef>
                <a:spcPts val="52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Path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 collection of edges connecting certain nodes of the graph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13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</a:t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981200" y="20574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990600" y="32766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553200" y="3429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657600" y="33528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35052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9906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2133600" y="2133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1143000" y="33528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3810000" y="34290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143000" y="5410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3657600" y="54102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6705600" y="3505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291" name="Google Shape;291;p13"/>
          <p:cNvCxnSpPr/>
          <p:nvPr/>
        </p:nvCxnSpPr>
        <p:spPr>
          <a:xfrm flipH="1">
            <a:off x="1524000" y="2590800"/>
            <a:ext cx="533400" cy="68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92" name="Google Shape;292;p13"/>
          <p:cNvCxnSpPr/>
          <p:nvPr/>
        </p:nvCxnSpPr>
        <p:spPr>
          <a:xfrm>
            <a:off x="4343400" y="3657600"/>
            <a:ext cx="2209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93" name="Google Shape;293;p13"/>
          <p:cNvCxnSpPr/>
          <p:nvPr/>
        </p:nvCxnSpPr>
        <p:spPr>
          <a:xfrm>
            <a:off x="1676400" y="3657600"/>
            <a:ext cx="198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94" name="Google Shape;294;p13"/>
          <p:cNvCxnSpPr/>
          <p:nvPr/>
        </p:nvCxnSpPr>
        <p:spPr>
          <a:xfrm flipH="1">
            <a:off x="1295400" y="3886200"/>
            <a:ext cx="76200" cy="1447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95" name="Google Shape;295;p13"/>
          <p:cNvCxnSpPr/>
          <p:nvPr/>
        </p:nvCxnSpPr>
        <p:spPr>
          <a:xfrm flipH="1">
            <a:off x="3886200" y="3962400"/>
            <a:ext cx="76200" cy="137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96" name="Google Shape;296;p13"/>
          <p:cNvCxnSpPr/>
          <p:nvPr/>
        </p:nvCxnSpPr>
        <p:spPr>
          <a:xfrm flipH="1" rot="10800000">
            <a:off x="1600200" y="3886200"/>
            <a:ext cx="2133600" cy="152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 flipH="1" rot="10800000">
            <a:off x="1676400" y="5638800"/>
            <a:ext cx="1828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14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304" name="Google Shape;304;p14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Cycle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 path consisting of at least three vertices that starts and ends with the same vertex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Must follow the proper direction in a digraph</a:t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Loop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 special case of a cycle in which a single arc begins and ends with the same vertex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15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Cycles and Loops</a:t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1981200" y="20574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990600" y="32766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6553200" y="3429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657600" y="33528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35052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990600" y="5334000"/>
            <a:ext cx="685800" cy="609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2133600" y="2133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1143000" y="33528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3810000" y="34290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1143000" y="5410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3657600" y="54102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6705600" y="3505200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323" name="Google Shape;323;p15"/>
          <p:cNvCxnSpPr/>
          <p:nvPr/>
        </p:nvCxnSpPr>
        <p:spPr>
          <a:xfrm flipH="1">
            <a:off x="1524000" y="2590800"/>
            <a:ext cx="5334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324" name="Google Shape;324;p15"/>
          <p:cNvCxnSpPr/>
          <p:nvPr/>
        </p:nvCxnSpPr>
        <p:spPr>
          <a:xfrm>
            <a:off x="4343400" y="3657600"/>
            <a:ext cx="22098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325" name="Google Shape;325;p15"/>
          <p:cNvCxnSpPr/>
          <p:nvPr/>
        </p:nvCxnSpPr>
        <p:spPr>
          <a:xfrm>
            <a:off x="1676400" y="3657600"/>
            <a:ext cx="198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326" name="Google Shape;326;p15"/>
          <p:cNvCxnSpPr/>
          <p:nvPr/>
        </p:nvCxnSpPr>
        <p:spPr>
          <a:xfrm flipH="1">
            <a:off x="1295400" y="3886200"/>
            <a:ext cx="76200" cy="144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327" name="Google Shape;327;p15"/>
          <p:cNvCxnSpPr/>
          <p:nvPr/>
        </p:nvCxnSpPr>
        <p:spPr>
          <a:xfrm flipH="1">
            <a:off x="3886200" y="3962400"/>
            <a:ext cx="76200" cy="137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328" name="Google Shape;328;p15"/>
          <p:cNvCxnSpPr/>
          <p:nvPr/>
        </p:nvCxnSpPr>
        <p:spPr>
          <a:xfrm flipH="1" rot="10800000">
            <a:off x="1600200" y="3886200"/>
            <a:ext cx="2133600" cy="152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329" name="Google Shape;329;p15"/>
          <p:cNvCxnSpPr/>
          <p:nvPr/>
        </p:nvCxnSpPr>
        <p:spPr>
          <a:xfrm flipH="1">
            <a:off x="1600200" y="5638800"/>
            <a:ext cx="1905000" cy="7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330" name="Google Shape;330;p15"/>
          <p:cNvSpPr/>
          <p:nvPr/>
        </p:nvSpPr>
        <p:spPr>
          <a:xfrm>
            <a:off x="6934200" y="2933700"/>
            <a:ext cx="660400" cy="723900"/>
          </a:xfrm>
          <a:custGeom>
            <a:rect b="b" l="l" r="r" t="t"/>
            <a:pathLst>
              <a:path extrusionOk="0" h="456" w="416">
                <a:moveTo>
                  <a:pt x="0" y="312"/>
                </a:moveTo>
                <a:cubicBezTo>
                  <a:pt x="176" y="156"/>
                  <a:pt x="352" y="0"/>
                  <a:pt x="384" y="24"/>
                </a:cubicBezTo>
                <a:cubicBezTo>
                  <a:pt x="416" y="48"/>
                  <a:pt x="224" y="384"/>
                  <a:pt x="192" y="45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7239000" y="24384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3886200" y="44196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16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339" name="Google Shape;339;p16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20"/>
              <a:buChar char="●"/>
            </a:pPr>
            <a:r>
              <a:rPr b="1" lang="en-US" sz="2600"/>
              <a:t>Connectness</a:t>
            </a:r>
            <a:endParaRPr b="1" sz="2600"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US" sz="2200"/>
              <a:t>Two vertices are said to be </a:t>
            </a:r>
            <a:r>
              <a:rPr b="1" lang="en-US" sz="2200"/>
              <a:t>connected</a:t>
            </a:r>
            <a:r>
              <a:rPr lang="en-US" sz="2200"/>
              <a:t> if there is a path between them</a:t>
            </a:r>
            <a:endParaRPr/>
          </a:p>
          <a:p>
            <a:pPr indent="-249873" lvl="1" marL="692150" rtl="0" algn="l">
              <a:spcBef>
                <a:spcPts val="44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sz="2200"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US" sz="2200"/>
              <a:t>A Directed Graph is </a:t>
            </a:r>
            <a:r>
              <a:rPr b="1" i="1" lang="en-US" sz="2200"/>
              <a:t>strongly connected</a:t>
            </a:r>
            <a:r>
              <a:rPr lang="en-US" sz="2200"/>
              <a:t> if there is a path from every vertex to every other vertex in the digraph</a:t>
            </a:r>
            <a:endParaRPr/>
          </a:p>
          <a:p>
            <a:pPr indent="-249873" lvl="1" marL="692150" rtl="0" algn="l">
              <a:spcBef>
                <a:spcPts val="44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sz="2200"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US" sz="2200"/>
              <a:t>A Directed Graph is </a:t>
            </a:r>
            <a:r>
              <a:rPr b="1" i="1" lang="en-US" sz="2200"/>
              <a:t>weakly connected</a:t>
            </a:r>
            <a:r>
              <a:rPr lang="en-US" sz="2200"/>
              <a:t> when there are at least two vertices that are not connected</a:t>
            </a:r>
            <a:endParaRPr/>
          </a:p>
          <a:p>
            <a:pPr indent="-249873" lvl="1" marL="692150" rtl="0" algn="l">
              <a:spcBef>
                <a:spcPts val="44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sz="2200"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US" sz="2200"/>
              <a:t>A Graph is </a:t>
            </a:r>
            <a:r>
              <a:rPr b="1" i="1" lang="en-US" sz="2200"/>
              <a:t>disjoint</a:t>
            </a:r>
            <a:r>
              <a:rPr lang="en-US" sz="2200"/>
              <a:t> if it is not connected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7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Graphs</a:t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2362200" y="2133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2438400" y="2209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17526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18288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1752600" y="4191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1828800" y="426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29718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3048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28956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29718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3810000" y="35814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388620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4495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5638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5715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5715000" y="2971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5791200" y="3048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2590800" y="5715000"/>
            <a:ext cx="3505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Strongly Connected</a:t>
            </a:r>
            <a:endParaRPr/>
          </a:p>
        </p:txBody>
      </p:sp>
      <p:cxnSp>
        <p:nvCxnSpPr>
          <p:cNvPr id="365" name="Google Shape;365;p17"/>
          <p:cNvCxnSpPr/>
          <p:nvPr/>
        </p:nvCxnSpPr>
        <p:spPr>
          <a:xfrm flipH="1">
            <a:off x="2133600" y="2667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17"/>
          <p:cNvCxnSpPr/>
          <p:nvPr/>
        </p:nvCxnSpPr>
        <p:spPr>
          <a:xfrm>
            <a:off x="2057400" y="3657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17"/>
          <p:cNvCxnSpPr/>
          <p:nvPr/>
        </p:nvCxnSpPr>
        <p:spPr>
          <a:xfrm>
            <a:off x="2362200" y="4495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17"/>
          <p:cNvCxnSpPr/>
          <p:nvPr/>
        </p:nvCxnSpPr>
        <p:spPr>
          <a:xfrm rot="10800000">
            <a:off x="3200400" y="36576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17"/>
          <p:cNvCxnSpPr/>
          <p:nvPr/>
        </p:nvCxnSpPr>
        <p:spPr>
          <a:xfrm>
            <a:off x="2362200" y="3352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17"/>
          <p:cNvCxnSpPr/>
          <p:nvPr/>
        </p:nvCxnSpPr>
        <p:spPr>
          <a:xfrm flipH="1" rot="10800000">
            <a:off x="2209800" y="35814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17"/>
          <p:cNvCxnSpPr/>
          <p:nvPr/>
        </p:nvCxnSpPr>
        <p:spPr>
          <a:xfrm>
            <a:off x="3505200" y="35052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17"/>
          <p:cNvCxnSpPr/>
          <p:nvPr/>
        </p:nvCxnSpPr>
        <p:spPr>
          <a:xfrm>
            <a:off x="4343400" y="4114800"/>
            <a:ext cx="228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17"/>
          <p:cNvCxnSpPr/>
          <p:nvPr/>
        </p:nvCxnSpPr>
        <p:spPr>
          <a:xfrm>
            <a:off x="5105400" y="4572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17"/>
          <p:cNvCxnSpPr/>
          <p:nvPr/>
        </p:nvCxnSpPr>
        <p:spPr>
          <a:xfrm rot="10800000">
            <a:off x="6019800" y="35814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17"/>
          <p:cNvCxnSpPr/>
          <p:nvPr/>
        </p:nvCxnSpPr>
        <p:spPr>
          <a:xfrm rot="10800000">
            <a:off x="2971800" y="2438400"/>
            <a:ext cx="2819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Graphs</a:t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2362200" y="2133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2438400" y="2209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384" name="Google Shape;384;p18"/>
          <p:cNvSpPr/>
          <p:nvPr/>
        </p:nvSpPr>
        <p:spPr>
          <a:xfrm>
            <a:off x="17526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18288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1752600" y="4191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1828800" y="426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29718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3048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28956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29718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>
            <a:off x="3810000" y="35814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8"/>
          <p:cNvSpPr txBox="1"/>
          <p:nvPr/>
        </p:nvSpPr>
        <p:spPr>
          <a:xfrm>
            <a:off x="388620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394" name="Google Shape;394;p18"/>
          <p:cNvSpPr/>
          <p:nvPr/>
        </p:nvSpPr>
        <p:spPr>
          <a:xfrm>
            <a:off x="4495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5638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5715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5715000" y="2971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5791200" y="3048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endParaRPr/>
          </a:p>
        </p:txBody>
      </p:sp>
      <p:sp>
        <p:nvSpPr>
          <p:cNvPr id="400" name="Google Shape;400;p18"/>
          <p:cNvSpPr txBox="1"/>
          <p:nvPr/>
        </p:nvSpPr>
        <p:spPr>
          <a:xfrm>
            <a:off x="2590800" y="5715000"/>
            <a:ext cx="3505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Weakly Connected</a:t>
            </a:r>
            <a:endParaRPr/>
          </a:p>
        </p:txBody>
      </p:sp>
      <p:cxnSp>
        <p:nvCxnSpPr>
          <p:cNvPr id="401" name="Google Shape;401;p18"/>
          <p:cNvCxnSpPr/>
          <p:nvPr/>
        </p:nvCxnSpPr>
        <p:spPr>
          <a:xfrm flipH="1">
            <a:off x="2133600" y="2667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18"/>
          <p:cNvCxnSpPr/>
          <p:nvPr/>
        </p:nvCxnSpPr>
        <p:spPr>
          <a:xfrm>
            <a:off x="2057400" y="3657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18"/>
          <p:cNvCxnSpPr/>
          <p:nvPr/>
        </p:nvCxnSpPr>
        <p:spPr>
          <a:xfrm>
            <a:off x="2362200" y="4495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18"/>
          <p:cNvCxnSpPr/>
          <p:nvPr/>
        </p:nvCxnSpPr>
        <p:spPr>
          <a:xfrm rot="10800000">
            <a:off x="3200400" y="36576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18"/>
          <p:cNvCxnSpPr/>
          <p:nvPr/>
        </p:nvCxnSpPr>
        <p:spPr>
          <a:xfrm>
            <a:off x="2362200" y="3352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18"/>
          <p:cNvCxnSpPr/>
          <p:nvPr/>
        </p:nvCxnSpPr>
        <p:spPr>
          <a:xfrm flipH="1" rot="10800000">
            <a:off x="2209800" y="35814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18"/>
          <p:cNvCxnSpPr/>
          <p:nvPr/>
        </p:nvCxnSpPr>
        <p:spPr>
          <a:xfrm>
            <a:off x="3505200" y="35052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18"/>
          <p:cNvCxnSpPr/>
          <p:nvPr/>
        </p:nvCxnSpPr>
        <p:spPr>
          <a:xfrm>
            <a:off x="4343400" y="4114800"/>
            <a:ext cx="228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18"/>
          <p:cNvCxnSpPr/>
          <p:nvPr/>
        </p:nvCxnSpPr>
        <p:spPr>
          <a:xfrm>
            <a:off x="5105400" y="4572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18"/>
          <p:cNvCxnSpPr/>
          <p:nvPr/>
        </p:nvCxnSpPr>
        <p:spPr>
          <a:xfrm rot="10800000">
            <a:off x="6019800" y="35814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19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Graphs</a:t>
            </a:r>
            <a:endParaRPr/>
          </a:p>
        </p:txBody>
      </p:sp>
      <p:sp>
        <p:nvSpPr>
          <p:cNvPr id="417" name="Google Shape;417;p19"/>
          <p:cNvSpPr/>
          <p:nvPr/>
        </p:nvSpPr>
        <p:spPr>
          <a:xfrm>
            <a:off x="2362200" y="2133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 txBox="1"/>
          <p:nvPr/>
        </p:nvSpPr>
        <p:spPr>
          <a:xfrm>
            <a:off x="2438400" y="2209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17526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 txBox="1"/>
          <p:nvPr/>
        </p:nvSpPr>
        <p:spPr>
          <a:xfrm>
            <a:off x="18288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1752600" y="4191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1828800" y="426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29718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9"/>
          <p:cNvSpPr txBox="1"/>
          <p:nvPr/>
        </p:nvSpPr>
        <p:spPr>
          <a:xfrm>
            <a:off x="3048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28956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29718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3810000" y="35814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"/>
          <p:cNvSpPr txBox="1"/>
          <p:nvPr/>
        </p:nvSpPr>
        <p:spPr>
          <a:xfrm>
            <a:off x="388620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4495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 txBox="1"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5638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 txBox="1"/>
          <p:nvPr/>
        </p:nvSpPr>
        <p:spPr>
          <a:xfrm>
            <a:off x="5715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5715000" y="2971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5791200" y="3048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3581400" y="5715000"/>
            <a:ext cx="1600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Disjoint</a:t>
            </a:r>
            <a:endParaRPr/>
          </a:p>
        </p:txBody>
      </p:sp>
      <p:cxnSp>
        <p:nvCxnSpPr>
          <p:cNvPr id="436" name="Google Shape;436;p19"/>
          <p:cNvCxnSpPr/>
          <p:nvPr/>
        </p:nvCxnSpPr>
        <p:spPr>
          <a:xfrm flipH="1">
            <a:off x="2133600" y="2667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19"/>
          <p:cNvCxnSpPr/>
          <p:nvPr/>
        </p:nvCxnSpPr>
        <p:spPr>
          <a:xfrm>
            <a:off x="2057400" y="3657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19"/>
          <p:cNvCxnSpPr/>
          <p:nvPr/>
        </p:nvCxnSpPr>
        <p:spPr>
          <a:xfrm>
            <a:off x="2362200" y="4495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19"/>
          <p:cNvCxnSpPr/>
          <p:nvPr/>
        </p:nvCxnSpPr>
        <p:spPr>
          <a:xfrm rot="10800000">
            <a:off x="3200400" y="36576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19"/>
          <p:cNvCxnSpPr/>
          <p:nvPr/>
        </p:nvCxnSpPr>
        <p:spPr>
          <a:xfrm>
            <a:off x="2362200" y="3352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19"/>
          <p:cNvCxnSpPr/>
          <p:nvPr/>
        </p:nvCxnSpPr>
        <p:spPr>
          <a:xfrm flipH="1" rot="10800000">
            <a:off x="2209800" y="35814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19"/>
          <p:cNvCxnSpPr/>
          <p:nvPr/>
        </p:nvCxnSpPr>
        <p:spPr>
          <a:xfrm>
            <a:off x="3505200" y="35052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19"/>
          <p:cNvCxnSpPr/>
          <p:nvPr/>
        </p:nvCxnSpPr>
        <p:spPr>
          <a:xfrm>
            <a:off x="5105400" y="4572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19"/>
          <p:cNvCxnSpPr/>
          <p:nvPr/>
        </p:nvCxnSpPr>
        <p:spPr>
          <a:xfrm rot="10800000">
            <a:off x="6019800" y="35814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0" name="Google Shape;450;p20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451" name="Google Shape;451;p20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lang="en-US"/>
              <a:t>Degree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</a:t>
            </a:r>
            <a:r>
              <a:rPr b="1" lang="en-US"/>
              <a:t>degree</a:t>
            </a:r>
            <a:r>
              <a:rPr lang="en-US"/>
              <a:t> of a vertex is the number of edges incident to it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</a:t>
            </a:r>
            <a:r>
              <a:rPr b="1" lang="en-US"/>
              <a:t>outdegree</a:t>
            </a:r>
            <a:r>
              <a:rPr lang="en-US"/>
              <a:t> of a vertex in a digraph is the number of arcs leaving the vertex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</a:t>
            </a:r>
            <a:r>
              <a:rPr b="1" lang="en-US"/>
              <a:t>indegree</a:t>
            </a:r>
            <a:r>
              <a:rPr lang="en-US"/>
              <a:t> of a vertex in a digraph is the number of arcs entering the vertex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21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</a:t>
            </a: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2362200" y="2133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2438400" y="2209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17526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18288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1752600" y="4191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1828800" y="426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29718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3048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28956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29718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3810000" y="35814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388620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4495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5638800" y="4267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5715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715000" y="2971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5791200" y="3048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endParaRPr/>
          </a:p>
        </p:txBody>
      </p:sp>
      <p:cxnSp>
        <p:nvCxnSpPr>
          <p:cNvPr id="476" name="Google Shape;476;p21"/>
          <p:cNvCxnSpPr/>
          <p:nvPr/>
        </p:nvCxnSpPr>
        <p:spPr>
          <a:xfrm flipH="1">
            <a:off x="2133600" y="2667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21"/>
          <p:cNvCxnSpPr/>
          <p:nvPr/>
        </p:nvCxnSpPr>
        <p:spPr>
          <a:xfrm>
            <a:off x="2057400" y="3657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21"/>
          <p:cNvCxnSpPr/>
          <p:nvPr/>
        </p:nvCxnSpPr>
        <p:spPr>
          <a:xfrm>
            <a:off x="2362200" y="4495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21"/>
          <p:cNvCxnSpPr/>
          <p:nvPr/>
        </p:nvCxnSpPr>
        <p:spPr>
          <a:xfrm rot="10800000">
            <a:off x="3200400" y="36576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21"/>
          <p:cNvCxnSpPr/>
          <p:nvPr/>
        </p:nvCxnSpPr>
        <p:spPr>
          <a:xfrm>
            <a:off x="2362200" y="3352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21"/>
          <p:cNvCxnSpPr/>
          <p:nvPr/>
        </p:nvCxnSpPr>
        <p:spPr>
          <a:xfrm flipH="1" rot="10800000">
            <a:off x="2209800" y="35814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21"/>
          <p:cNvCxnSpPr/>
          <p:nvPr/>
        </p:nvCxnSpPr>
        <p:spPr>
          <a:xfrm>
            <a:off x="3505200" y="35052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21"/>
          <p:cNvCxnSpPr/>
          <p:nvPr/>
        </p:nvCxnSpPr>
        <p:spPr>
          <a:xfrm>
            <a:off x="4343400" y="4114800"/>
            <a:ext cx="228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21"/>
          <p:cNvCxnSpPr/>
          <p:nvPr/>
        </p:nvCxnSpPr>
        <p:spPr>
          <a:xfrm>
            <a:off x="5105400" y="4572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21"/>
          <p:cNvCxnSpPr/>
          <p:nvPr/>
        </p:nvCxnSpPr>
        <p:spPr>
          <a:xfrm rot="10800000">
            <a:off x="6019800" y="35814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6" name="Google Shape;486;p21"/>
          <p:cNvSpPr txBox="1"/>
          <p:nvPr/>
        </p:nvSpPr>
        <p:spPr>
          <a:xfrm>
            <a:off x="762000" y="5257800"/>
            <a:ext cx="77724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vertex B is three, of vertex E is 4. The indegree of vertex B is one, and the outdegree is two.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22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 Storage Structures</a:t>
            </a:r>
            <a:endParaRPr/>
          </a:p>
        </p:txBody>
      </p:sp>
      <p:sp>
        <p:nvSpPr>
          <p:cNvPr id="493" name="Google Shape;493;p22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We need two storage structures to represent a graph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first set holds the vertices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The second holds the edges</a:t>
            </a:r>
            <a:endParaRPr/>
          </a:p>
          <a:p>
            <a:pPr indent="-232093" lvl="1" marL="692150" rtl="0" algn="l">
              <a:spcBef>
                <a:spcPts val="52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Use arrays and linked lists</a:t>
            </a:r>
            <a:endParaRPr/>
          </a:p>
          <a:p>
            <a:pPr indent="-347663" lvl="1" marL="692150" rtl="0" algn="l">
              <a:spcBef>
                <a:spcPts val="52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Disadvantage: the number of vertices must be known in advance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9" name="Google Shape;499;p23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 Storage Structures</a:t>
            </a:r>
            <a:endParaRPr/>
          </a:p>
        </p:txBody>
      </p:sp>
      <p:pic>
        <p:nvPicPr>
          <p:cNvPr id="500" name="Google Shape;500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4724400" cy="4905375"/>
          </a:xfrm>
          <a:prstGeom prst="rect">
            <a:avLst/>
          </a:prstGeom>
          <a:noFill/>
          <a:ln cap="flat" cmpd="sng" w="9525">
            <a:solidFill>
              <a:srgbClr val="99BBB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1" name="Google Shape;5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1828800"/>
            <a:ext cx="1562100" cy="2354263"/>
          </a:xfrm>
          <a:prstGeom prst="rect">
            <a:avLst/>
          </a:prstGeom>
          <a:noFill/>
          <a:ln cap="flat" cmpd="sng" w="9525">
            <a:solidFill>
              <a:srgbClr val="99BBBB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7" name="Google Shape;507;p24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 Matrix</a:t>
            </a:r>
            <a:endParaRPr/>
          </a:p>
        </p:txBody>
      </p:sp>
      <p:sp>
        <p:nvSpPr>
          <p:cNvPr id="508" name="Google Shape;508;p24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The adjacency matrix uses a vector (one dimensional array) for the vertices and a matrix (two dimensional array for the edges</a:t>
            </a:r>
            <a:endParaRPr/>
          </a:p>
          <a:p>
            <a:pPr indent="-209550" lvl="0" marL="342900" rtl="0" algn="l">
              <a:spcBef>
                <a:spcPts val="6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If two vertices are adjacent (there is an edge between them) the matrix insect has a value of 1, otherwise, it is zero.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25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 Matrix</a:t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838200" y="1600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914400" y="167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228600" y="2514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5"/>
          <p:cNvSpPr txBox="1"/>
          <p:nvPr/>
        </p:nvSpPr>
        <p:spPr>
          <a:xfrm>
            <a:off x="304800" y="259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228600" y="3657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3048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1447800" y="2514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5"/>
          <p:cNvSpPr txBox="1"/>
          <p:nvPr/>
        </p:nvSpPr>
        <p:spPr>
          <a:xfrm>
            <a:off x="1524000" y="259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1371600" y="3733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5"/>
          <p:cNvSpPr txBox="1"/>
          <p:nvPr/>
        </p:nvSpPr>
        <p:spPr>
          <a:xfrm>
            <a:off x="1447800" y="3810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525" name="Google Shape;525;p25"/>
          <p:cNvSpPr/>
          <p:nvPr/>
        </p:nvSpPr>
        <p:spPr>
          <a:xfrm>
            <a:off x="22860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5"/>
          <p:cNvSpPr txBox="1"/>
          <p:nvPr/>
        </p:nvSpPr>
        <p:spPr>
          <a:xfrm>
            <a:off x="23622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527" name="Google Shape;527;p25"/>
          <p:cNvCxnSpPr/>
          <p:nvPr/>
        </p:nvCxnSpPr>
        <p:spPr>
          <a:xfrm flipH="1">
            <a:off x="609600" y="21336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5"/>
          <p:cNvCxnSpPr/>
          <p:nvPr/>
        </p:nvCxnSpPr>
        <p:spPr>
          <a:xfrm>
            <a:off x="533400" y="31242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25"/>
          <p:cNvCxnSpPr/>
          <p:nvPr/>
        </p:nvCxnSpPr>
        <p:spPr>
          <a:xfrm>
            <a:off x="838200" y="39624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25"/>
          <p:cNvCxnSpPr/>
          <p:nvPr/>
        </p:nvCxnSpPr>
        <p:spPr>
          <a:xfrm rot="10800000">
            <a:off x="1676400" y="31242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25"/>
          <p:cNvCxnSpPr/>
          <p:nvPr/>
        </p:nvCxnSpPr>
        <p:spPr>
          <a:xfrm>
            <a:off x="838200" y="28194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25"/>
          <p:cNvCxnSpPr/>
          <p:nvPr/>
        </p:nvCxnSpPr>
        <p:spPr>
          <a:xfrm flipH="1" rot="10800000">
            <a:off x="685800" y="30480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25"/>
          <p:cNvCxnSpPr/>
          <p:nvPr/>
        </p:nvCxnSpPr>
        <p:spPr>
          <a:xfrm>
            <a:off x="1981200" y="29718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25"/>
          <p:cNvSpPr/>
          <p:nvPr/>
        </p:nvSpPr>
        <p:spPr>
          <a:xfrm>
            <a:off x="3429000" y="1828800"/>
            <a:ext cx="914400" cy="236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5"/>
          <p:cNvSpPr txBox="1"/>
          <p:nvPr/>
        </p:nvSpPr>
        <p:spPr>
          <a:xfrm>
            <a:off x="3505200" y="1828800"/>
            <a:ext cx="7620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36" name="Google Shape;536;p25"/>
          <p:cNvCxnSpPr/>
          <p:nvPr/>
        </p:nvCxnSpPr>
        <p:spPr>
          <a:xfrm>
            <a:off x="3429000" y="2209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25"/>
          <p:cNvCxnSpPr/>
          <p:nvPr/>
        </p:nvCxnSpPr>
        <p:spPr>
          <a:xfrm>
            <a:off x="3429000" y="2590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25"/>
          <p:cNvCxnSpPr/>
          <p:nvPr/>
        </p:nvCxnSpPr>
        <p:spPr>
          <a:xfrm>
            <a:off x="3429000" y="2971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25"/>
          <p:cNvCxnSpPr/>
          <p:nvPr/>
        </p:nvCxnSpPr>
        <p:spPr>
          <a:xfrm>
            <a:off x="3429000" y="3352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25"/>
          <p:cNvCxnSpPr/>
          <p:nvPr/>
        </p:nvCxnSpPr>
        <p:spPr>
          <a:xfrm>
            <a:off x="3429000" y="3733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25"/>
          <p:cNvSpPr txBox="1"/>
          <p:nvPr/>
        </p:nvSpPr>
        <p:spPr>
          <a:xfrm>
            <a:off x="1752600" y="5943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 for non-directed graph</a:t>
            </a:r>
            <a:endParaRPr/>
          </a:p>
        </p:txBody>
      </p:sp>
      <p:sp>
        <p:nvSpPr>
          <p:cNvPr id="542" name="Google Shape;542;p25"/>
          <p:cNvSpPr/>
          <p:nvPr/>
        </p:nvSpPr>
        <p:spPr>
          <a:xfrm>
            <a:off x="4953000" y="1828800"/>
            <a:ext cx="2743200" cy="243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5"/>
          <p:cNvSpPr txBox="1"/>
          <p:nvPr/>
        </p:nvSpPr>
        <p:spPr>
          <a:xfrm>
            <a:off x="4953000" y="1828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0   1   0   0   0   0 </a:t>
            </a:r>
            <a:endParaRPr/>
          </a:p>
        </p:txBody>
      </p:sp>
      <p:sp>
        <p:nvSpPr>
          <p:cNvPr id="544" name="Google Shape;544;p25"/>
          <p:cNvSpPr txBox="1"/>
          <p:nvPr/>
        </p:nvSpPr>
        <p:spPr>
          <a:xfrm>
            <a:off x="4953000" y="2133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1   0   1   0   1   0 </a:t>
            </a:r>
            <a:endParaRPr/>
          </a:p>
        </p:txBody>
      </p:sp>
      <p:sp>
        <p:nvSpPr>
          <p:cNvPr id="545" name="Google Shape;545;p25"/>
          <p:cNvSpPr txBox="1"/>
          <p:nvPr/>
        </p:nvSpPr>
        <p:spPr>
          <a:xfrm>
            <a:off x="4953000" y="2514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0   1   0   1   1   0 </a:t>
            </a:r>
            <a:endParaRPr/>
          </a:p>
        </p:txBody>
      </p:sp>
      <p:sp>
        <p:nvSpPr>
          <p:cNvPr id="546" name="Google Shape;546;p25"/>
          <p:cNvSpPr txBox="1"/>
          <p:nvPr/>
        </p:nvSpPr>
        <p:spPr>
          <a:xfrm>
            <a:off x="4953000" y="2819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0   0   1   0   1   0 </a:t>
            </a:r>
            <a:endParaRPr/>
          </a:p>
        </p:txBody>
      </p:sp>
      <p:sp>
        <p:nvSpPr>
          <p:cNvPr id="547" name="Google Shape;547;p25"/>
          <p:cNvSpPr txBox="1"/>
          <p:nvPr/>
        </p:nvSpPr>
        <p:spPr>
          <a:xfrm>
            <a:off x="4953000" y="3200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0   1   1   1   0   1 </a:t>
            </a:r>
            <a:endParaRPr/>
          </a:p>
        </p:txBody>
      </p:sp>
      <p:sp>
        <p:nvSpPr>
          <p:cNvPr id="548" name="Google Shape;548;p25"/>
          <p:cNvSpPr txBox="1"/>
          <p:nvPr/>
        </p:nvSpPr>
        <p:spPr>
          <a:xfrm>
            <a:off x="4953000" y="3581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0   0   0   0   1   0 </a:t>
            </a:r>
            <a:endParaRPr/>
          </a:p>
        </p:txBody>
      </p:sp>
      <p:cxnSp>
        <p:nvCxnSpPr>
          <p:cNvPr id="549" name="Google Shape;549;p25"/>
          <p:cNvCxnSpPr/>
          <p:nvPr/>
        </p:nvCxnSpPr>
        <p:spPr>
          <a:xfrm>
            <a:off x="53340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5"/>
          <p:cNvCxnSpPr/>
          <p:nvPr/>
        </p:nvCxnSpPr>
        <p:spPr>
          <a:xfrm>
            <a:off x="57912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25"/>
          <p:cNvCxnSpPr/>
          <p:nvPr/>
        </p:nvCxnSpPr>
        <p:spPr>
          <a:xfrm>
            <a:off x="61722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25"/>
          <p:cNvCxnSpPr/>
          <p:nvPr/>
        </p:nvCxnSpPr>
        <p:spPr>
          <a:xfrm>
            <a:off x="66294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25"/>
          <p:cNvCxnSpPr/>
          <p:nvPr/>
        </p:nvCxnSpPr>
        <p:spPr>
          <a:xfrm>
            <a:off x="70866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25"/>
          <p:cNvCxnSpPr/>
          <p:nvPr/>
        </p:nvCxnSpPr>
        <p:spPr>
          <a:xfrm>
            <a:off x="4953000" y="22098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25"/>
          <p:cNvCxnSpPr/>
          <p:nvPr/>
        </p:nvCxnSpPr>
        <p:spPr>
          <a:xfrm>
            <a:off x="4953000" y="25908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25"/>
          <p:cNvCxnSpPr/>
          <p:nvPr/>
        </p:nvCxnSpPr>
        <p:spPr>
          <a:xfrm>
            <a:off x="4953000" y="28956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25"/>
          <p:cNvCxnSpPr/>
          <p:nvPr/>
        </p:nvCxnSpPr>
        <p:spPr>
          <a:xfrm>
            <a:off x="4953000" y="32766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25"/>
          <p:cNvCxnSpPr/>
          <p:nvPr/>
        </p:nvCxnSpPr>
        <p:spPr>
          <a:xfrm>
            <a:off x="4953000" y="36576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25"/>
          <p:cNvSpPr txBox="1"/>
          <p:nvPr/>
        </p:nvSpPr>
        <p:spPr>
          <a:xfrm>
            <a:off x="3200400" y="4343400"/>
            <a:ext cx="1143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Vector</a:t>
            </a:r>
            <a:endParaRPr/>
          </a:p>
        </p:txBody>
      </p:sp>
      <p:sp>
        <p:nvSpPr>
          <p:cNvPr id="560" name="Google Shape;560;p25"/>
          <p:cNvSpPr txBox="1"/>
          <p:nvPr/>
        </p:nvSpPr>
        <p:spPr>
          <a:xfrm>
            <a:off x="5029200" y="4648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/>
          </a:p>
        </p:txBody>
      </p:sp>
      <p:sp>
        <p:nvSpPr>
          <p:cNvPr id="561" name="Google Shape;561;p25"/>
          <p:cNvSpPr txBox="1"/>
          <p:nvPr/>
        </p:nvSpPr>
        <p:spPr>
          <a:xfrm>
            <a:off x="4953000" y="14478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 B   C  D  E   F</a:t>
            </a:r>
            <a:endParaRPr/>
          </a:p>
        </p:txBody>
      </p:sp>
      <p:sp>
        <p:nvSpPr>
          <p:cNvPr id="562" name="Google Shape;562;p25"/>
          <p:cNvSpPr txBox="1"/>
          <p:nvPr/>
        </p:nvSpPr>
        <p:spPr>
          <a:xfrm>
            <a:off x="4572000" y="1828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63" name="Google Shape;563;p25"/>
          <p:cNvSpPr txBox="1"/>
          <p:nvPr/>
        </p:nvSpPr>
        <p:spPr>
          <a:xfrm>
            <a:off x="4572000" y="2209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64" name="Google Shape;564;p25"/>
          <p:cNvSpPr txBox="1"/>
          <p:nvPr/>
        </p:nvSpPr>
        <p:spPr>
          <a:xfrm>
            <a:off x="4572000" y="25146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565" name="Google Shape;565;p25"/>
          <p:cNvSpPr txBox="1"/>
          <p:nvPr/>
        </p:nvSpPr>
        <p:spPr>
          <a:xfrm>
            <a:off x="4572000" y="2819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66" name="Google Shape;566;p25"/>
          <p:cNvSpPr txBox="1"/>
          <p:nvPr/>
        </p:nvSpPr>
        <p:spPr>
          <a:xfrm>
            <a:off x="4572000" y="32004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567" name="Google Shape;567;p25"/>
          <p:cNvSpPr txBox="1"/>
          <p:nvPr/>
        </p:nvSpPr>
        <p:spPr>
          <a:xfrm>
            <a:off x="4572000" y="3733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" name="Google Shape;573;p26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 Matrix</a:t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>
            <a:off x="838200" y="1600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6"/>
          <p:cNvSpPr txBox="1"/>
          <p:nvPr/>
        </p:nvSpPr>
        <p:spPr>
          <a:xfrm>
            <a:off x="914400" y="167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228600" y="2514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304800" y="259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228600" y="3657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3048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580" name="Google Shape;580;p26"/>
          <p:cNvSpPr/>
          <p:nvPr/>
        </p:nvSpPr>
        <p:spPr>
          <a:xfrm>
            <a:off x="1447800" y="2514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1524000" y="259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582" name="Google Shape;582;p26"/>
          <p:cNvSpPr/>
          <p:nvPr/>
        </p:nvSpPr>
        <p:spPr>
          <a:xfrm>
            <a:off x="1371600" y="3733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6"/>
          <p:cNvSpPr txBox="1"/>
          <p:nvPr/>
        </p:nvSpPr>
        <p:spPr>
          <a:xfrm>
            <a:off x="1447800" y="3810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22860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23622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586" name="Google Shape;586;p26"/>
          <p:cNvCxnSpPr/>
          <p:nvPr/>
        </p:nvCxnSpPr>
        <p:spPr>
          <a:xfrm flipH="1">
            <a:off x="609600" y="2133600"/>
            <a:ext cx="3810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7" name="Google Shape;587;p26"/>
          <p:cNvCxnSpPr/>
          <p:nvPr/>
        </p:nvCxnSpPr>
        <p:spPr>
          <a:xfrm>
            <a:off x="533400" y="3124200"/>
            <a:ext cx="0" cy="53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8" name="Google Shape;588;p26"/>
          <p:cNvCxnSpPr/>
          <p:nvPr/>
        </p:nvCxnSpPr>
        <p:spPr>
          <a:xfrm>
            <a:off x="838200" y="3962400"/>
            <a:ext cx="533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9" name="Google Shape;589;p26"/>
          <p:cNvCxnSpPr/>
          <p:nvPr/>
        </p:nvCxnSpPr>
        <p:spPr>
          <a:xfrm>
            <a:off x="1676400" y="31242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0" name="Google Shape;590;p26"/>
          <p:cNvCxnSpPr/>
          <p:nvPr/>
        </p:nvCxnSpPr>
        <p:spPr>
          <a:xfrm>
            <a:off x="838200" y="2819400"/>
            <a:ext cx="609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1" name="Google Shape;591;p26"/>
          <p:cNvCxnSpPr/>
          <p:nvPr/>
        </p:nvCxnSpPr>
        <p:spPr>
          <a:xfrm flipH="1" rot="10800000">
            <a:off x="685800" y="3048000"/>
            <a:ext cx="838200" cy="685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2" name="Google Shape;592;p26"/>
          <p:cNvCxnSpPr/>
          <p:nvPr/>
        </p:nvCxnSpPr>
        <p:spPr>
          <a:xfrm>
            <a:off x="1981200" y="2971800"/>
            <a:ext cx="381000" cy="15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3" name="Google Shape;593;p26"/>
          <p:cNvSpPr/>
          <p:nvPr/>
        </p:nvSpPr>
        <p:spPr>
          <a:xfrm>
            <a:off x="3429000" y="1828800"/>
            <a:ext cx="914400" cy="236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6"/>
          <p:cNvSpPr txBox="1"/>
          <p:nvPr/>
        </p:nvSpPr>
        <p:spPr>
          <a:xfrm>
            <a:off x="3505200" y="1828800"/>
            <a:ext cx="7620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95" name="Google Shape;595;p26"/>
          <p:cNvCxnSpPr/>
          <p:nvPr/>
        </p:nvCxnSpPr>
        <p:spPr>
          <a:xfrm>
            <a:off x="3429000" y="2209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26"/>
          <p:cNvCxnSpPr/>
          <p:nvPr/>
        </p:nvCxnSpPr>
        <p:spPr>
          <a:xfrm>
            <a:off x="3429000" y="2590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26"/>
          <p:cNvCxnSpPr/>
          <p:nvPr/>
        </p:nvCxnSpPr>
        <p:spPr>
          <a:xfrm>
            <a:off x="3429000" y="2971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26"/>
          <p:cNvCxnSpPr/>
          <p:nvPr/>
        </p:nvCxnSpPr>
        <p:spPr>
          <a:xfrm>
            <a:off x="3429000" y="3352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26"/>
          <p:cNvCxnSpPr/>
          <p:nvPr/>
        </p:nvCxnSpPr>
        <p:spPr>
          <a:xfrm>
            <a:off x="3429000" y="37338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26"/>
          <p:cNvSpPr txBox="1"/>
          <p:nvPr/>
        </p:nvSpPr>
        <p:spPr>
          <a:xfrm>
            <a:off x="1752600" y="5943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 for directed graph</a:t>
            </a:r>
            <a:endParaRPr/>
          </a:p>
        </p:txBody>
      </p:sp>
      <p:sp>
        <p:nvSpPr>
          <p:cNvPr id="601" name="Google Shape;601;p26"/>
          <p:cNvSpPr/>
          <p:nvPr/>
        </p:nvSpPr>
        <p:spPr>
          <a:xfrm>
            <a:off x="4953000" y="1828800"/>
            <a:ext cx="2743200" cy="243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6"/>
          <p:cNvSpPr txBox="1"/>
          <p:nvPr/>
        </p:nvSpPr>
        <p:spPr>
          <a:xfrm>
            <a:off x="4953000" y="1752600"/>
            <a:ext cx="274320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0   0   0   0 </a:t>
            </a:r>
            <a:endParaRPr/>
          </a:p>
        </p:txBody>
      </p:sp>
      <p:sp>
        <p:nvSpPr>
          <p:cNvPr id="603" name="Google Shape;603;p26"/>
          <p:cNvSpPr txBox="1"/>
          <p:nvPr/>
        </p:nvSpPr>
        <p:spPr>
          <a:xfrm>
            <a:off x="4953000" y="2133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0   0   1   0   1   0 </a:t>
            </a:r>
            <a:endParaRPr/>
          </a:p>
        </p:txBody>
      </p:sp>
      <p:sp>
        <p:nvSpPr>
          <p:cNvPr id="604" name="Google Shape;604;p26"/>
          <p:cNvSpPr txBox="1"/>
          <p:nvPr/>
        </p:nvSpPr>
        <p:spPr>
          <a:xfrm>
            <a:off x="4953000" y="2514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0   0   0   1   1   0 </a:t>
            </a:r>
            <a:endParaRPr/>
          </a:p>
        </p:txBody>
      </p:sp>
      <p:sp>
        <p:nvSpPr>
          <p:cNvPr id="605" name="Google Shape;605;p26"/>
          <p:cNvSpPr txBox="1"/>
          <p:nvPr/>
        </p:nvSpPr>
        <p:spPr>
          <a:xfrm>
            <a:off x="4953000" y="2819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0   0   0   0   0   0 </a:t>
            </a:r>
            <a:endParaRPr/>
          </a:p>
        </p:txBody>
      </p:sp>
      <p:sp>
        <p:nvSpPr>
          <p:cNvPr id="606" name="Google Shape;606;p26"/>
          <p:cNvSpPr txBox="1"/>
          <p:nvPr/>
        </p:nvSpPr>
        <p:spPr>
          <a:xfrm>
            <a:off x="4953000" y="3200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0   0   0   1   0   1 </a:t>
            </a:r>
            <a:endParaRPr/>
          </a:p>
        </p:txBody>
      </p:sp>
      <p:sp>
        <p:nvSpPr>
          <p:cNvPr id="607" name="Google Shape;607;p26"/>
          <p:cNvSpPr txBox="1"/>
          <p:nvPr/>
        </p:nvSpPr>
        <p:spPr>
          <a:xfrm>
            <a:off x="4953000" y="3581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0   0   0   0   0   0 </a:t>
            </a:r>
            <a:endParaRPr/>
          </a:p>
        </p:txBody>
      </p:sp>
      <p:cxnSp>
        <p:nvCxnSpPr>
          <p:cNvPr id="608" name="Google Shape;608;p26"/>
          <p:cNvCxnSpPr/>
          <p:nvPr/>
        </p:nvCxnSpPr>
        <p:spPr>
          <a:xfrm>
            <a:off x="53340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26"/>
          <p:cNvCxnSpPr/>
          <p:nvPr/>
        </p:nvCxnSpPr>
        <p:spPr>
          <a:xfrm>
            <a:off x="57912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26"/>
          <p:cNvCxnSpPr/>
          <p:nvPr/>
        </p:nvCxnSpPr>
        <p:spPr>
          <a:xfrm>
            <a:off x="61722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26"/>
          <p:cNvCxnSpPr/>
          <p:nvPr/>
        </p:nvCxnSpPr>
        <p:spPr>
          <a:xfrm>
            <a:off x="66294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26"/>
          <p:cNvCxnSpPr/>
          <p:nvPr/>
        </p:nvCxnSpPr>
        <p:spPr>
          <a:xfrm>
            <a:off x="7086600" y="1828800"/>
            <a:ext cx="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26"/>
          <p:cNvCxnSpPr/>
          <p:nvPr/>
        </p:nvCxnSpPr>
        <p:spPr>
          <a:xfrm>
            <a:off x="4953000" y="22098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26"/>
          <p:cNvCxnSpPr/>
          <p:nvPr/>
        </p:nvCxnSpPr>
        <p:spPr>
          <a:xfrm>
            <a:off x="4953000" y="25908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26"/>
          <p:cNvCxnSpPr/>
          <p:nvPr/>
        </p:nvCxnSpPr>
        <p:spPr>
          <a:xfrm>
            <a:off x="4953000" y="28956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26"/>
          <p:cNvCxnSpPr/>
          <p:nvPr/>
        </p:nvCxnSpPr>
        <p:spPr>
          <a:xfrm>
            <a:off x="4953000" y="32766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26"/>
          <p:cNvCxnSpPr/>
          <p:nvPr/>
        </p:nvCxnSpPr>
        <p:spPr>
          <a:xfrm>
            <a:off x="4953000" y="3657600"/>
            <a:ext cx="274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26"/>
          <p:cNvSpPr txBox="1"/>
          <p:nvPr/>
        </p:nvSpPr>
        <p:spPr>
          <a:xfrm>
            <a:off x="3200400" y="4343400"/>
            <a:ext cx="1143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Vector</a:t>
            </a:r>
            <a:endParaRPr/>
          </a:p>
        </p:txBody>
      </p:sp>
      <p:sp>
        <p:nvSpPr>
          <p:cNvPr id="619" name="Google Shape;619;p26"/>
          <p:cNvSpPr txBox="1"/>
          <p:nvPr/>
        </p:nvSpPr>
        <p:spPr>
          <a:xfrm>
            <a:off x="5029200" y="4648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/>
          </a:p>
        </p:txBody>
      </p:sp>
      <p:sp>
        <p:nvSpPr>
          <p:cNvPr id="620" name="Google Shape;620;p26"/>
          <p:cNvSpPr txBox="1"/>
          <p:nvPr/>
        </p:nvSpPr>
        <p:spPr>
          <a:xfrm>
            <a:off x="4953000" y="1447800"/>
            <a:ext cx="281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 B   C  D  E   F</a:t>
            </a:r>
            <a:endParaRPr/>
          </a:p>
        </p:txBody>
      </p:sp>
      <p:sp>
        <p:nvSpPr>
          <p:cNvPr id="621" name="Google Shape;621;p26"/>
          <p:cNvSpPr txBox="1"/>
          <p:nvPr/>
        </p:nvSpPr>
        <p:spPr>
          <a:xfrm>
            <a:off x="4572000" y="1828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622" name="Google Shape;622;p26"/>
          <p:cNvSpPr txBox="1"/>
          <p:nvPr/>
        </p:nvSpPr>
        <p:spPr>
          <a:xfrm>
            <a:off x="4572000" y="2209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623" name="Google Shape;623;p26"/>
          <p:cNvSpPr txBox="1"/>
          <p:nvPr/>
        </p:nvSpPr>
        <p:spPr>
          <a:xfrm>
            <a:off x="4572000" y="25146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624" name="Google Shape;624;p26"/>
          <p:cNvSpPr txBox="1"/>
          <p:nvPr/>
        </p:nvSpPr>
        <p:spPr>
          <a:xfrm>
            <a:off x="4572000" y="2819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625" name="Google Shape;625;p26"/>
          <p:cNvSpPr txBox="1"/>
          <p:nvPr/>
        </p:nvSpPr>
        <p:spPr>
          <a:xfrm>
            <a:off x="4572000" y="32004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626" name="Google Shape;626;p26"/>
          <p:cNvSpPr txBox="1"/>
          <p:nvPr/>
        </p:nvSpPr>
        <p:spPr>
          <a:xfrm>
            <a:off x="4572000" y="3733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627" name="Google Shape;627;p26"/>
          <p:cNvSpPr txBox="1"/>
          <p:nvPr/>
        </p:nvSpPr>
        <p:spPr>
          <a:xfrm>
            <a:off x="4114800" y="5181600"/>
            <a:ext cx="48006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“1” denotes an arc that goes from A to B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3" name="Google Shape;633;p27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 List</a:t>
            </a: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838200" y="1600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7"/>
          <p:cNvSpPr txBox="1"/>
          <p:nvPr/>
        </p:nvSpPr>
        <p:spPr>
          <a:xfrm>
            <a:off x="914400" y="167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228600" y="2514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7"/>
          <p:cNvSpPr txBox="1"/>
          <p:nvPr/>
        </p:nvSpPr>
        <p:spPr>
          <a:xfrm>
            <a:off x="304800" y="259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228600" y="3657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7"/>
          <p:cNvSpPr txBox="1"/>
          <p:nvPr/>
        </p:nvSpPr>
        <p:spPr>
          <a:xfrm>
            <a:off x="3048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1447800" y="2514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7"/>
          <p:cNvSpPr txBox="1"/>
          <p:nvPr/>
        </p:nvSpPr>
        <p:spPr>
          <a:xfrm>
            <a:off x="1524000" y="259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1371600" y="37338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7"/>
          <p:cNvSpPr txBox="1"/>
          <p:nvPr/>
        </p:nvSpPr>
        <p:spPr>
          <a:xfrm>
            <a:off x="1447800" y="3810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2286000" y="3048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7"/>
          <p:cNvSpPr txBox="1"/>
          <p:nvPr/>
        </p:nvSpPr>
        <p:spPr>
          <a:xfrm>
            <a:off x="23622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646" name="Google Shape;646;p27"/>
          <p:cNvCxnSpPr/>
          <p:nvPr/>
        </p:nvCxnSpPr>
        <p:spPr>
          <a:xfrm flipH="1">
            <a:off x="609600" y="2133600"/>
            <a:ext cx="3810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27"/>
          <p:cNvCxnSpPr/>
          <p:nvPr/>
        </p:nvCxnSpPr>
        <p:spPr>
          <a:xfrm>
            <a:off x="533400" y="3124200"/>
            <a:ext cx="0" cy="53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27"/>
          <p:cNvCxnSpPr/>
          <p:nvPr/>
        </p:nvCxnSpPr>
        <p:spPr>
          <a:xfrm>
            <a:off x="838200" y="3962400"/>
            <a:ext cx="533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27"/>
          <p:cNvCxnSpPr/>
          <p:nvPr/>
        </p:nvCxnSpPr>
        <p:spPr>
          <a:xfrm>
            <a:off x="1676400" y="31242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27"/>
          <p:cNvCxnSpPr/>
          <p:nvPr/>
        </p:nvCxnSpPr>
        <p:spPr>
          <a:xfrm>
            <a:off x="838200" y="2819400"/>
            <a:ext cx="609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27"/>
          <p:cNvCxnSpPr/>
          <p:nvPr/>
        </p:nvCxnSpPr>
        <p:spPr>
          <a:xfrm flipH="1" rot="10800000">
            <a:off x="685800" y="3048000"/>
            <a:ext cx="838200" cy="685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27"/>
          <p:cNvCxnSpPr/>
          <p:nvPr/>
        </p:nvCxnSpPr>
        <p:spPr>
          <a:xfrm>
            <a:off x="1981200" y="2971800"/>
            <a:ext cx="381000" cy="15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27"/>
          <p:cNvSpPr/>
          <p:nvPr/>
        </p:nvSpPr>
        <p:spPr>
          <a:xfrm>
            <a:off x="2971800" y="1676400"/>
            <a:ext cx="1828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2971800" y="1676400"/>
            <a:ext cx="5334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3505200" y="1676400"/>
            <a:ext cx="762000" cy="3810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7"/>
          <p:cNvSpPr txBox="1"/>
          <p:nvPr/>
        </p:nvSpPr>
        <p:spPr>
          <a:xfrm>
            <a:off x="3581400" y="16002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cxnSp>
        <p:nvCxnSpPr>
          <p:cNvPr id="657" name="Google Shape;657;p27"/>
          <p:cNvCxnSpPr/>
          <p:nvPr/>
        </p:nvCxnSpPr>
        <p:spPr>
          <a:xfrm>
            <a:off x="4648200" y="1905000"/>
            <a:ext cx="1066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27"/>
          <p:cNvCxnSpPr/>
          <p:nvPr/>
        </p:nvCxnSpPr>
        <p:spPr>
          <a:xfrm>
            <a:off x="3200400" y="19050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9" name="Google Shape;659;p27"/>
          <p:cNvSpPr/>
          <p:nvPr/>
        </p:nvSpPr>
        <p:spPr>
          <a:xfrm>
            <a:off x="2971800" y="2514600"/>
            <a:ext cx="1828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7"/>
          <p:cNvSpPr/>
          <p:nvPr/>
        </p:nvSpPr>
        <p:spPr>
          <a:xfrm>
            <a:off x="2971800" y="2514600"/>
            <a:ext cx="5334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3505200" y="2514600"/>
            <a:ext cx="762000" cy="3810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7"/>
          <p:cNvSpPr txBox="1"/>
          <p:nvPr/>
        </p:nvSpPr>
        <p:spPr>
          <a:xfrm>
            <a:off x="3581400" y="24384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cxnSp>
        <p:nvCxnSpPr>
          <p:cNvPr id="663" name="Google Shape;663;p27"/>
          <p:cNvCxnSpPr/>
          <p:nvPr/>
        </p:nvCxnSpPr>
        <p:spPr>
          <a:xfrm>
            <a:off x="4648200" y="2743200"/>
            <a:ext cx="1066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4" name="Google Shape;664;p27"/>
          <p:cNvCxnSpPr/>
          <p:nvPr/>
        </p:nvCxnSpPr>
        <p:spPr>
          <a:xfrm>
            <a:off x="3200400" y="27432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5" name="Google Shape;665;p27"/>
          <p:cNvSpPr/>
          <p:nvPr/>
        </p:nvSpPr>
        <p:spPr>
          <a:xfrm>
            <a:off x="2971800" y="3352800"/>
            <a:ext cx="1828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2971800" y="3352800"/>
            <a:ext cx="5334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3505200" y="3352800"/>
            <a:ext cx="762000" cy="3810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7"/>
          <p:cNvSpPr txBox="1"/>
          <p:nvPr/>
        </p:nvSpPr>
        <p:spPr>
          <a:xfrm>
            <a:off x="3581400" y="3276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cxnSp>
        <p:nvCxnSpPr>
          <p:cNvPr id="669" name="Google Shape;669;p27"/>
          <p:cNvCxnSpPr/>
          <p:nvPr/>
        </p:nvCxnSpPr>
        <p:spPr>
          <a:xfrm>
            <a:off x="4648200" y="3581400"/>
            <a:ext cx="1066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0" name="Google Shape;670;p27"/>
          <p:cNvCxnSpPr/>
          <p:nvPr/>
        </p:nvCxnSpPr>
        <p:spPr>
          <a:xfrm>
            <a:off x="3200400" y="35814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1" name="Google Shape;671;p27"/>
          <p:cNvSpPr/>
          <p:nvPr/>
        </p:nvSpPr>
        <p:spPr>
          <a:xfrm>
            <a:off x="2971800" y="4191000"/>
            <a:ext cx="1828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2971800" y="4191000"/>
            <a:ext cx="5334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3505200" y="4191000"/>
            <a:ext cx="762000" cy="3810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7"/>
          <p:cNvSpPr txBox="1"/>
          <p:nvPr/>
        </p:nvSpPr>
        <p:spPr>
          <a:xfrm>
            <a:off x="3581400" y="4114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cxnSp>
        <p:nvCxnSpPr>
          <p:cNvPr id="675" name="Google Shape;675;p27"/>
          <p:cNvCxnSpPr/>
          <p:nvPr/>
        </p:nvCxnSpPr>
        <p:spPr>
          <a:xfrm>
            <a:off x="4648200" y="4419600"/>
            <a:ext cx="1066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6" name="Google Shape;676;p27"/>
          <p:cNvCxnSpPr/>
          <p:nvPr/>
        </p:nvCxnSpPr>
        <p:spPr>
          <a:xfrm>
            <a:off x="3200400" y="44196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7" name="Google Shape;677;p27"/>
          <p:cNvSpPr/>
          <p:nvPr/>
        </p:nvSpPr>
        <p:spPr>
          <a:xfrm>
            <a:off x="2971800" y="5029200"/>
            <a:ext cx="1828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2971800" y="5029200"/>
            <a:ext cx="5334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3505200" y="5029200"/>
            <a:ext cx="762000" cy="3810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3581400" y="49530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cxnSp>
        <p:nvCxnSpPr>
          <p:cNvPr id="681" name="Google Shape;681;p27"/>
          <p:cNvCxnSpPr/>
          <p:nvPr/>
        </p:nvCxnSpPr>
        <p:spPr>
          <a:xfrm>
            <a:off x="4648200" y="5257800"/>
            <a:ext cx="1066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2" name="Google Shape;682;p27"/>
          <p:cNvCxnSpPr/>
          <p:nvPr/>
        </p:nvCxnSpPr>
        <p:spPr>
          <a:xfrm>
            <a:off x="3200400" y="5257800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3" name="Google Shape;683;p27"/>
          <p:cNvSpPr/>
          <p:nvPr/>
        </p:nvSpPr>
        <p:spPr>
          <a:xfrm>
            <a:off x="2971800" y="5867400"/>
            <a:ext cx="18288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2971800" y="5867400"/>
            <a:ext cx="5334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3505200" y="5867400"/>
            <a:ext cx="762000" cy="3810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3581400" y="57912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cxnSp>
        <p:nvCxnSpPr>
          <p:cNvPr id="687" name="Google Shape;687;p27"/>
          <p:cNvCxnSpPr/>
          <p:nvPr/>
        </p:nvCxnSpPr>
        <p:spPr>
          <a:xfrm>
            <a:off x="4648200" y="6096000"/>
            <a:ext cx="1066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8" name="Google Shape;688;p27"/>
          <p:cNvCxnSpPr/>
          <p:nvPr/>
        </p:nvCxnSpPr>
        <p:spPr>
          <a:xfrm flipH="1">
            <a:off x="2971800" y="5867400"/>
            <a:ext cx="533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27"/>
          <p:cNvCxnSpPr/>
          <p:nvPr/>
        </p:nvCxnSpPr>
        <p:spPr>
          <a:xfrm>
            <a:off x="2971800" y="5867400"/>
            <a:ext cx="533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27"/>
          <p:cNvSpPr/>
          <p:nvPr/>
        </p:nvSpPr>
        <p:spPr>
          <a:xfrm>
            <a:off x="5715000" y="16764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6248400" y="16764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7"/>
          <p:cNvSpPr txBox="1"/>
          <p:nvPr/>
        </p:nvSpPr>
        <p:spPr>
          <a:xfrm>
            <a:off x="5791200" y="16764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5715000" y="25908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6248400" y="25908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7"/>
          <p:cNvSpPr txBox="1"/>
          <p:nvPr/>
        </p:nvSpPr>
        <p:spPr>
          <a:xfrm>
            <a:off x="5791200" y="25908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6705600" y="25908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7239000" y="25908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7"/>
          <p:cNvSpPr txBox="1"/>
          <p:nvPr/>
        </p:nvSpPr>
        <p:spPr>
          <a:xfrm>
            <a:off x="6781800" y="25908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7696200" y="25908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8229600" y="25908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7"/>
          <p:cNvSpPr txBox="1"/>
          <p:nvPr/>
        </p:nvSpPr>
        <p:spPr>
          <a:xfrm>
            <a:off x="7772400" y="25908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5715000" y="33528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6248400" y="33528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7"/>
          <p:cNvSpPr txBox="1"/>
          <p:nvPr/>
        </p:nvSpPr>
        <p:spPr>
          <a:xfrm>
            <a:off x="5791200" y="33528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6705600" y="33528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7239000" y="33528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7"/>
          <p:cNvSpPr txBox="1"/>
          <p:nvPr/>
        </p:nvSpPr>
        <p:spPr>
          <a:xfrm>
            <a:off x="6781800" y="33528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708" name="Google Shape;708;p27"/>
          <p:cNvSpPr/>
          <p:nvPr/>
        </p:nvSpPr>
        <p:spPr>
          <a:xfrm>
            <a:off x="7696200" y="33528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8229600" y="33528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7"/>
          <p:cNvSpPr txBox="1"/>
          <p:nvPr/>
        </p:nvSpPr>
        <p:spPr>
          <a:xfrm>
            <a:off x="7772400" y="33528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5715000" y="41910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6248400" y="41910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7"/>
          <p:cNvSpPr txBox="1"/>
          <p:nvPr/>
        </p:nvSpPr>
        <p:spPr>
          <a:xfrm>
            <a:off x="5791200" y="41910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>
            <a:off x="6705600" y="41910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7239000" y="41910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7"/>
          <p:cNvSpPr txBox="1"/>
          <p:nvPr/>
        </p:nvSpPr>
        <p:spPr>
          <a:xfrm>
            <a:off x="6781800" y="41910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sp>
        <p:nvSpPr>
          <p:cNvPr id="717" name="Google Shape;717;p27"/>
          <p:cNvSpPr/>
          <p:nvPr/>
        </p:nvSpPr>
        <p:spPr>
          <a:xfrm>
            <a:off x="5715000" y="51054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6248400" y="51054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7"/>
          <p:cNvSpPr txBox="1"/>
          <p:nvPr/>
        </p:nvSpPr>
        <p:spPr>
          <a:xfrm>
            <a:off x="5791200" y="51054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720" name="Google Shape;720;p27"/>
          <p:cNvSpPr/>
          <p:nvPr/>
        </p:nvSpPr>
        <p:spPr>
          <a:xfrm>
            <a:off x="6705600" y="51054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7"/>
          <p:cNvSpPr/>
          <p:nvPr/>
        </p:nvSpPr>
        <p:spPr>
          <a:xfrm>
            <a:off x="7239000" y="51054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7"/>
          <p:cNvSpPr txBox="1"/>
          <p:nvPr/>
        </p:nvSpPr>
        <p:spPr>
          <a:xfrm>
            <a:off x="6781800" y="51054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723" name="Google Shape;723;p27"/>
          <p:cNvSpPr/>
          <p:nvPr/>
        </p:nvSpPr>
        <p:spPr>
          <a:xfrm>
            <a:off x="7696200" y="51054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7"/>
          <p:cNvSpPr/>
          <p:nvPr/>
        </p:nvSpPr>
        <p:spPr>
          <a:xfrm>
            <a:off x="8229600" y="51054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7"/>
          <p:cNvSpPr txBox="1"/>
          <p:nvPr/>
        </p:nvSpPr>
        <p:spPr>
          <a:xfrm>
            <a:off x="7772400" y="51054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</a:t>
            </a:r>
            <a:endParaRPr/>
          </a:p>
        </p:txBody>
      </p:sp>
      <p:sp>
        <p:nvSpPr>
          <p:cNvPr id="726" name="Google Shape;726;p27"/>
          <p:cNvSpPr/>
          <p:nvPr/>
        </p:nvSpPr>
        <p:spPr>
          <a:xfrm>
            <a:off x="7696200" y="57150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8229600" y="57150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7"/>
          <p:cNvSpPr txBox="1"/>
          <p:nvPr/>
        </p:nvSpPr>
        <p:spPr>
          <a:xfrm>
            <a:off x="7772400" y="57150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729" name="Google Shape;729;p27"/>
          <p:cNvSpPr/>
          <p:nvPr/>
        </p:nvSpPr>
        <p:spPr>
          <a:xfrm>
            <a:off x="5715000" y="5943600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6248400" y="5943600"/>
            <a:ext cx="381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7"/>
          <p:cNvSpPr txBox="1"/>
          <p:nvPr/>
        </p:nvSpPr>
        <p:spPr>
          <a:xfrm>
            <a:off x="5791200" y="5943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/>
          </a:p>
        </p:txBody>
      </p:sp>
      <p:cxnSp>
        <p:nvCxnSpPr>
          <p:cNvPr id="732" name="Google Shape;732;p27"/>
          <p:cNvCxnSpPr/>
          <p:nvPr/>
        </p:nvCxnSpPr>
        <p:spPr>
          <a:xfrm flipH="1">
            <a:off x="6248400" y="16764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27"/>
          <p:cNvCxnSpPr/>
          <p:nvPr/>
        </p:nvCxnSpPr>
        <p:spPr>
          <a:xfrm>
            <a:off x="6248400" y="16764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27"/>
          <p:cNvCxnSpPr/>
          <p:nvPr/>
        </p:nvCxnSpPr>
        <p:spPr>
          <a:xfrm flipH="1">
            <a:off x="8229600" y="25908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27"/>
          <p:cNvCxnSpPr/>
          <p:nvPr/>
        </p:nvCxnSpPr>
        <p:spPr>
          <a:xfrm>
            <a:off x="8229600" y="25908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27"/>
          <p:cNvCxnSpPr/>
          <p:nvPr/>
        </p:nvCxnSpPr>
        <p:spPr>
          <a:xfrm flipH="1">
            <a:off x="8229600" y="33528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27"/>
          <p:cNvCxnSpPr/>
          <p:nvPr/>
        </p:nvCxnSpPr>
        <p:spPr>
          <a:xfrm>
            <a:off x="8229600" y="33528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27"/>
          <p:cNvCxnSpPr/>
          <p:nvPr/>
        </p:nvCxnSpPr>
        <p:spPr>
          <a:xfrm flipH="1">
            <a:off x="7239000" y="4191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27"/>
          <p:cNvCxnSpPr/>
          <p:nvPr/>
        </p:nvCxnSpPr>
        <p:spPr>
          <a:xfrm>
            <a:off x="7239000" y="4191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27"/>
          <p:cNvCxnSpPr/>
          <p:nvPr/>
        </p:nvCxnSpPr>
        <p:spPr>
          <a:xfrm flipH="1">
            <a:off x="8229600" y="5715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27"/>
          <p:cNvCxnSpPr/>
          <p:nvPr/>
        </p:nvCxnSpPr>
        <p:spPr>
          <a:xfrm>
            <a:off x="8229600" y="57150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27"/>
          <p:cNvCxnSpPr/>
          <p:nvPr/>
        </p:nvCxnSpPr>
        <p:spPr>
          <a:xfrm flipH="1">
            <a:off x="6248400" y="59436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27"/>
          <p:cNvCxnSpPr/>
          <p:nvPr/>
        </p:nvCxnSpPr>
        <p:spPr>
          <a:xfrm>
            <a:off x="6248400" y="5943600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27"/>
          <p:cNvCxnSpPr/>
          <p:nvPr/>
        </p:nvCxnSpPr>
        <p:spPr>
          <a:xfrm>
            <a:off x="6553200" y="27432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27"/>
          <p:cNvCxnSpPr/>
          <p:nvPr/>
        </p:nvCxnSpPr>
        <p:spPr>
          <a:xfrm>
            <a:off x="7543800" y="27432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27"/>
          <p:cNvCxnSpPr/>
          <p:nvPr/>
        </p:nvCxnSpPr>
        <p:spPr>
          <a:xfrm>
            <a:off x="6553200" y="35814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27"/>
          <p:cNvCxnSpPr/>
          <p:nvPr/>
        </p:nvCxnSpPr>
        <p:spPr>
          <a:xfrm>
            <a:off x="7543800" y="3505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27"/>
          <p:cNvCxnSpPr/>
          <p:nvPr/>
        </p:nvCxnSpPr>
        <p:spPr>
          <a:xfrm>
            <a:off x="6553200" y="43434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27"/>
          <p:cNvCxnSpPr/>
          <p:nvPr/>
        </p:nvCxnSpPr>
        <p:spPr>
          <a:xfrm>
            <a:off x="6553200" y="53340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27"/>
          <p:cNvCxnSpPr/>
          <p:nvPr/>
        </p:nvCxnSpPr>
        <p:spPr>
          <a:xfrm>
            <a:off x="7543800" y="53340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1" name="Google Shape;751;p27"/>
          <p:cNvCxnSpPr/>
          <p:nvPr/>
        </p:nvCxnSpPr>
        <p:spPr>
          <a:xfrm flipH="1">
            <a:off x="8001000" y="5486400"/>
            <a:ext cx="381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7" name="Google Shape;757;p28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Searching/Traversing a Graph</a:t>
            </a:r>
            <a:endParaRPr/>
          </a:p>
        </p:txBody>
      </p:sp>
      <p:sp>
        <p:nvSpPr>
          <p:cNvPr id="758" name="Google Shape;758;p28"/>
          <p:cNvSpPr txBox="1"/>
          <p:nvPr>
            <p:ph idx="1" type="body"/>
          </p:nvPr>
        </p:nvSpPr>
        <p:spPr>
          <a:xfrm>
            <a:off x="457200" y="1719263"/>
            <a:ext cx="83820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1" marL="692150" rtl="0" algn="l">
              <a:spcBef>
                <a:spcPts val="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b="1" lang="en-US" sz="2200">
                <a:solidFill>
                  <a:srgbClr val="C00000"/>
                </a:solidFill>
              </a:rPr>
              <a:t>Question</a:t>
            </a:r>
            <a:endParaRPr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b="1" i="1" lang="en-US" sz="2200"/>
              <a:t>Given a graph G(V,E) how do I go from node A to node B?</a:t>
            </a:r>
            <a:endParaRPr/>
          </a:p>
          <a:p>
            <a:pPr indent="-249873" lvl="1" marL="692150" rtl="0" algn="l">
              <a:spcBef>
                <a:spcPts val="44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b="1" sz="2200"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b="1" lang="en-US" sz="2200">
                <a:solidFill>
                  <a:srgbClr val="0070C0"/>
                </a:solidFill>
              </a:rPr>
              <a:t>Depth-first-Search (DFS):</a:t>
            </a:r>
            <a:r>
              <a:rPr lang="en-US" sz="2200">
                <a:solidFill>
                  <a:srgbClr val="0070C0"/>
                </a:solidFill>
              </a:rPr>
              <a:t> </a:t>
            </a:r>
            <a:endParaRPr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lang="en-US" sz="2200"/>
              <a:t>	As deep as possible, as soon as possible, backtracking otherwise.</a:t>
            </a:r>
            <a:endParaRPr/>
          </a:p>
          <a:p>
            <a:pPr indent="-293688" lvl="2" marL="987425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i="1" lang="en-US" sz="2200"/>
              <a:t>Implementation issue: non recursive version uses a stack</a:t>
            </a:r>
            <a:endParaRPr/>
          </a:p>
          <a:p>
            <a:pPr indent="-195897" lvl="2" marL="987425" rtl="0" algn="l">
              <a:spcBef>
                <a:spcPts val="44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sz="2200"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b="1" lang="en-US" sz="2200">
                <a:solidFill>
                  <a:srgbClr val="0070C0"/>
                </a:solidFill>
              </a:rPr>
              <a:t>Breadth-first-Search (BFS)</a:t>
            </a:r>
            <a:r>
              <a:rPr lang="en-US" sz="2200">
                <a:solidFill>
                  <a:srgbClr val="0070C0"/>
                </a:solidFill>
              </a:rPr>
              <a:t>: </a:t>
            </a:r>
            <a:endParaRPr/>
          </a:p>
          <a:p>
            <a:pPr indent="-347663" lvl="1" marL="692150" rtl="0" algn="l">
              <a:spcBef>
                <a:spcPts val="44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lang="en-US" sz="2200"/>
              <a:t>	Neighbor level visitation.</a:t>
            </a:r>
            <a:endParaRPr/>
          </a:p>
          <a:p>
            <a:pPr indent="-293688" lvl="2" marL="987425" rtl="0" algn="l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i="1" lang="en-US" sz="2200"/>
              <a:t>Implementation: </a:t>
            </a:r>
            <a:r>
              <a:rPr lang="en-US" sz="2200"/>
              <a:t> Non recursive version uses a queue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4" name="Google Shape;764;p29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Uses</a:t>
            </a:r>
            <a:endParaRPr/>
          </a:p>
        </p:txBody>
      </p:sp>
      <p:sp>
        <p:nvSpPr>
          <p:cNvPr id="765" name="Google Shape;765;p29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●"/>
            </a:pPr>
            <a:r>
              <a:rPr lang="en-US" sz="2400"/>
              <a:t>The principle of the algorithm is quite simple: to go forward (in depth) while there is such possibility, otherwise to backtrack. 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US" sz="2400"/>
              <a:t>Imagine a chess game, where a good player can mentally picture the state of the board 4, 5, 6, even 10 moves away from the current move. This is a depth-first search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1" name="Google Shape;771;p30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</a:t>
            </a:r>
            <a:endParaRPr/>
          </a:p>
        </p:txBody>
      </p:sp>
      <p:sp>
        <p:nvSpPr>
          <p:cNvPr id="772" name="Google Shape;772;p30"/>
          <p:cNvSpPr txBox="1"/>
          <p:nvPr/>
        </p:nvSpPr>
        <p:spPr>
          <a:xfrm>
            <a:off x="457200" y="1719263"/>
            <a:ext cx="8229600" cy="44116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9BB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a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starting point</a:t>
            </a:r>
            <a:endParaRPr/>
          </a:p>
          <a:p>
            <a:pPr indent="-35052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possible, explore an unvisited vertex that is adjacent to the current  node, mark it “visited”, then push it on the stack</a:t>
            </a:r>
            <a:endParaRPr/>
          </a:p>
          <a:p>
            <a:pPr indent="-35052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there are no more “unvisited” vertices to explore, pop the top of the stack. Consider this node as the next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starting point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Repeat step 1.</a:t>
            </a:r>
            <a:endParaRPr/>
          </a:p>
          <a:p>
            <a:pPr indent="-35052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stack is empty, you are done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31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</a:t>
            </a:r>
            <a:endParaRPr/>
          </a:p>
        </p:txBody>
      </p:sp>
      <p:sp>
        <p:nvSpPr>
          <p:cNvPr id="779" name="Google Shape;779;p31"/>
          <p:cNvSpPr txBox="1"/>
          <p:nvPr/>
        </p:nvSpPr>
        <p:spPr>
          <a:xfrm>
            <a:off x="457200" y="1719263"/>
            <a:ext cx="8229600" cy="384333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9BB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dfsSearch ( Vertex v)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mark v “old”;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vertex w on L[v]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 is marked “new”)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add (v, w) to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SolutionTree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dfsSearch (w);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5" name="Google Shape;785;p32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</a:t>
            </a:r>
            <a:endParaRPr/>
          </a:p>
        </p:txBody>
      </p:sp>
      <p:pic>
        <p:nvPicPr>
          <p:cNvPr descr="DFS-example-1.png" id="786" name="Google Shape;7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71600"/>
            <a:ext cx="26670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algolist.net/img/graphs/DFS/DFS-example-2.png" id="787" name="Google Shape;7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1371600"/>
            <a:ext cx="24384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FS-example-4.png" id="788" name="Google Shape;78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1295400"/>
            <a:ext cx="2286000" cy="209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algolist.net/img/graphs/DFS/DFS-example-5-2.png" id="789" name="Google Shape;78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" y="3962400"/>
            <a:ext cx="23241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algolist.net/img/graphs/DFS/DFS-example-7.png" id="790" name="Google Shape;79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1800" y="3886200"/>
            <a:ext cx="23241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algolist.net/img/graphs/DFS/DFS-example-9.png" id="791" name="Google Shape;79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4114800"/>
            <a:ext cx="23241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32"/>
          <p:cNvSpPr txBox="1"/>
          <p:nvPr/>
        </p:nvSpPr>
        <p:spPr>
          <a:xfrm>
            <a:off x="152400" y="6565900"/>
            <a:ext cx="41148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http://www.algolist.net/Algorithms/Graph_algorithms/Undirected/Depth-first_search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p33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endParaRPr/>
          </a:p>
        </p:txBody>
      </p:sp>
      <p:sp>
        <p:nvSpPr>
          <p:cNvPr id="799" name="Google Shape;799;p33"/>
          <p:cNvSpPr txBox="1"/>
          <p:nvPr>
            <p:ph idx="1" type="body"/>
          </p:nvPr>
        </p:nvSpPr>
        <p:spPr>
          <a:xfrm>
            <a:off x="457200" y="1676400"/>
            <a:ext cx="8229600" cy="441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2000"/>
              <a:t>A breadth-first search visits nodes in the order of their distance from the start node, where distance is measured as the number of traversed edges. </a:t>
            </a:r>
            <a:endParaRPr/>
          </a:p>
          <a:p>
            <a:pPr indent="-2540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-US" sz="2000"/>
              <a:t>So, with a breadth-first search, first all nodes one edge away from the start node are visited, then two edges away, and so on until all nodes are visited. </a:t>
            </a:r>
            <a:endParaRPr/>
          </a:p>
          <a:p>
            <a:pPr indent="-2540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-US" sz="2000"/>
              <a:t>This way, we'll find the path from the start to the goal with the minimum number of traversed edges. </a:t>
            </a:r>
            <a:endParaRPr/>
          </a:p>
          <a:p>
            <a:pPr indent="-2540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-US" sz="2000"/>
              <a:t>Another way to word it is like this: Visit the neighbor nodes, then the neighbor's neighbor nodes, and so on until the goal node was found.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5" name="Google Shape;805;p34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BFS Rules</a:t>
            </a:r>
            <a:endParaRPr/>
          </a:p>
        </p:txBody>
      </p:sp>
      <p:sp>
        <p:nvSpPr>
          <p:cNvPr id="806" name="Google Shape;806;p34"/>
          <p:cNvSpPr txBox="1"/>
          <p:nvPr>
            <p:ph idx="1"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99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1680"/>
              <a:buFont typeface="Arial"/>
              <a:buAutoNum type="arabicPeriod"/>
            </a:pPr>
            <a:r>
              <a:rPr lang="en-US" sz="2400"/>
              <a:t>Visit the next unvisited vertex that is adjacent to the current vertex. Mark it as “visited”, insert it into the queue.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SzPts val="1680"/>
              <a:buFont typeface="Arial"/>
              <a:buAutoNum type="arabicPeriod"/>
            </a:pPr>
            <a:r>
              <a:rPr lang="en-US" sz="2400"/>
              <a:t>If there are no more unvisited vertices, remove a vertex from the queue and make it the current vertex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SzPts val="1680"/>
              <a:buFont typeface="Arial"/>
              <a:buAutoNum type="arabicPeriod"/>
            </a:pPr>
            <a:r>
              <a:rPr lang="en-US" sz="2400"/>
              <a:t>If there are no more vertices in the queue, the process is done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2" name="Google Shape;812;p35"/>
          <p:cNvSpPr txBox="1"/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BFS Example</a:t>
            </a:r>
            <a:endParaRPr/>
          </a:p>
        </p:txBody>
      </p:sp>
      <p:sp>
        <p:nvSpPr>
          <p:cNvPr id="813" name="Google Shape;813;p3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5"/>
          <p:cNvSpPr txBox="1"/>
          <p:nvPr/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FS-example-1.png" id="815" name="Google Shape;8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71600"/>
            <a:ext cx="26670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algolist.net/img/graphs/DFS/DFS-example-2.png" id="816" name="Google Shape;81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1371600"/>
            <a:ext cx="24384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FS-example-4.png" id="817" name="Google Shape;81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1295400"/>
            <a:ext cx="2286000" cy="209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algolist.net/img/graphs/DFS/DFS-example-5-2.png" id="818" name="Google Shape;81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" y="3962400"/>
            <a:ext cx="23241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7000" y="3810000"/>
            <a:ext cx="2474913" cy="22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6400" y="3886200"/>
            <a:ext cx="26543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1999-10-26T12:39:53Z</dcterms:created>
  <dc:creator>Becky Grasser</dc:creator>
</cp:coreProperties>
</file>