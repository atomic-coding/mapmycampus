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29" r:id="rId1"/>
  </p:sldMasterIdLst>
  <p:sldIdLst>
    <p:sldId id="256" r:id="rId2"/>
    <p:sldId id="257" r:id="rId3"/>
    <p:sldId id="258" r:id="rId4"/>
    <p:sldId id="266" r:id="rId5"/>
    <p:sldId id="265" r:id="rId6"/>
    <p:sldId id="267" r:id="rId7"/>
    <p:sldId id="270" r:id="rId8"/>
    <p:sldId id="286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7" r:id="rId22"/>
    <p:sldId id="285" r:id="rId23"/>
    <p:sldId id="264" r:id="rId24"/>
  </p:sldIdLst>
  <p:sldSz cx="9144000" cy="6858000" type="screen4x3"/>
  <p:notesSz cx="6743700" cy="9893300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75000"/>
      <a:buFont typeface="Monotype Sorts" pitchFamily="2" charset="2"/>
      <a:buChar char="l"/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75000"/>
      <a:buFont typeface="Monotype Sorts" pitchFamily="2" charset="2"/>
      <a:buChar char="l"/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75000"/>
      <a:buFont typeface="Monotype Sorts" pitchFamily="2" charset="2"/>
      <a:buChar char="l"/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75000"/>
      <a:buFont typeface="Monotype Sorts" pitchFamily="2" charset="2"/>
      <a:buChar char="l"/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75000"/>
      <a:buFont typeface="Monotype Sorts" pitchFamily="2" charset="2"/>
      <a:buChar char="l"/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66FF"/>
    <a:srgbClr val="FF9900"/>
    <a:srgbClr val="99FF33"/>
    <a:srgbClr val="9966FF"/>
    <a:srgbClr val="000066"/>
    <a:srgbClr val="669900"/>
    <a:srgbClr val="3399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99" d="100"/>
          <a:sy n="99" d="100"/>
        </p:scale>
        <p:origin x="-24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59E0DF7-4963-40A2-B23F-1962D8C5B0D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BB8333-B6F4-452A-81D0-D15527B101C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00547-1C8E-4E6B-AD5E-9E5F1CD242B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457BCD-E052-40A6-B5FF-62A45EDDDF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689D6-5CEE-4B34-A5D2-CF0AC17DB94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BCE05-0FDC-4953-B94A-1B7B4A0B281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B03D6-CFFA-4004-BB0A-F7D6A62F2CA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6" name="Rounded Rectangle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8E3C7-8F0B-4E33-A618-00733F19C8C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CEE2B-4128-43A2-9149-A658F30456E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0E215-8A1E-4D4A-9C05-759308185D3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05716-F76D-459F-8207-EA501DC5E38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 smtClean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2FAC5EE3-1146-4C98-B213-875A560ABB3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45" r:id="rId2"/>
    <p:sldLayoutId id="2147483853" r:id="rId3"/>
    <p:sldLayoutId id="2147483846" r:id="rId4"/>
    <p:sldLayoutId id="2147483847" r:id="rId5"/>
    <p:sldLayoutId id="2147483848" r:id="rId6"/>
    <p:sldLayoutId id="2147483849" r:id="rId7"/>
    <p:sldLayoutId id="2147483854" r:id="rId8"/>
    <p:sldLayoutId id="2147483855" r:id="rId9"/>
    <p:sldLayoutId id="2147483850" r:id="rId10"/>
    <p:sldLayoutId id="214748385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fontAlgn="base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fontAlgn="base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fontAlgn="base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fontAlgn="base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r>
              <a:rPr altLang="zh-CN" smtClean="0">
                <a:ea typeface="宋体" pitchFamily="2" charset="-122"/>
              </a:rPr>
              <a:t>Linked Lists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List Overview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smtClean="0"/>
              <a:t>Linked lists</a:t>
            </a:r>
          </a:p>
          <a:p>
            <a:pPr lvl="1"/>
            <a:r>
              <a:rPr lang="en-US" altLang="zh-CN" smtClean="0"/>
              <a:t>Abstract data type (ADT)</a:t>
            </a:r>
          </a:p>
          <a:p>
            <a:r>
              <a:rPr lang="en-US" altLang="zh-CN" smtClean="0"/>
              <a:t>Basic operations of linked lists</a:t>
            </a:r>
          </a:p>
          <a:p>
            <a:pPr lvl="1"/>
            <a:r>
              <a:rPr lang="en-US" altLang="zh-CN" smtClean="0"/>
              <a:t>Insert, find, delete, print, etc.</a:t>
            </a:r>
          </a:p>
          <a:p>
            <a:r>
              <a:rPr lang="en-US" altLang="zh-CN" smtClean="0"/>
              <a:t>Variations of linked lists</a:t>
            </a:r>
          </a:p>
          <a:p>
            <a:pPr lvl="1"/>
            <a:r>
              <a:rPr lang="en-US" altLang="zh-CN" smtClean="0"/>
              <a:t>Circular linked lists</a:t>
            </a:r>
          </a:p>
          <a:p>
            <a:pPr lvl="1"/>
            <a:r>
              <a:rPr lang="en-US" altLang="zh-CN" smtClean="0"/>
              <a:t>Doubly linked lists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Linked Lists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2971800"/>
            <a:ext cx="7848600" cy="3048000"/>
          </a:xfrm>
        </p:spPr>
        <p:txBody>
          <a:bodyPr/>
          <a:lstStyle/>
          <a:p>
            <a:r>
              <a:rPr lang="en-US" altLang="zh-CN" smtClean="0"/>
              <a:t>A </a:t>
            </a:r>
            <a:r>
              <a:rPr lang="en-US" altLang="zh-CN" i="1" smtClean="0">
                <a:solidFill>
                  <a:srgbClr val="FFCC00"/>
                </a:solidFill>
              </a:rPr>
              <a:t>linked list</a:t>
            </a:r>
            <a:r>
              <a:rPr lang="en-US" altLang="zh-CN" smtClean="0"/>
              <a:t> is a series of connected </a:t>
            </a:r>
            <a:r>
              <a:rPr lang="en-US" altLang="zh-CN" i="1" smtClean="0">
                <a:solidFill>
                  <a:srgbClr val="FFCC00"/>
                </a:solidFill>
              </a:rPr>
              <a:t>nodes</a:t>
            </a:r>
          </a:p>
          <a:p>
            <a:r>
              <a:rPr lang="en-US" altLang="zh-CN" smtClean="0"/>
              <a:t>Each node contains at least</a:t>
            </a:r>
          </a:p>
          <a:p>
            <a:pPr lvl="1"/>
            <a:r>
              <a:rPr lang="en-US" altLang="zh-CN" smtClean="0"/>
              <a:t>A piece of data (any type)</a:t>
            </a:r>
          </a:p>
          <a:p>
            <a:pPr lvl="1"/>
            <a:r>
              <a:rPr lang="en-US" altLang="zh-CN" smtClean="0"/>
              <a:t>Pointer to the next node in the list</a:t>
            </a:r>
          </a:p>
          <a:p>
            <a:r>
              <a:rPr lang="en-US" altLang="zh-CN" i="1" smtClean="0">
                <a:solidFill>
                  <a:srgbClr val="FFCC00"/>
                </a:solidFill>
              </a:rPr>
              <a:t>Head</a:t>
            </a:r>
            <a:r>
              <a:rPr lang="en-US" altLang="zh-CN" smtClean="0"/>
              <a:t>: pointer to the first node</a:t>
            </a:r>
          </a:p>
          <a:p>
            <a:r>
              <a:rPr lang="en-US" altLang="zh-CN" smtClean="0"/>
              <a:t>The last node points to </a:t>
            </a:r>
            <a:r>
              <a:rPr lang="en-US" altLang="zh-CN" smtClean="0">
                <a:latin typeface="Courier New" pitchFamily="49" charset="0"/>
              </a:rPr>
              <a:t>NULL</a:t>
            </a:r>
          </a:p>
        </p:txBody>
      </p:sp>
      <p:sp>
        <p:nvSpPr>
          <p:cNvPr id="8196" name="Rectangle 15"/>
          <p:cNvSpPr>
            <a:spLocks noChangeArrowheads="1"/>
          </p:cNvSpPr>
          <p:nvPr/>
        </p:nvSpPr>
        <p:spPr bwMode="auto">
          <a:xfrm>
            <a:off x="3267075" y="18351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7" name="Line 16"/>
          <p:cNvSpPr>
            <a:spLocks noChangeShapeType="1"/>
          </p:cNvSpPr>
          <p:nvPr/>
        </p:nvSpPr>
        <p:spPr bwMode="auto">
          <a:xfrm flipV="1">
            <a:off x="3571875" y="213995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8198" name="Rectangle 18"/>
          <p:cNvSpPr>
            <a:spLocks noChangeArrowheads="1"/>
          </p:cNvSpPr>
          <p:nvPr/>
        </p:nvSpPr>
        <p:spPr bwMode="auto">
          <a:xfrm>
            <a:off x="5095875" y="18351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9" name="Line 19"/>
          <p:cNvSpPr>
            <a:spLocks noChangeShapeType="1"/>
          </p:cNvSpPr>
          <p:nvPr/>
        </p:nvSpPr>
        <p:spPr bwMode="auto">
          <a:xfrm flipV="1">
            <a:off x="5400675" y="213995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8200" name="Rectangle 21"/>
          <p:cNvSpPr>
            <a:spLocks noChangeArrowheads="1"/>
          </p:cNvSpPr>
          <p:nvPr/>
        </p:nvSpPr>
        <p:spPr bwMode="auto">
          <a:xfrm>
            <a:off x="6924675" y="18351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201" name="Group 36"/>
          <p:cNvGrpSpPr>
            <a:grpSpLocks/>
          </p:cNvGrpSpPr>
          <p:nvPr/>
        </p:nvGrpSpPr>
        <p:grpSpPr bwMode="auto">
          <a:xfrm>
            <a:off x="2657475" y="1835150"/>
            <a:ext cx="609600" cy="609600"/>
            <a:chOff x="1728" y="2880"/>
            <a:chExt cx="384" cy="384"/>
          </a:xfrm>
        </p:grpSpPr>
        <p:sp>
          <p:nvSpPr>
            <p:cNvPr id="8221" name="Rectangle 14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2" name="Text Box 23"/>
            <p:cNvSpPr txBox="1">
              <a:spLocks noChangeArrowheads="1"/>
            </p:cNvSpPr>
            <p:nvPr/>
          </p:nvSpPr>
          <p:spPr bwMode="auto">
            <a:xfrm>
              <a:off x="1819" y="2966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solidFill>
                    <a:schemeClr val="bg1"/>
                  </a:solidFill>
                  <a:latin typeface="Tahoma" pitchFamily="34" charset="0"/>
                </a:rPr>
                <a:t>A</a:t>
              </a:r>
            </a:p>
          </p:txBody>
        </p:sp>
      </p:grpSp>
      <p:sp>
        <p:nvSpPr>
          <p:cNvPr id="8202" name="Text Box 29"/>
          <p:cNvSpPr txBox="1">
            <a:spLocks noChangeArrowheads="1"/>
          </p:cNvSpPr>
          <p:nvPr/>
        </p:nvSpPr>
        <p:spPr bwMode="auto">
          <a:xfrm>
            <a:off x="7050088" y="1943100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Tahoma" pitchFamily="34" charset="0"/>
                <a:sym typeface="Symbol" pitchFamily="18" charset="2"/>
              </a:rPr>
              <a:t></a:t>
            </a:r>
            <a:endParaRPr lang="zh-CN" altLang="en-US">
              <a:latin typeface="Tahoma" pitchFamily="34" charset="0"/>
            </a:endParaRPr>
          </a:p>
        </p:txBody>
      </p:sp>
      <p:sp>
        <p:nvSpPr>
          <p:cNvPr id="8203" name="Rectangle 31"/>
          <p:cNvSpPr>
            <a:spLocks noChangeArrowheads="1"/>
          </p:cNvSpPr>
          <p:nvPr/>
        </p:nvSpPr>
        <p:spPr bwMode="auto">
          <a:xfrm>
            <a:off x="1438275" y="18288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04" name="Line 13"/>
          <p:cNvSpPr>
            <a:spLocks noChangeShapeType="1"/>
          </p:cNvSpPr>
          <p:nvPr/>
        </p:nvSpPr>
        <p:spPr bwMode="auto">
          <a:xfrm flipV="1">
            <a:off x="1743075" y="213995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8205" name="Text Box 34"/>
          <p:cNvSpPr txBox="1">
            <a:spLocks noChangeArrowheads="1"/>
          </p:cNvSpPr>
          <p:nvPr/>
        </p:nvSpPr>
        <p:spPr bwMode="auto">
          <a:xfrm>
            <a:off x="1371600" y="2520950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solidFill>
                  <a:schemeClr val="folHlink"/>
                </a:solidFill>
                <a:latin typeface="Tahoma" pitchFamily="34" charset="0"/>
              </a:rPr>
              <a:t>Head</a:t>
            </a:r>
          </a:p>
        </p:txBody>
      </p:sp>
      <p:grpSp>
        <p:nvGrpSpPr>
          <p:cNvPr id="8206" name="Group 37"/>
          <p:cNvGrpSpPr>
            <a:grpSpLocks/>
          </p:cNvGrpSpPr>
          <p:nvPr/>
        </p:nvGrpSpPr>
        <p:grpSpPr bwMode="auto">
          <a:xfrm>
            <a:off x="4486275" y="1835150"/>
            <a:ext cx="609600" cy="609600"/>
            <a:chOff x="1728" y="2880"/>
            <a:chExt cx="384" cy="384"/>
          </a:xfrm>
        </p:grpSpPr>
        <p:sp>
          <p:nvSpPr>
            <p:cNvPr id="8219" name="Rectangle 38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0" name="Text Box 39"/>
            <p:cNvSpPr txBox="1">
              <a:spLocks noChangeArrowheads="1"/>
            </p:cNvSpPr>
            <p:nvPr/>
          </p:nvSpPr>
          <p:spPr bwMode="auto">
            <a:xfrm>
              <a:off x="1820" y="2966"/>
              <a:ext cx="21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solidFill>
                    <a:schemeClr val="bg1"/>
                  </a:solidFill>
                  <a:latin typeface="Tahoma" pitchFamily="34" charset="0"/>
                </a:rPr>
                <a:t>B</a:t>
              </a:r>
            </a:p>
          </p:txBody>
        </p:sp>
      </p:grpSp>
      <p:grpSp>
        <p:nvGrpSpPr>
          <p:cNvPr id="8207" name="Group 40"/>
          <p:cNvGrpSpPr>
            <a:grpSpLocks/>
          </p:cNvGrpSpPr>
          <p:nvPr/>
        </p:nvGrpSpPr>
        <p:grpSpPr bwMode="auto">
          <a:xfrm>
            <a:off x="6315075" y="1835150"/>
            <a:ext cx="609600" cy="609600"/>
            <a:chOff x="1728" y="2880"/>
            <a:chExt cx="384" cy="384"/>
          </a:xfrm>
        </p:grpSpPr>
        <p:sp>
          <p:nvSpPr>
            <p:cNvPr id="8217" name="Rectangle 41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8" name="Text Box 42"/>
            <p:cNvSpPr txBox="1">
              <a:spLocks noChangeArrowheads="1"/>
            </p:cNvSpPr>
            <p:nvPr/>
          </p:nvSpPr>
          <p:spPr bwMode="auto">
            <a:xfrm>
              <a:off x="1819" y="2966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solidFill>
                    <a:schemeClr val="bg1"/>
                  </a:solidFill>
                  <a:latin typeface="Tahoma" pitchFamily="34" charset="0"/>
                </a:rPr>
                <a:t>C</a:t>
              </a:r>
            </a:p>
          </p:txBody>
        </p:sp>
      </p:grpSp>
      <p:sp>
        <p:nvSpPr>
          <p:cNvPr id="8208" name="Rectangle 43"/>
          <p:cNvSpPr>
            <a:spLocks noChangeArrowheads="1"/>
          </p:cNvSpPr>
          <p:nvPr/>
        </p:nvSpPr>
        <p:spPr bwMode="auto">
          <a:xfrm>
            <a:off x="7645400" y="5422900"/>
            <a:ext cx="9144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209" name="Group 44"/>
          <p:cNvGrpSpPr>
            <a:grpSpLocks/>
          </p:cNvGrpSpPr>
          <p:nvPr/>
        </p:nvGrpSpPr>
        <p:grpSpPr bwMode="auto">
          <a:xfrm>
            <a:off x="6578600" y="5422900"/>
            <a:ext cx="1066800" cy="609600"/>
            <a:chOff x="1728" y="2880"/>
            <a:chExt cx="384" cy="384"/>
          </a:xfrm>
        </p:grpSpPr>
        <p:sp>
          <p:nvSpPr>
            <p:cNvPr id="8215" name="Rectangle 45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6" name="Text Box 46"/>
            <p:cNvSpPr txBox="1">
              <a:spLocks noChangeArrowheads="1"/>
            </p:cNvSpPr>
            <p:nvPr/>
          </p:nvSpPr>
          <p:spPr bwMode="auto">
            <a:xfrm>
              <a:off x="1864" y="2966"/>
              <a:ext cx="12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solidFill>
                    <a:schemeClr val="bg1"/>
                  </a:solidFill>
                  <a:latin typeface="Tahoma" pitchFamily="34" charset="0"/>
                </a:rPr>
                <a:t>A</a:t>
              </a:r>
            </a:p>
          </p:txBody>
        </p:sp>
      </p:grpSp>
      <p:sp>
        <p:nvSpPr>
          <p:cNvPr id="8210" name="Text Box 51"/>
          <p:cNvSpPr txBox="1">
            <a:spLocks noChangeArrowheads="1"/>
          </p:cNvSpPr>
          <p:nvPr/>
        </p:nvSpPr>
        <p:spPr bwMode="auto">
          <a:xfrm>
            <a:off x="6781800" y="6110288"/>
            <a:ext cx="685800" cy="366712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1800"/>
              <a:t>data</a:t>
            </a:r>
          </a:p>
        </p:txBody>
      </p:sp>
      <p:sp>
        <p:nvSpPr>
          <p:cNvPr id="8211" name="Text Box 53"/>
          <p:cNvSpPr txBox="1">
            <a:spLocks noChangeArrowheads="1"/>
          </p:cNvSpPr>
          <p:nvPr/>
        </p:nvSpPr>
        <p:spPr bwMode="auto">
          <a:xfrm>
            <a:off x="7620000" y="6110288"/>
            <a:ext cx="990600" cy="366712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1800"/>
              <a:t>pointer</a:t>
            </a:r>
          </a:p>
        </p:txBody>
      </p:sp>
      <p:sp>
        <p:nvSpPr>
          <p:cNvPr id="8212" name="Rectangle 54"/>
          <p:cNvSpPr>
            <a:spLocks noChangeArrowheads="1"/>
          </p:cNvSpPr>
          <p:nvPr/>
        </p:nvSpPr>
        <p:spPr bwMode="auto">
          <a:xfrm>
            <a:off x="5562600" y="5029200"/>
            <a:ext cx="3352800" cy="1600200"/>
          </a:xfrm>
          <a:prstGeom prst="rect">
            <a:avLst/>
          </a:prstGeom>
          <a:noFill/>
          <a:ln w="31750">
            <a:solidFill>
              <a:schemeClr val="folHlink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13" name="Text Box 55"/>
          <p:cNvSpPr txBox="1">
            <a:spLocks noChangeArrowheads="1"/>
          </p:cNvSpPr>
          <p:nvPr/>
        </p:nvSpPr>
        <p:spPr bwMode="auto">
          <a:xfrm>
            <a:off x="5638800" y="5119688"/>
            <a:ext cx="838200" cy="366712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1800"/>
              <a:t>node</a:t>
            </a:r>
          </a:p>
        </p:txBody>
      </p:sp>
      <p:sp>
        <p:nvSpPr>
          <p:cNvPr id="8214" name="Line 56"/>
          <p:cNvSpPr>
            <a:spLocks noChangeShapeType="1"/>
          </p:cNvSpPr>
          <p:nvPr/>
        </p:nvSpPr>
        <p:spPr bwMode="auto">
          <a:xfrm flipV="1">
            <a:off x="8153400" y="57150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A Simple Linked List Class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676400"/>
            <a:ext cx="7848600" cy="2590800"/>
          </a:xfrm>
        </p:spPr>
        <p:txBody>
          <a:bodyPr/>
          <a:lstStyle/>
          <a:p>
            <a:r>
              <a:rPr lang="en-US" altLang="zh-CN" smtClean="0"/>
              <a:t>We use two classes: </a:t>
            </a:r>
            <a:r>
              <a:rPr lang="en-US" altLang="zh-CN" b="1" smtClean="0">
                <a:solidFill>
                  <a:srgbClr val="99FF33"/>
                </a:solidFill>
                <a:latin typeface="Courier New" pitchFamily="49" charset="0"/>
              </a:rPr>
              <a:t>Node</a:t>
            </a:r>
            <a:r>
              <a:rPr lang="en-US" altLang="zh-CN" smtClean="0"/>
              <a:t> and </a:t>
            </a:r>
            <a:r>
              <a:rPr lang="en-US" altLang="zh-CN" b="1" smtClean="0">
                <a:solidFill>
                  <a:srgbClr val="99FF33"/>
                </a:solidFill>
                <a:latin typeface="Courier New" pitchFamily="49" charset="0"/>
              </a:rPr>
              <a:t>List</a:t>
            </a:r>
          </a:p>
          <a:p>
            <a:r>
              <a:rPr lang="en-US" altLang="zh-CN" smtClean="0"/>
              <a:t>Declare </a:t>
            </a:r>
            <a:r>
              <a:rPr lang="en-US" altLang="zh-CN" smtClean="0">
                <a:latin typeface="Courier New" pitchFamily="49" charset="0"/>
              </a:rPr>
              <a:t>Node </a:t>
            </a:r>
            <a:r>
              <a:rPr lang="en-US" altLang="zh-CN" smtClean="0"/>
              <a:t>class for the nodes</a:t>
            </a:r>
          </a:p>
          <a:p>
            <a:pPr lvl="1"/>
            <a:r>
              <a:rPr lang="en-US" altLang="zh-CN" smtClean="0">
                <a:latin typeface="Courier New" pitchFamily="49" charset="0"/>
              </a:rPr>
              <a:t>data</a:t>
            </a:r>
            <a:r>
              <a:rPr lang="en-US" altLang="zh-CN" smtClean="0"/>
              <a:t>: </a:t>
            </a:r>
            <a:r>
              <a:rPr lang="en-US" altLang="zh-CN" smtClean="0">
                <a:solidFill>
                  <a:schemeClr val="accent2"/>
                </a:solidFill>
                <a:latin typeface="Courier New" pitchFamily="49" charset="0"/>
              </a:rPr>
              <a:t>double</a:t>
            </a:r>
            <a:r>
              <a:rPr lang="en-US" altLang="zh-CN" smtClean="0"/>
              <a:t>-type data in this example</a:t>
            </a:r>
          </a:p>
          <a:p>
            <a:pPr lvl="1"/>
            <a:r>
              <a:rPr lang="en-US" altLang="zh-CN" smtClean="0">
                <a:latin typeface="Courier New" pitchFamily="49" charset="0"/>
              </a:rPr>
              <a:t>next</a:t>
            </a:r>
            <a:r>
              <a:rPr lang="en-US" altLang="zh-CN" smtClean="0"/>
              <a:t>: a pointer to the next node in the list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838200" y="4175125"/>
            <a:ext cx="7499350" cy="1616075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class Node {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public: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	double	data;		// data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	Node*		next;		// pointer to next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A Simple Linked List Class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524000"/>
            <a:ext cx="7848600" cy="144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smtClean="0"/>
              <a:t>Declare </a:t>
            </a:r>
            <a:r>
              <a:rPr lang="en-US" altLang="zh-CN" sz="2400" smtClean="0">
                <a:latin typeface="Courier New" pitchFamily="49" charset="0"/>
              </a:rPr>
              <a:t>List</a:t>
            </a:r>
            <a:r>
              <a:rPr lang="en-US" altLang="zh-CN" sz="2400" smtClean="0"/>
              <a:t>, which contains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latin typeface="Courier New" pitchFamily="49" charset="0"/>
              </a:rPr>
              <a:t>head</a:t>
            </a:r>
            <a:r>
              <a:rPr lang="en-US" altLang="zh-CN" sz="2000" smtClean="0"/>
              <a:t>: a pointer to the first node in the list.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 smtClean="0"/>
              <a:t>    Since the list is empty initially, </a:t>
            </a:r>
            <a:r>
              <a:rPr lang="en-US" altLang="zh-CN" sz="2000" smtClean="0">
                <a:latin typeface="Courier New" pitchFamily="49" charset="0"/>
              </a:rPr>
              <a:t>head</a:t>
            </a:r>
            <a:r>
              <a:rPr lang="en-US" altLang="zh-CN" sz="2000" smtClean="0"/>
              <a:t> is set to </a:t>
            </a:r>
            <a:r>
              <a:rPr lang="en-US" altLang="zh-CN" sz="2000" smtClean="0">
                <a:latin typeface="Courier New" pitchFamily="49" charset="0"/>
              </a:rPr>
              <a:t>NULL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/>
              <a:t>Operations on </a:t>
            </a:r>
            <a:r>
              <a:rPr lang="en-US" altLang="zh-CN" sz="2000" smtClean="0">
                <a:latin typeface="Courier New" pitchFamily="49" charset="0"/>
              </a:rPr>
              <a:t>List</a:t>
            </a:r>
            <a:endParaRPr lang="en-US" altLang="zh-CN" sz="2000" smtClean="0"/>
          </a:p>
        </p:txBody>
      </p:sp>
      <p:sp>
        <p:nvSpPr>
          <p:cNvPr id="16459" name="Rectangle 75"/>
          <p:cNvSpPr>
            <a:spLocks noChangeArrowheads="1"/>
          </p:cNvSpPr>
          <p:nvPr/>
        </p:nvSpPr>
        <p:spPr bwMode="auto">
          <a:xfrm>
            <a:off x="876300" y="2967038"/>
            <a:ext cx="7581900" cy="3662362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</a:rPr>
              <a:t>class List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</a:rPr>
              <a:t>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</a:rPr>
              <a:t>	List(void) { head = NULL; }	// constructor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</a:rPr>
              <a:t>	~List(void);				// destructor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>
              <a:latin typeface="Courier New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</a:rPr>
              <a:t>	bool IsEmpty() { return head == NULL;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</a:rPr>
              <a:t>	Node* InsertNode(int index, double x);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</a:rPr>
              <a:t>	int FindNode(double x);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</a:rPr>
              <a:t>	int DeleteNode(double x);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</a:rPr>
              <a:t>	void DisplayList(void);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</a:rPr>
              <a:t>private: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</a:rPr>
              <a:t>	Node* head;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A Simple Linked List Class 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smtClean="0"/>
              <a:t>Operations of </a:t>
            </a:r>
            <a:r>
              <a:rPr lang="en-US" altLang="zh-CN" smtClean="0">
                <a:latin typeface="Courier New" pitchFamily="49" charset="0"/>
              </a:rPr>
              <a:t>List</a:t>
            </a:r>
          </a:p>
          <a:p>
            <a:pPr lvl="1"/>
            <a:r>
              <a:rPr lang="en-US" altLang="zh-CN" smtClean="0">
                <a:latin typeface="Courier New" pitchFamily="49" charset="0"/>
              </a:rPr>
              <a:t>IsEmpty</a:t>
            </a:r>
            <a:r>
              <a:rPr lang="en-US" altLang="zh-CN" smtClean="0"/>
              <a:t>: determine whether or not the list is empty</a:t>
            </a:r>
          </a:p>
          <a:p>
            <a:pPr lvl="1"/>
            <a:r>
              <a:rPr lang="en-US" altLang="zh-CN" smtClean="0">
                <a:latin typeface="Courier New" pitchFamily="49" charset="0"/>
              </a:rPr>
              <a:t>InsertNode</a:t>
            </a:r>
            <a:r>
              <a:rPr lang="en-US" altLang="zh-CN" smtClean="0"/>
              <a:t>: insert a new node at a particular position</a:t>
            </a:r>
          </a:p>
          <a:p>
            <a:pPr lvl="1"/>
            <a:r>
              <a:rPr lang="en-US" altLang="zh-CN" smtClean="0">
                <a:latin typeface="Courier New" pitchFamily="49" charset="0"/>
              </a:rPr>
              <a:t>FindNode</a:t>
            </a:r>
            <a:r>
              <a:rPr lang="en-US" altLang="zh-CN" smtClean="0"/>
              <a:t>: find a node with a given value</a:t>
            </a:r>
          </a:p>
          <a:p>
            <a:pPr lvl="1"/>
            <a:r>
              <a:rPr lang="en-US" altLang="zh-CN" smtClean="0">
                <a:latin typeface="Courier New" pitchFamily="49" charset="0"/>
              </a:rPr>
              <a:t>DeleteNode</a:t>
            </a:r>
            <a:r>
              <a:rPr lang="en-US" altLang="zh-CN" smtClean="0"/>
              <a:t>: delete a node with a given value</a:t>
            </a:r>
          </a:p>
          <a:p>
            <a:pPr lvl="1"/>
            <a:r>
              <a:rPr lang="en-US" altLang="zh-CN" smtClean="0">
                <a:latin typeface="Courier New" pitchFamily="49" charset="0"/>
              </a:rPr>
              <a:t>DisplayList</a:t>
            </a:r>
            <a:r>
              <a:rPr lang="en-US" altLang="zh-CN" smtClean="0"/>
              <a:t>: print all the nodes in the list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Inserting a new node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676400"/>
            <a:ext cx="8610600" cy="4572000"/>
          </a:xfrm>
        </p:spPr>
        <p:txBody>
          <a:bodyPr/>
          <a:lstStyle/>
          <a:p>
            <a:pPr marL="533400" indent="-533400"/>
            <a:r>
              <a:rPr lang="en-US" altLang="zh-CN" sz="2400" smtClean="0">
                <a:latin typeface="Courier New" pitchFamily="49" charset="0"/>
              </a:rPr>
              <a:t>Node* InsertNode(int index, double x) </a:t>
            </a:r>
          </a:p>
          <a:p>
            <a:pPr marL="914400" lvl="1" indent="-457200"/>
            <a:r>
              <a:rPr lang="en-US" altLang="zh-CN" sz="2000" smtClean="0"/>
              <a:t>Insert a node with data equal to </a:t>
            </a:r>
            <a:r>
              <a:rPr lang="en-US" altLang="zh-CN" sz="2000" smtClean="0">
                <a:latin typeface="Courier New" pitchFamily="49" charset="0"/>
              </a:rPr>
              <a:t>x</a:t>
            </a:r>
            <a:r>
              <a:rPr lang="en-US" altLang="zh-CN" sz="2000" smtClean="0"/>
              <a:t> after the </a:t>
            </a:r>
            <a:r>
              <a:rPr lang="en-US" altLang="zh-CN" sz="2000" smtClean="0">
                <a:latin typeface="Courier New" pitchFamily="49" charset="0"/>
              </a:rPr>
              <a:t>index’</a:t>
            </a:r>
            <a:r>
              <a:rPr lang="en-US" altLang="zh-CN" sz="2000" smtClean="0"/>
              <a:t>th</a:t>
            </a:r>
            <a:r>
              <a:rPr lang="en-US" altLang="zh-CN" sz="2000" smtClean="0">
                <a:latin typeface="Courier New" pitchFamily="49" charset="0"/>
              </a:rPr>
              <a:t> </a:t>
            </a:r>
            <a:r>
              <a:rPr lang="en-US" altLang="zh-CN" sz="2000" smtClean="0"/>
              <a:t>elements. </a:t>
            </a:r>
            <a:r>
              <a:rPr lang="en-US" altLang="zh-CN" sz="1600" smtClean="0"/>
              <a:t>(i.e., when </a:t>
            </a:r>
            <a:r>
              <a:rPr lang="en-US" altLang="zh-CN" sz="1600" smtClean="0">
                <a:latin typeface="Courier New" pitchFamily="49" charset="0"/>
              </a:rPr>
              <a:t>index = 0</a:t>
            </a:r>
            <a:r>
              <a:rPr lang="en-US" altLang="zh-CN" sz="1600" smtClean="0"/>
              <a:t>, insert the node as the first element; </a:t>
            </a:r>
          </a:p>
          <a:p>
            <a:pPr marL="914400" lvl="1" indent="-457200">
              <a:buFont typeface="Monotype Sorts" pitchFamily="2" charset="2"/>
              <a:buNone/>
            </a:pPr>
            <a:r>
              <a:rPr lang="en-US" altLang="zh-CN" sz="1600" smtClean="0"/>
              <a:t>        when </a:t>
            </a:r>
            <a:r>
              <a:rPr lang="en-US" altLang="zh-CN" sz="1600" smtClean="0">
                <a:latin typeface="Courier New" pitchFamily="49" charset="0"/>
              </a:rPr>
              <a:t>index = 1</a:t>
            </a:r>
            <a:r>
              <a:rPr lang="en-US" altLang="zh-CN" sz="1600" smtClean="0"/>
              <a:t>, insert the node after the first element, and so on)</a:t>
            </a:r>
          </a:p>
          <a:p>
            <a:pPr marL="914400" lvl="1" indent="-457200"/>
            <a:r>
              <a:rPr lang="en-US" altLang="zh-CN" sz="2000" smtClean="0"/>
              <a:t>If the insertion is successful, return the inserted node. </a:t>
            </a:r>
          </a:p>
          <a:p>
            <a:pPr marL="914400" lvl="1" indent="-457200">
              <a:buFont typeface="Monotype Sorts" pitchFamily="2" charset="2"/>
              <a:buNone/>
            </a:pPr>
            <a:r>
              <a:rPr lang="en-US" altLang="zh-CN" sz="2000" smtClean="0"/>
              <a:t>       Otherwise, return </a:t>
            </a:r>
            <a:r>
              <a:rPr lang="en-US" altLang="zh-CN" sz="2000" smtClean="0">
                <a:latin typeface="Courier New" pitchFamily="49" charset="0"/>
              </a:rPr>
              <a:t>NULL</a:t>
            </a:r>
            <a:r>
              <a:rPr lang="en-US" altLang="zh-CN" sz="2000" smtClean="0"/>
              <a:t>. </a:t>
            </a:r>
          </a:p>
          <a:p>
            <a:pPr marL="914400" lvl="1" indent="-457200">
              <a:buFont typeface="Monotype Sorts" pitchFamily="2" charset="2"/>
              <a:buNone/>
            </a:pPr>
            <a:r>
              <a:rPr lang="en-US" altLang="zh-CN" sz="1600" smtClean="0"/>
              <a:t>        (If </a:t>
            </a:r>
            <a:r>
              <a:rPr lang="en-US" altLang="zh-CN" sz="1600" smtClean="0">
                <a:latin typeface="Courier New" pitchFamily="49" charset="0"/>
              </a:rPr>
              <a:t>index</a:t>
            </a:r>
            <a:r>
              <a:rPr lang="en-US" altLang="zh-CN" sz="1600" smtClean="0"/>
              <a:t> is &lt; 0 or &gt; length of the list, the insertion will fail.)</a:t>
            </a:r>
          </a:p>
          <a:p>
            <a:pPr marL="533400" indent="-533400"/>
            <a:r>
              <a:rPr lang="en-US" altLang="zh-CN" sz="2400" smtClean="0"/>
              <a:t>Steps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zh-CN" sz="2000" smtClean="0"/>
              <a:t>Locate </a:t>
            </a:r>
            <a:r>
              <a:rPr lang="en-US" altLang="zh-CN" sz="2000" smtClean="0">
                <a:latin typeface="Courier New" pitchFamily="49" charset="0"/>
              </a:rPr>
              <a:t>index</a:t>
            </a:r>
            <a:r>
              <a:rPr lang="en-US" altLang="zh-CN" sz="2000" smtClean="0"/>
              <a:t>’th element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zh-CN" sz="2000" smtClean="0"/>
              <a:t>Allocate memory for the new node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zh-CN" sz="2000" smtClean="0"/>
              <a:t>Point the new node to its successor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zh-CN" sz="2000" smtClean="0"/>
              <a:t>Point the new node’s predecessor to the new node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endParaRPr lang="en-US" altLang="zh-CN" sz="2000" smtClean="0"/>
          </a:p>
          <a:p>
            <a:pPr marL="914400" lvl="1" indent="-457200"/>
            <a:endParaRPr lang="zh-CN" altLang="en-US" sz="2000" smtClean="0"/>
          </a:p>
        </p:txBody>
      </p:sp>
      <p:sp>
        <p:nvSpPr>
          <p:cNvPr id="12292" name="Rectangle 5"/>
          <p:cNvSpPr>
            <a:spLocks noChangeArrowheads="1"/>
          </p:cNvSpPr>
          <p:nvPr/>
        </p:nvSpPr>
        <p:spPr bwMode="auto">
          <a:xfrm>
            <a:off x="8477250" y="4881563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8096250" y="4883150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4" name="Rectangle 7"/>
          <p:cNvSpPr>
            <a:spLocks noChangeArrowheads="1"/>
          </p:cNvSpPr>
          <p:nvPr/>
        </p:nvSpPr>
        <p:spPr bwMode="auto">
          <a:xfrm>
            <a:off x="7789863" y="5527675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Rectangle 8"/>
          <p:cNvSpPr>
            <a:spLocks noChangeArrowheads="1"/>
          </p:cNvSpPr>
          <p:nvPr/>
        </p:nvSpPr>
        <p:spPr bwMode="auto">
          <a:xfrm>
            <a:off x="7408863" y="5534025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Line 9"/>
          <p:cNvSpPr>
            <a:spLocks noChangeShapeType="1"/>
          </p:cNvSpPr>
          <p:nvPr/>
        </p:nvSpPr>
        <p:spPr bwMode="auto">
          <a:xfrm flipV="1">
            <a:off x="8696325" y="5057775"/>
            <a:ext cx="371475" cy="9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297" name="Text Box 10"/>
          <p:cNvSpPr txBox="1">
            <a:spLocks noChangeArrowheads="1"/>
          </p:cNvSpPr>
          <p:nvPr/>
        </p:nvSpPr>
        <p:spPr bwMode="auto">
          <a:xfrm>
            <a:off x="7246938" y="5943600"/>
            <a:ext cx="10588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0">
                <a:solidFill>
                  <a:schemeClr val="folHlink"/>
                </a:solidFill>
                <a:latin typeface="Courier New" pitchFamily="49" charset="0"/>
              </a:rPr>
              <a:t>newNode</a:t>
            </a:r>
          </a:p>
        </p:txBody>
      </p:sp>
      <p:sp>
        <p:nvSpPr>
          <p:cNvPr id="12298" name="Line 11"/>
          <p:cNvSpPr>
            <a:spLocks noChangeShapeType="1"/>
          </p:cNvSpPr>
          <p:nvPr/>
        </p:nvSpPr>
        <p:spPr bwMode="auto">
          <a:xfrm flipV="1">
            <a:off x="8001000" y="5257800"/>
            <a:ext cx="22860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299" name="Rectangle 12"/>
          <p:cNvSpPr>
            <a:spLocks noChangeArrowheads="1"/>
          </p:cNvSpPr>
          <p:nvPr/>
        </p:nvSpPr>
        <p:spPr bwMode="auto">
          <a:xfrm>
            <a:off x="7129463" y="4881563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Rectangle 13"/>
          <p:cNvSpPr>
            <a:spLocks noChangeArrowheads="1"/>
          </p:cNvSpPr>
          <p:nvPr/>
        </p:nvSpPr>
        <p:spPr bwMode="auto">
          <a:xfrm>
            <a:off x="6748463" y="4883150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1" name="Line 14"/>
          <p:cNvSpPr>
            <a:spLocks noChangeShapeType="1"/>
          </p:cNvSpPr>
          <p:nvPr/>
        </p:nvSpPr>
        <p:spPr bwMode="auto">
          <a:xfrm>
            <a:off x="7348538" y="5067300"/>
            <a:ext cx="682625" cy="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302" name="Line 15"/>
          <p:cNvSpPr>
            <a:spLocks noChangeShapeType="1"/>
          </p:cNvSpPr>
          <p:nvPr/>
        </p:nvSpPr>
        <p:spPr bwMode="auto">
          <a:xfrm>
            <a:off x="7383463" y="5181600"/>
            <a:ext cx="0" cy="3238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303" name="Text Box 16"/>
          <p:cNvSpPr txBox="1">
            <a:spLocks noChangeArrowheads="1"/>
          </p:cNvSpPr>
          <p:nvPr/>
        </p:nvSpPr>
        <p:spPr bwMode="auto">
          <a:xfrm>
            <a:off x="6629400" y="4343400"/>
            <a:ext cx="1058863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0">
                <a:solidFill>
                  <a:schemeClr val="folHlink"/>
                </a:solidFill>
                <a:latin typeface="Courier New" pitchFamily="49" charset="0"/>
              </a:rPr>
              <a:t>index’th element</a:t>
            </a:r>
          </a:p>
        </p:txBody>
      </p:sp>
      <p:sp>
        <p:nvSpPr>
          <p:cNvPr id="12304" name="Line 17"/>
          <p:cNvSpPr>
            <a:spLocks noChangeShapeType="1"/>
          </p:cNvSpPr>
          <p:nvPr/>
        </p:nvSpPr>
        <p:spPr bwMode="auto">
          <a:xfrm>
            <a:off x="7772400" y="4953000"/>
            <a:ext cx="76200" cy="228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305" name="Line 18"/>
          <p:cNvSpPr>
            <a:spLocks noChangeShapeType="1"/>
          </p:cNvSpPr>
          <p:nvPr/>
        </p:nvSpPr>
        <p:spPr bwMode="auto">
          <a:xfrm flipH="1">
            <a:off x="7696200" y="4953000"/>
            <a:ext cx="228600" cy="228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Inserting a new node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981200"/>
            <a:ext cx="8534400" cy="4114800"/>
          </a:xfrm>
        </p:spPr>
        <p:txBody>
          <a:bodyPr/>
          <a:lstStyle/>
          <a:p>
            <a:pPr marL="533400" indent="-533400"/>
            <a:r>
              <a:rPr lang="en-US" altLang="zh-CN" smtClean="0"/>
              <a:t>Possible cases of </a:t>
            </a:r>
            <a:r>
              <a:rPr lang="en-US" altLang="zh-CN" smtClean="0">
                <a:latin typeface="Courier New" pitchFamily="49" charset="0"/>
              </a:rPr>
              <a:t>InsertNode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zh-CN" smtClean="0"/>
              <a:t>Insert into an empty list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zh-CN" smtClean="0"/>
              <a:t>Insert in front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zh-CN" smtClean="0"/>
              <a:t>Insert at back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zh-CN" smtClean="0"/>
              <a:t>Insert in middle</a:t>
            </a:r>
          </a:p>
          <a:p>
            <a:pPr marL="533400" indent="-533400"/>
            <a:r>
              <a:rPr lang="en-US" altLang="zh-CN" smtClean="0"/>
              <a:t>But, in fact, only need to handle two cases</a:t>
            </a:r>
          </a:p>
          <a:p>
            <a:pPr marL="914400" lvl="1" indent="-457200"/>
            <a:r>
              <a:rPr lang="en-US" altLang="zh-CN" smtClean="0"/>
              <a:t>Insert as the first node (Case 1 and Case 2)</a:t>
            </a:r>
          </a:p>
          <a:p>
            <a:pPr marL="914400" lvl="1" indent="-457200"/>
            <a:r>
              <a:rPr lang="en-US" altLang="zh-CN" smtClean="0"/>
              <a:t>Insert in the middle or at the end of the list (Case 3 and Case 4)</a:t>
            </a:r>
          </a:p>
          <a:p>
            <a:pPr marL="533400" indent="-533400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762000"/>
          </a:xfrm>
        </p:spPr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Inserting a new node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441325" y="1066800"/>
            <a:ext cx="8169275" cy="5715000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Node* List::InsertNode(int index, double x)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(index &lt; 0) return NULL;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int currIndex	=	1;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Node* currNode	=	head;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while (currNode &amp;&amp; index &gt; currIndex)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currNode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currIndex++;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(index &gt; 0 &amp;&amp; currNode == NULL) return NULL;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Node* newNode	=	new	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newNode-&gt;data	=	x;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(index == 0)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newNode-&gt;next	=	head;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head		=	newNode;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else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newNode-&gt;next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currNode-&gt;next	=	newNode;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return newNode;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066800" y="1371600"/>
            <a:ext cx="6172200" cy="2209800"/>
          </a:xfrm>
          <a:prstGeom prst="rect">
            <a:avLst/>
          </a:prstGeom>
          <a:noFill/>
          <a:ln w="31750">
            <a:solidFill>
              <a:srgbClr val="FFCC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AutoShape 7"/>
          <p:cNvSpPr>
            <a:spLocks/>
          </p:cNvSpPr>
          <p:nvPr/>
        </p:nvSpPr>
        <p:spPr bwMode="auto">
          <a:xfrm>
            <a:off x="6629400" y="990600"/>
            <a:ext cx="2514600" cy="1524000"/>
          </a:xfrm>
          <a:prstGeom prst="borderCallout1">
            <a:avLst>
              <a:gd name="adj1" fmla="val 7500"/>
              <a:gd name="adj2" fmla="val -3032"/>
              <a:gd name="adj3" fmla="val 64898"/>
              <a:gd name="adj4" fmla="val -36741"/>
            </a:avLst>
          </a:prstGeom>
          <a:solidFill>
            <a:schemeClr val="folHlink"/>
          </a:solidFill>
          <a:ln w="31750">
            <a:solidFill>
              <a:schemeClr val="hlink"/>
            </a:solidFill>
            <a:miter lim="800000"/>
            <a:headEnd type="triangle" w="sm" len="sm"/>
            <a:tailEnd type="none" w="sm" len="sm"/>
          </a:ln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zh-CN">
                <a:solidFill>
                  <a:schemeClr val="bg2"/>
                </a:solidFill>
              </a:rPr>
              <a:t>Try to locate </a:t>
            </a:r>
            <a:r>
              <a:rPr lang="en-US" altLang="zh-CN">
                <a:solidFill>
                  <a:schemeClr val="bg2"/>
                </a:solidFill>
                <a:latin typeface="Courier New" pitchFamily="49" charset="0"/>
              </a:rPr>
              <a:t>index</a:t>
            </a:r>
            <a:r>
              <a:rPr lang="en-US" altLang="zh-CN">
                <a:solidFill>
                  <a:schemeClr val="bg2"/>
                </a:solidFill>
              </a:rPr>
              <a:t>’th node. If it doesn’t exist, return </a:t>
            </a:r>
            <a:r>
              <a:rPr lang="en-US" altLang="zh-CN">
                <a:solidFill>
                  <a:schemeClr val="bg2"/>
                </a:solidFill>
                <a:latin typeface="Courier New" pitchFamily="49" charset="0"/>
              </a:rPr>
              <a:t>NULL</a:t>
            </a:r>
            <a:r>
              <a:rPr lang="en-US" altLang="zh-CN">
                <a:solidFill>
                  <a:schemeClr val="bg2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762000"/>
          </a:xfrm>
        </p:spPr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Inserting a new node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441325" y="1066800"/>
            <a:ext cx="8169275" cy="5715000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Node* List::InsertNode(int index, double x)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(index &lt; 0) return NULL;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int currIndex	=	1;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Node* currNode	=	head;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while (currNode &amp;&amp; index &gt; currIndex)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currNode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currIndex++;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(index &gt; 0 &amp;&amp; currNode == NULL) return NULL;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Node* newNode	=	new	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newNode-&gt;data	=	x;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(index == 0)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newNode-&gt;next	=	head;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head		=	newNode;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else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newNode-&gt;next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currNode-&gt;next	=	newNode;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return newNode;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143000" y="3733800"/>
            <a:ext cx="6172200" cy="609600"/>
          </a:xfrm>
          <a:prstGeom prst="rect">
            <a:avLst/>
          </a:prstGeom>
          <a:noFill/>
          <a:ln w="31750">
            <a:solidFill>
              <a:srgbClr val="FFCC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AutoShape 5"/>
          <p:cNvSpPr>
            <a:spLocks/>
          </p:cNvSpPr>
          <p:nvPr/>
        </p:nvSpPr>
        <p:spPr bwMode="auto">
          <a:xfrm>
            <a:off x="6629400" y="4495800"/>
            <a:ext cx="2514600" cy="381000"/>
          </a:xfrm>
          <a:prstGeom prst="borderCallout1">
            <a:avLst>
              <a:gd name="adj1" fmla="val 30000"/>
              <a:gd name="adj2" fmla="val -3032"/>
              <a:gd name="adj3" fmla="val -114167"/>
              <a:gd name="adj4" fmla="val -31185"/>
            </a:avLst>
          </a:prstGeom>
          <a:solidFill>
            <a:schemeClr val="folHlink"/>
          </a:solidFill>
          <a:ln w="31750">
            <a:solidFill>
              <a:schemeClr val="hlink"/>
            </a:solidFill>
            <a:miter lim="800000"/>
            <a:headEnd type="triangle" w="sm" len="sm"/>
            <a:tailEnd type="none" w="sm" len="sm"/>
          </a:ln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zh-CN">
                <a:solidFill>
                  <a:schemeClr val="bg2"/>
                </a:solidFill>
              </a:rPr>
              <a:t>Create a new 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762000"/>
          </a:xfrm>
        </p:spPr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Inserting a new node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441325" y="1066800"/>
            <a:ext cx="8169275" cy="5715000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Node* List::InsertNode(int index, double x)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(index &lt; 0) return NULL;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int currIndex	=	1;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Node* currNode	=	head;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while (currNode &amp;&amp; index &gt; currIndex)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currNode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currIndex++;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(index &gt; 0 &amp;&amp; currNode == NULL) return NULL;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Node* newNode	=	new	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newNode-&gt;data	=	x;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(index == 0)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newNode-&gt;next	=	head;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head		=	newNode;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else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newNode-&gt;next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currNode-&gt;next	=	newNode;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return newNode;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143000" y="4311650"/>
            <a:ext cx="6172200" cy="990600"/>
          </a:xfrm>
          <a:prstGeom prst="rect">
            <a:avLst/>
          </a:prstGeom>
          <a:noFill/>
          <a:ln w="31750">
            <a:solidFill>
              <a:srgbClr val="FFCC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AutoShape 5"/>
          <p:cNvSpPr>
            <a:spLocks/>
          </p:cNvSpPr>
          <p:nvPr/>
        </p:nvSpPr>
        <p:spPr bwMode="auto">
          <a:xfrm>
            <a:off x="6172200" y="3810000"/>
            <a:ext cx="2971800" cy="381000"/>
          </a:xfrm>
          <a:prstGeom prst="borderCallout1">
            <a:avLst>
              <a:gd name="adj1" fmla="val 30000"/>
              <a:gd name="adj2" fmla="val -2565"/>
              <a:gd name="adj3" fmla="val 176250"/>
              <a:gd name="adj4" fmla="val -8972"/>
            </a:avLst>
          </a:prstGeom>
          <a:solidFill>
            <a:schemeClr val="folHlink"/>
          </a:solidFill>
          <a:ln w="31750">
            <a:solidFill>
              <a:schemeClr val="hlink"/>
            </a:solidFill>
            <a:miter lim="800000"/>
            <a:headEnd type="triangle" w="sm" len="sm"/>
            <a:tailEnd type="none" w="sm" len="sm"/>
          </a:ln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zh-CN">
                <a:solidFill>
                  <a:schemeClr val="bg2"/>
                </a:solidFill>
              </a:rPr>
              <a:t>Insert as first element</a:t>
            </a: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8534400" y="4495800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Rectangle 8"/>
          <p:cNvSpPr>
            <a:spLocks noChangeArrowheads="1"/>
          </p:cNvSpPr>
          <p:nvPr/>
        </p:nvSpPr>
        <p:spPr bwMode="auto">
          <a:xfrm>
            <a:off x="8153400" y="4502150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Text Box 12"/>
          <p:cNvSpPr txBox="1">
            <a:spLocks noChangeArrowheads="1"/>
          </p:cNvSpPr>
          <p:nvPr/>
        </p:nvSpPr>
        <p:spPr bwMode="auto">
          <a:xfrm>
            <a:off x="7405688" y="4191000"/>
            <a:ext cx="5778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0">
                <a:solidFill>
                  <a:schemeClr val="folHlink"/>
                </a:solidFill>
              </a:rPr>
              <a:t>head</a:t>
            </a:r>
          </a:p>
        </p:txBody>
      </p:sp>
      <p:sp>
        <p:nvSpPr>
          <p:cNvPr id="16393" name="Rectangle 13"/>
          <p:cNvSpPr>
            <a:spLocks noChangeArrowheads="1"/>
          </p:cNvSpPr>
          <p:nvPr/>
        </p:nvSpPr>
        <p:spPr bwMode="auto">
          <a:xfrm>
            <a:off x="7543800" y="4502150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4" name="Line 11"/>
          <p:cNvSpPr>
            <a:spLocks noChangeShapeType="1"/>
          </p:cNvSpPr>
          <p:nvPr/>
        </p:nvSpPr>
        <p:spPr bwMode="auto">
          <a:xfrm flipV="1">
            <a:off x="7753350" y="4686300"/>
            <a:ext cx="371475" cy="9525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6395" name="Rectangle 14"/>
          <p:cNvSpPr>
            <a:spLocks noChangeArrowheads="1"/>
          </p:cNvSpPr>
          <p:nvPr/>
        </p:nvSpPr>
        <p:spPr bwMode="auto">
          <a:xfrm>
            <a:off x="8086725" y="5146675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6" name="Rectangle 15"/>
          <p:cNvSpPr>
            <a:spLocks noChangeArrowheads="1"/>
          </p:cNvSpPr>
          <p:nvPr/>
        </p:nvSpPr>
        <p:spPr bwMode="auto">
          <a:xfrm>
            <a:off x="7705725" y="5153025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7" name="Line 16"/>
          <p:cNvSpPr>
            <a:spLocks noChangeShapeType="1"/>
          </p:cNvSpPr>
          <p:nvPr/>
        </p:nvSpPr>
        <p:spPr bwMode="auto">
          <a:xfrm flipV="1">
            <a:off x="8753475" y="4676775"/>
            <a:ext cx="371475" cy="9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6398" name="Text Box 17"/>
          <p:cNvSpPr txBox="1">
            <a:spLocks noChangeArrowheads="1"/>
          </p:cNvSpPr>
          <p:nvPr/>
        </p:nvSpPr>
        <p:spPr bwMode="auto">
          <a:xfrm>
            <a:off x="7543800" y="5562600"/>
            <a:ext cx="10588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0">
                <a:solidFill>
                  <a:schemeClr val="folHlink"/>
                </a:solidFill>
                <a:latin typeface="Courier New" pitchFamily="49" charset="0"/>
              </a:rPr>
              <a:t>newNode</a:t>
            </a:r>
          </a:p>
        </p:txBody>
      </p:sp>
      <p:sp>
        <p:nvSpPr>
          <p:cNvPr id="16399" name="Line 18"/>
          <p:cNvSpPr>
            <a:spLocks noChangeShapeType="1"/>
          </p:cNvSpPr>
          <p:nvPr/>
        </p:nvSpPr>
        <p:spPr bwMode="auto">
          <a:xfrm>
            <a:off x="7772400" y="4800600"/>
            <a:ext cx="0" cy="3238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6400" name="Line 19"/>
          <p:cNvSpPr>
            <a:spLocks noChangeShapeType="1"/>
          </p:cNvSpPr>
          <p:nvPr/>
        </p:nvSpPr>
        <p:spPr bwMode="auto">
          <a:xfrm flipV="1">
            <a:off x="8305800" y="4876800"/>
            <a:ext cx="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762000"/>
          </a:xfrm>
        </p:spPr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Inserting a new node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441325" y="1066800"/>
            <a:ext cx="8169275" cy="5715000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Node* List::InsertNode(int index, double x)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(index &lt; 0) return NULL;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int currIndex	=	1;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Node* currNode	=	head;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while (currNode &amp;&amp; index &gt; currIndex)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currNode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currIndex++;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(index &gt; 0 &amp;&amp; currNode == NULL) return NULL;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Node* newNode	=	new	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newNode-&gt;data	=	x;	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(index == 0)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newNode-&gt;next	=	head;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head		=	newNode;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else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newNode-&gt;next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currNode-&gt;next	=	newNode;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return newNode;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1143000" y="5283200"/>
            <a:ext cx="5867400" cy="990600"/>
          </a:xfrm>
          <a:prstGeom prst="rect">
            <a:avLst/>
          </a:prstGeom>
          <a:noFill/>
          <a:ln w="31750">
            <a:solidFill>
              <a:srgbClr val="FFCC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AutoShape 5"/>
          <p:cNvSpPr>
            <a:spLocks/>
          </p:cNvSpPr>
          <p:nvPr/>
        </p:nvSpPr>
        <p:spPr bwMode="auto">
          <a:xfrm>
            <a:off x="6172200" y="4724400"/>
            <a:ext cx="2971800" cy="381000"/>
          </a:xfrm>
          <a:prstGeom prst="borderCallout1">
            <a:avLst>
              <a:gd name="adj1" fmla="val 30000"/>
              <a:gd name="adj2" fmla="val -2565"/>
              <a:gd name="adj3" fmla="val 176250"/>
              <a:gd name="adj4" fmla="val -8972"/>
            </a:avLst>
          </a:prstGeom>
          <a:solidFill>
            <a:schemeClr val="folHlink"/>
          </a:solidFill>
          <a:ln w="31750">
            <a:solidFill>
              <a:schemeClr val="hlink"/>
            </a:solidFill>
            <a:miter lim="800000"/>
            <a:headEnd type="triangle" w="sm" len="sm"/>
            <a:tailEnd type="none" w="sm" len="sm"/>
          </a:ln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zh-CN">
                <a:solidFill>
                  <a:schemeClr val="bg2"/>
                </a:solidFill>
              </a:rPr>
              <a:t>Insert after </a:t>
            </a:r>
            <a:r>
              <a:rPr lang="en-US" altLang="zh-CN">
                <a:solidFill>
                  <a:schemeClr val="bg2"/>
                </a:solidFill>
                <a:latin typeface="Courier New" pitchFamily="49" charset="0"/>
              </a:rPr>
              <a:t>currNode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8534400" y="5414963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8153400" y="5416550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6" name="Rectangle 11"/>
          <p:cNvSpPr>
            <a:spLocks noChangeArrowheads="1"/>
          </p:cNvSpPr>
          <p:nvPr/>
        </p:nvSpPr>
        <p:spPr bwMode="auto">
          <a:xfrm>
            <a:off x="8086725" y="6061075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7" name="Rectangle 12"/>
          <p:cNvSpPr>
            <a:spLocks noChangeArrowheads="1"/>
          </p:cNvSpPr>
          <p:nvPr/>
        </p:nvSpPr>
        <p:spPr bwMode="auto">
          <a:xfrm>
            <a:off x="7705725" y="6067425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8" name="Line 13"/>
          <p:cNvSpPr>
            <a:spLocks noChangeShapeType="1"/>
          </p:cNvSpPr>
          <p:nvPr/>
        </p:nvSpPr>
        <p:spPr bwMode="auto">
          <a:xfrm flipV="1">
            <a:off x="8753475" y="5591175"/>
            <a:ext cx="371475" cy="9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7419" name="Text Box 14"/>
          <p:cNvSpPr txBox="1">
            <a:spLocks noChangeArrowheads="1"/>
          </p:cNvSpPr>
          <p:nvPr/>
        </p:nvSpPr>
        <p:spPr bwMode="auto">
          <a:xfrm>
            <a:off x="7543800" y="6477000"/>
            <a:ext cx="10588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0">
                <a:solidFill>
                  <a:schemeClr val="folHlink"/>
                </a:solidFill>
                <a:latin typeface="Courier New" pitchFamily="49" charset="0"/>
              </a:rPr>
              <a:t>newNode</a:t>
            </a:r>
          </a:p>
        </p:txBody>
      </p:sp>
      <p:sp>
        <p:nvSpPr>
          <p:cNvPr id="17420" name="Line 16"/>
          <p:cNvSpPr>
            <a:spLocks noChangeShapeType="1"/>
          </p:cNvSpPr>
          <p:nvPr/>
        </p:nvSpPr>
        <p:spPr bwMode="auto">
          <a:xfrm flipV="1">
            <a:off x="8305800" y="5791200"/>
            <a:ext cx="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7421" name="Rectangle 20"/>
          <p:cNvSpPr>
            <a:spLocks noChangeArrowheads="1"/>
          </p:cNvSpPr>
          <p:nvPr/>
        </p:nvSpPr>
        <p:spPr bwMode="auto">
          <a:xfrm>
            <a:off x="7518400" y="5414963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2" name="Rectangle 21"/>
          <p:cNvSpPr>
            <a:spLocks noChangeArrowheads="1"/>
          </p:cNvSpPr>
          <p:nvPr/>
        </p:nvSpPr>
        <p:spPr bwMode="auto">
          <a:xfrm>
            <a:off x="7137400" y="5416550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3" name="Line 22"/>
          <p:cNvSpPr>
            <a:spLocks noChangeShapeType="1"/>
          </p:cNvSpPr>
          <p:nvPr/>
        </p:nvSpPr>
        <p:spPr bwMode="auto">
          <a:xfrm flipV="1">
            <a:off x="7737475" y="5591175"/>
            <a:ext cx="371475" cy="9525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7424" name="Line 15"/>
          <p:cNvSpPr>
            <a:spLocks noChangeShapeType="1"/>
          </p:cNvSpPr>
          <p:nvPr/>
        </p:nvSpPr>
        <p:spPr bwMode="auto">
          <a:xfrm>
            <a:off x="7772400" y="5715000"/>
            <a:ext cx="0" cy="3238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7425" name="Text Box 23"/>
          <p:cNvSpPr txBox="1">
            <a:spLocks noChangeArrowheads="1"/>
          </p:cNvSpPr>
          <p:nvPr/>
        </p:nvSpPr>
        <p:spPr bwMode="auto">
          <a:xfrm>
            <a:off x="7018338" y="5105400"/>
            <a:ext cx="10588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0">
                <a:solidFill>
                  <a:schemeClr val="folHlink"/>
                </a:solidFill>
                <a:latin typeface="Courier New" pitchFamily="49" charset="0"/>
              </a:rPr>
              <a:t>currNode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Finding a node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524000"/>
            <a:ext cx="7848600" cy="1828800"/>
          </a:xfrm>
        </p:spPr>
        <p:txBody>
          <a:bodyPr/>
          <a:lstStyle/>
          <a:p>
            <a:r>
              <a:rPr lang="en-US" altLang="zh-CN" sz="2400" smtClean="0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en-US" altLang="zh-CN" sz="2400" smtClean="0">
                <a:latin typeface="Courier New" pitchFamily="49" charset="0"/>
              </a:rPr>
              <a:t> FindNode(</a:t>
            </a:r>
            <a:r>
              <a:rPr lang="en-US" altLang="zh-CN" sz="2400" smtClean="0">
                <a:solidFill>
                  <a:schemeClr val="accent2"/>
                </a:solidFill>
                <a:latin typeface="Courier New" pitchFamily="49" charset="0"/>
              </a:rPr>
              <a:t>double</a:t>
            </a:r>
            <a:r>
              <a:rPr lang="en-US" altLang="zh-CN" sz="2400" smtClean="0">
                <a:latin typeface="Courier New" pitchFamily="49" charset="0"/>
              </a:rPr>
              <a:t> x)</a:t>
            </a:r>
          </a:p>
          <a:p>
            <a:pPr lvl="1"/>
            <a:r>
              <a:rPr lang="en-US" altLang="zh-CN" sz="2000" smtClean="0"/>
              <a:t>Search for a node with the value equal to </a:t>
            </a:r>
            <a:r>
              <a:rPr lang="en-US" altLang="zh-CN" sz="2000" smtClean="0">
                <a:latin typeface="Courier New" pitchFamily="49" charset="0"/>
              </a:rPr>
              <a:t>x</a:t>
            </a:r>
            <a:r>
              <a:rPr lang="en-US" altLang="zh-CN" sz="2000" smtClean="0"/>
              <a:t> in the list.</a:t>
            </a:r>
          </a:p>
          <a:p>
            <a:pPr lvl="1"/>
            <a:r>
              <a:rPr lang="en-US" altLang="zh-CN" sz="2000" smtClean="0"/>
              <a:t>If such a node is found, return its position. Otherwise, return 0.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685800" y="3336925"/>
            <a:ext cx="7346950" cy="3140075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int List::FindNode(double x) {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	Node* currNode	=	head;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	int currIndex	=	1;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	while (currNode &amp;&amp; currNode-&gt;data != x) {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		currNode	=	currNode-&gt;next;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		currIndex++;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	if (currNode) return currIndex;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	return 0;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762000"/>
          </a:xfrm>
        </p:spPr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Deleting a node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524000"/>
            <a:ext cx="7848600" cy="4572000"/>
          </a:xfrm>
        </p:spPr>
        <p:txBody>
          <a:bodyPr/>
          <a:lstStyle/>
          <a:p>
            <a:r>
              <a:rPr lang="en-US" altLang="zh-CN" sz="2000" smtClean="0">
                <a:latin typeface="Courier New" pitchFamily="49" charset="0"/>
                <a:cs typeface="Courier New" pitchFamily="49" charset="0"/>
              </a:rPr>
              <a:t>int DeleteNode(double x)</a:t>
            </a:r>
          </a:p>
          <a:p>
            <a:pPr lvl="1"/>
            <a:r>
              <a:rPr lang="en-US" altLang="zh-CN" sz="2000" smtClean="0">
                <a:cs typeface="Courier New" pitchFamily="49" charset="0"/>
              </a:rPr>
              <a:t>Delete a node with the value equal to </a:t>
            </a:r>
            <a:r>
              <a:rPr lang="en-US" altLang="zh-CN" sz="2000" smtClean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altLang="zh-CN" sz="2000" smtClean="0">
                <a:cs typeface="Courier New" pitchFamily="49" charset="0"/>
              </a:rPr>
              <a:t> from the list.</a:t>
            </a:r>
          </a:p>
          <a:p>
            <a:pPr lvl="1"/>
            <a:r>
              <a:rPr lang="en-US" altLang="zh-CN" sz="2000" smtClean="0">
                <a:cs typeface="Courier New" pitchFamily="49" charset="0"/>
              </a:rPr>
              <a:t>If such a node is found, return its position. Otherwise, return 0.</a:t>
            </a:r>
          </a:p>
          <a:p>
            <a:r>
              <a:rPr lang="en-US" altLang="zh-CN" sz="2400" smtClean="0">
                <a:cs typeface="Courier New" pitchFamily="49" charset="0"/>
              </a:rPr>
              <a:t>Steps</a:t>
            </a:r>
          </a:p>
          <a:p>
            <a:pPr lvl="1"/>
            <a:r>
              <a:rPr lang="en-US" altLang="zh-CN" sz="2000" smtClean="0">
                <a:cs typeface="Courier New" pitchFamily="49" charset="0"/>
              </a:rPr>
              <a:t>Find the desirable node (similar to </a:t>
            </a:r>
            <a:r>
              <a:rPr lang="en-US" altLang="zh-CN" sz="2000" smtClean="0">
                <a:latin typeface="Courier New" pitchFamily="49" charset="0"/>
                <a:cs typeface="Courier New" pitchFamily="49" charset="0"/>
              </a:rPr>
              <a:t>FindNode</a:t>
            </a:r>
            <a:r>
              <a:rPr lang="en-US" altLang="zh-CN" sz="2000" smtClean="0">
                <a:cs typeface="Courier New" pitchFamily="49" charset="0"/>
              </a:rPr>
              <a:t>)</a:t>
            </a:r>
          </a:p>
          <a:p>
            <a:pPr lvl="1"/>
            <a:r>
              <a:rPr lang="en-US" altLang="zh-CN" sz="2000" smtClean="0">
                <a:cs typeface="Courier New" pitchFamily="49" charset="0"/>
              </a:rPr>
              <a:t>Release the memory occupied by the found node</a:t>
            </a:r>
          </a:p>
          <a:p>
            <a:pPr lvl="1"/>
            <a:r>
              <a:rPr lang="en-US" altLang="zh-CN" sz="2000" smtClean="0">
                <a:cs typeface="Courier New" pitchFamily="49" charset="0"/>
              </a:rPr>
              <a:t>Set the pointer of the predecessor of the found node to the successor of the found node</a:t>
            </a:r>
          </a:p>
          <a:p>
            <a:r>
              <a:rPr lang="en-US" altLang="zh-CN" sz="2400" smtClean="0">
                <a:cs typeface="Courier New" pitchFamily="49" charset="0"/>
              </a:rPr>
              <a:t>Like </a:t>
            </a:r>
            <a:r>
              <a:rPr lang="en-US" altLang="zh-CN" sz="2400" smtClean="0">
                <a:latin typeface="Courier New" pitchFamily="49" charset="0"/>
                <a:cs typeface="Courier New" pitchFamily="49" charset="0"/>
              </a:rPr>
              <a:t>InsertNode</a:t>
            </a:r>
            <a:r>
              <a:rPr lang="en-US" altLang="zh-CN" sz="2400" smtClean="0">
                <a:cs typeface="Courier New" pitchFamily="49" charset="0"/>
              </a:rPr>
              <a:t>, there are two special cases</a:t>
            </a:r>
          </a:p>
          <a:p>
            <a:pPr lvl="1"/>
            <a:r>
              <a:rPr lang="en-US" altLang="zh-CN" sz="2000" smtClean="0">
                <a:cs typeface="Courier New" pitchFamily="49" charset="0"/>
              </a:rPr>
              <a:t>Delete first node</a:t>
            </a:r>
          </a:p>
          <a:p>
            <a:pPr lvl="1"/>
            <a:r>
              <a:rPr lang="en-US" altLang="zh-CN" sz="2000" smtClean="0">
                <a:cs typeface="Courier New" pitchFamily="49" charset="0"/>
              </a:rPr>
              <a:t>Delete the node in middle or at the end of the list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762000"/>
          </a:xfrm>
        </p:spPr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Deleting a node</a:t>
            </a:r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725488" y="1143000"/>
            <a:ext cx="7504112" cy="5470525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int List::DeleteNode(double x)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Node* prevNode	=	NULL;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Node* currNode	=	head;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int currIndex	=	1;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while (currNode &amp;&amp; currNode-&gt;data != x)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prevNode	=	currNode;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currNode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currIndex++;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(currNode)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if (prevNode)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	prevNode-&gt;next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	delete currNode;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else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	head	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	delete currNode;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return currIndex;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return 0;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1143000" y="1447800"/>
            <a:ext cx="6175375" cy="1962150"/>
          </a:xfrm>
          <a:prstGeom prst="rect">
            <a:avLst/>
          </a:prstGeom>
          <a:noFill/>
          <a:ln w="31750">
            <a:solidFill>
              <a:srgbClr val="FFCC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5" name="AutoShape 6"/>
          <p:cNvSpPr>
            <a:spLocks/>
          </p:cNvSpPr>
          <p:nvPr/>
        </p:nvSpPr>
        <p:spPr bwMode="auto">
          <a:xfrm>
            <a:off x="5791200" y="1219200"/>
            <a:ext cx="3200400" cy="838200"/>
          </a:xfrm>
          <a:prstGeom prst="borderCallout1">
            <a:avLst>
              <a:gd name="adj1" fmla="val 13634"/>
              <a:gd name="adj2" fmla="val -2380"/>
              <a:gd name="adj3" fmla="val 80116"/>
              <a:gd name="adj4" fmla="val -8333"/>
            </a:avLst>
          </a:prstGeom>
          <a:solidFill>
            <a:schemeClr val="folHlink"/>
          </a:solidFill>
          <a:ln w="31750">
            <a:solidFill>
              <a:schemeClr val="hlink"/>
            </a:solidFill>
            <a:miter lim="800000"/>
            <a:headEnd type="triangle" w="sm" len="sm"/>
            <a:tailEnd type="none" w="sm" len="sm"/>
          </a:ln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zh-CN">
                <a:solidFill>
                  <a:schemeClr val="bg2"/>
                </a:solidFill>
              </a:rPr>
              <a:t>Try to find the node with its value equal to </a:t>
            </a:r>
            <a:r>
              <a:rPr lang="en-US" altLang="zh-CN">
                <a:solidFill>
                  <a:schemeClr val="bg2"/>
                </a:solidFill>
                <a:latin typeface="Courier New" pitchFamily="49" charset="0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762000"/>
          </a:xfrm>
        </p:spPr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Deleting a node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725488" y="1143000"/>
            <a:ext cx="7504112" cy="5470525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int List::DeleteNode(double x)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Node* prevNode	=	NULL;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Node* currNode	=	head;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int currIndex	=	1;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while (currNode &amp;&amp; currNode-&gt;data != x)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prevNode	=	currNode;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currNode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currIndex++;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(currNode)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if (prevNode)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	prevNode-&gt;next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	delete currNode;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else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	head	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	delete currNode;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return currIndex;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return 0;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209800" y="3657600"/>
            <a:ext cx="6175375" cy="990600"/>
          </a:xfrm>
          <a:prstGeom prst="rect">
            <a:avLst/>
          </a:prstGeom>
          <a:noFill/>
          <a:ln w="31750">
            <a:solidFill>
              <a:srgbClr val="FFCC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Text Box 16"/>
          <p:cNvSpPr txBox="1">
            <a:spLocks noChangeArrowheads="1"/>
          </p:cNvSpPr>
          <p:nvPr/>
        </p:nvSpPr>
        <p:spPr bwMode="auto">
          <a:xfrm>
            <a:off x="6781800" y="2921000"/>
            <a:ext cx="10588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0">
                <a:solidFill>
                  <a:schemeClr val="folHlink"/>
                </a:solidFill>
                <a:latin typeface="Courier New" pitchFamily="49" charset="0"/>
              </a:rPr>
              <a:t>currNode</a:t>
            </a:r>
          </a:p>
        </p:txBody>
      </p:sp>
      <p:sp>
        <p:nvSpPr>
          <p:cNvPr id="21510" name="Rectangle 17"/>
          <p:cNvSpPr>
            <a:spLocks noChangeArrowheads="1"/>
          </p:cNvSpPr>
          <p:nvPr/>
        </p:nvSpPr>
        <p:spPr bwMode="auto">
          <a:xfrm>
            <a:off x="6324600" y="3200400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Rectangle 18"/>
          <p:cNvSpPr>
            <a:spLocks noChangeArrowheads="1"/>
          </p:cNvSpPr>
          <p:nvPr/>
        </p:nvSpPr>
        <p:spPr bwMode="auto">
          <a:xfrm>
            <a:off x="5943600" y="3206750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Line 19"/>
          <p:cNvSpPr>
            <a:spLocks noChangeShapeType="1"/>
          </p:cNvSpPr>
          <p:nvPr/>
        </p:nvSpPr>
        <p:spPr bwMode="auto">
          <a:xfrm flipV="1">
            <a:off x="6543675" y="3381375"/>
            <a:ext cx="371475" cy="9525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13" name="Rectangle 20"/>
          <p:cNvSpPr>
            <a:spLocks noChangeArrowheads="1"/>
          </p:cNvSpPr>
          <p:nvPr/>
        </p:nvSpPr>
        <p:spPr bwMode="auto">
          <a:xfrm>
            <a:off x="7315200" y="3200400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Rectangle 21"/>
          <p:cNvSpPr>
            <a:spLocks noChangeArrowheads="1"/>
          </p:cNvSpPr>
          <p:nvPr/>
        </p:nvSpPr>
        <p:spPr bwMode="auto">
          <a:xfrm>
            <a:off x="6934200" y="3206750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Line 22"/>
          <p:cNvSpPr>
            <a:spLocks noChangeShapeType="1"/>
          </p:cNvSpPr>
          <p:nvPr/>
        </p:nvSpPr>
        <p:spPr bwMode="auto">
          <a:xfrm flipV="1">
            <a:off x="7534275" y="3381375"/>
            <a:ext cx="371475" cy="9525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16" name="Rectangle 23"/>
          <p:cNvSpPr>
            <a:spLocks noChangeArrowheads="1"/>
          </p:cNvSpPr>
          <p:nvPr/>
        </p:nvSpPr>
        <p:spPr bwMode="auto">
          <a:xfrm>
            <a:off x="8305800" y="3200400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7" name="Rectangle 24"/>
          <p:cNvSpPr>
            <a:spLocks noChangeArrowheads="1"/>
          </p:cNvSpPr>
          <p:nvPr/>
        </p:nvSpPr>
        <p:spPr bwMode="auto">
          <a:xfrm>
            <a:off x="7924800" y="3206750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Line 25"/>
          <p:cNvSpPr>
            <a:spLocks noChangeShapeType="1"/>
          </p:cNvSpPr>
          <p:nvPr/>
        </p:nvSpPr>
        <p:spPr bwMode="auto">
          <a:xfrm flipV="1">
            <a:off x="8524875" y="3381375"/>
            <a:ext cx="371475" cy="9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19" name="Text Box 26"/>
          <p:cNvSpPr txBox="1">
            <a:spLocks noChangeArrowheads="1"/>
          </p:cNvSpPr>
          <p:nvPr/>
        </p:nvSpPr>
        <p:spPr bwMode="auto">
          <a:xfrm>
            <a:off x="5791200" y="2921000"/>
            <a:ext cx="10588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0">
                <a:solidFill>
                  <a:schemeClr val="folHlink"/>
                </a:solidFill>
                <a:latin typeface="Courier New" pitchFamily="49" charset="0"/>
              </a:rPr>
              <a:t>prevNode</a:t>
            </a:r>
          </a:p>
        </p:txBody>
      </p:sp>
      <p:sp>
        <p:nvSpPr>
          <p:cNvPr id="21520" name="Line 27"/>
          <p:cNvSpPr>
            <a:spLocks noChangeShapeType="1"/>
          </p:cNvSpPr>
          <p:nvPr/>
        </p:nvSpPr>
        <p:spPr bwMode="auto">
          <a:xfrm>
            <a:off x="6553200" y="3429000"/>
            <a:ext cx="0" cy="38100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oval" w="med" len="med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521" name="Line 28"/>
          <p:cNvSpPr>
            <a:spLocks noChangeShapeType="1"/>
          </p:cNvSpPr>
          <p:nvPr/>
        </p:nvSpPr>
        <p:spPr bwMode="auto">
          <a:xfrm>
            <a:off x="6553200" y="3810000"/>
            <a:ext cx="1524000" cy="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522" name="Line 29"/>
          <p:cNvSpPr>
            <a:spLocks noChangeShapeType="1"/>
          </p:cNvSpPr>
          <p:nvPr/>
        </p:nvSpPr>
        <p:spPr bwMode="auto">
          <a:xfrm flipV="1">
            <a:off x="8077200" y="3581400"/>
            <a:ext cx="0" cy="22860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762000"/>
          </a:xfrm>
        </p:spPr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Deleting a node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725488" y="1143000"/>
            <a:ext cx="7504112" cy="5470525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int List::DeleteNode(double x)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Node* prevNode	=	NULL;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Node* currNode	=	head;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int currIndex	=	1;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while (currNode &amp;&amp; currNode-&gt;data != x)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prevNode	=	currNode;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currNode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currIndex++;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if (currNode)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if (prevNode)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	prevNode-&gt;next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	delete currNode;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else {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	head		=	currNode-&gt;next;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	delete currNode;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	return currIndex;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	return 0;</a:t>
            </a:r>
            <a:endParaRPr lang="en-US" altLang="zh-CN" sz="16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2209800" y="4622800"/>
            <a:ext cx="6175375" cy="1219200"/>
          </a:xfrm>
          <a:prstGeom prst="rect">
            <a:avLst/>
          </a:prstGeom>
          <a:noFill/>
          <a:ln w="31750">
            <a:solidFill>
              <a:srgbClr val="FFCC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6781800" y="5816600"/>
            <a:ext cx="10588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0">
                <a:solidFill>
                  <a:schemeClr val="folHlink"/>
                </a:solidFill>
                <a:latin typeface="Courier New" pitchFamily="49" charset="0"/>
              </a:rPr>
              <a:t>currNode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6324600" y="6096000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Line 8"/>
          <p:cNvSpPr>
            <a:spLocks noChangeShapeType="1"/>
          </p:cNvSpPr>
          <p:nvPr/>
        </p:nvSpPr>
        <p:spPr bwMode="auto">
          <a:xfrm flipV="1">
            <a:off x="6543675" y="6276975"/>
            <a:ext cx="371475" cy="9525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2536" name="Rectangle 9"/>
          <p:cNvSpPr>
            <a:spLocks noChangeArrowheads="1"/>
          </p:cNvSpPr>
          <p:nvPr/>
        </p:nvSpPr>
        <p:spPr bwMode="auto">
          <a:xfrm>
            <a:off x="7315200" y="6096000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Rectangle 10"/>
          <p:cNvSpPr>
            <a:spLocks noChangeArrowheads="1"/>
          </p:cNvSpPr>
          <p:nvPr/>
        </p:nvSpPr>
        <p:spPr bwMode="auto">
          <a:xfrm>
            <a:off x="6934200" y="6102350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Line 11"/>
          <p:cNvSpPr>
            <a:spLocks noChangeShapeType="1"/>
          </p:cNvSpPr>
          <p:nvPr/>
        </p:nvSpPr>
        <p:spPr bwMode="auto">
          <a:xfrm flipV="1">
            <a:off x="7534275" y="6276975"/>
            <a:ext cx="371475" cy="9525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2539" name="Rectangle 12"/>
          <p:cNvSpPr>
            <a:spLocks noChangeArrowheads="1"/>
          </p:cNvSpPr>
          <p:nvPr/>
        </p:nvSpPr>
        <p:spPr bwMode="auto">
          <a:xfrm>
            <a:off x="8305800" y="6096000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0" name="Rectangle 13"/>
          <p:cNvSpPr>
            <a:spLocks noChangeArrowheads="1"/>
          </p:cNvSpPr>
          <p:nvPr/>
        </p:nvSpPr>
        <p:spPr bwMode="auto">
          <a:xfrm>
            <a:off x="7924800" y="6102350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1" name="Line 14"/>
          <p:cNvSpPr>
            <a:spLocks noChangeShapeType="1"/>
          </p:cNvSpPr>
          <p:nvPr/>
        </p:nvSpPr>
        <p:spPr bwMode="auto">
          <a:xfrm flipV="1">
            <a:off x="8524875" y="6276975"/>
            <a:ext cx="371475" cy="9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2542" name="Text Box 15"/>
          <p:cNvSpPr txBox="1">
            <a:spLocks noChangeArrowheads="1"/>
          </p:cNvSpPr>
          <p:nvPr/>
        </p:nvSpPr>
        <p:spPr bwMode="auto">
          <a:xfrm>
            <a:off x="6172200" y="5816600"/>
            <a:ext cx="6778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0">
                <a:solidFill>
                  <a:schemeClr val="folHlink"/>
                </a:solidFill>
                <a:latin typeface="Courier New" pitchFamily="49" charset="0"/>
              </a:rPr>
              <a:t>head</a:t>
            </a:r>
          </a:p>
        </p:txBody>
      </p:sp>
      <p:sp>
        <p:nvSpPr>
          <p:cNvPr id="22543" name="Line 16"/>
          <p:cNvSpPr>
            <a:spLocks noChangeShapeType="1"/>
          </p:cNvSpPr>
          <p:nvPr/>
        </p:nvSpPr>
        <p:spPr bwMode="auto">
          <a:xfrm>
            <a:off x="6553200" y="6324600"/>
            <a:ext cx="0" cy="38100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oval" w="med" len="med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544" name="Line 17"/>
          <p:cNvSpPr>
            <a:spLocks noChangeShapeType="1"/>
          </p:cNvSpPr>
          <p:nvPr/>
        </p:nvSpPr>
        <p:spPr bwMode="auto">
          <a:xfrm>
            <a:off x="6553200" y="6705600"/>
            <a:ext cx="1524000" cy="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545" name="Line 18"/>
          <p:cNvSpPr>
            <a:spLocks noChangeShapeType="1"/>
          </p:cNvSpPr>
          <p:nvPr/>
        </p:nvSpPr>
        <p:spPr bwMode="auto">
          <a:xfrm flipV="1">
            <a:off x="8077200" y="6477000"/>
            <a:ext cx="0" cy="22860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Printing all the elements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76400"/>
            <a:ext cx="7848600" cy="4114800"/>
          </a:xfrm>
        </p:spPr>
        <p:txBody>
          <a:bodyPr/>
          <a:lstStyle/>
          <a:p>
            <a:r>
              <a:rPr lang="en-US" altLang="zh-CN" smtClean="0">
                <a:latin typeface="Courier New" pitchFamily="49" charset="0"/>
              </a:rPr>
              <a:t>void DisplayList(void)</a:t>
            </a:r>
          </a:p>
          <a:p>
            <a:pPr lvl="1"/>
            <a:r>
              <a:rPr lang="en-US" altLang="zh-CN" smtClean="0"/>
              <a:t>Print the data of all the elements </a:t>
            </a:r>
          </a:p>
          <a:p>
            <a:pPr lvl="1"/>
            <a:r>
              <a:rPr lang="en-US" altLang="zh-CN" smtClean="0"/>
              <a:t>Print the number of the nodes in the list</a:t>
            </a:r>
          </a:p>
        </p:txBody>
      </p:sp>
      <p:sp>
        <p:nvSpPr>
          <p:cNvPr id="23556" name="Rectangle 7"/>
          <p:cNvSpPr>
            <a:spLocks noChangeArrowheads="1"/>
          </p:cNvSpPr>
          <p:nvPr/>
        </p:nvSpPr>
        <p:spPr bwMode="auto">
          <a:xfrm>
            <a:off x="838200" y="3276600"/>
            <a:ext cx="8102600" cy="3113088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void List::DisplayList()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{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   int num		=	0;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   Node* currNode	=	head;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   while (currNode != NULL){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cout &lt;&lt; currNode-&gt;data &lt;&lt; endl;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currNode	=	currNode-&gt;next;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num++;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   }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   cout &lt;&lt; "Number of nodes in the list: " &lt;&lt; num &lt;&lt; endl;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Destroying the list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752600"/>
            <a:ext cx="7848600" cy="1524000"/>
          </a:xfrm>
        </p:spPr>
        <p:txBody>
          <a:bodyPr/>
          <a:lstStyle/>
          <a:p>
            <a:r>
              <a:rPr lang="en-US" altLang="zh-CN" sz="2400" smtClean="0">
                <a:latin typeface="Courier New" pitchFamily="49" charset="0"/>
                <a:cs typeface="Courier New" pitchFamily="49" charset="0"/>
              </a:rPr>
              <a:t>~List(void)</a:t>
            </a:r>
          </a:p>
          <a:p>
            <a:pPr lvl="1"/>
            <a:r>
              <a:rPr lang="en-US" altLang="zh-CN" sz="2000" smtClean="0">
                <a:cs typeface="Courier New" pitchFamily="49" charset="0"/>
              </a:rPr>
              <a:t>Use the destructor to release all the memory used by the list.</a:t>
            </a:r>
          </a:p>
          <a:p>
            <a:pPr lvl="1"/>
            <a:r>
              <a:rPr lang="en-US" altLang="zh-CN" sz="2000" smtClean="0">
                <a:cs typeface="Courier New" pitchFamily="49" charset="0"/>
              </a:rPr>
              <a:t>Step through the list and delete each node one by one.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1187450" y="3200400"/>
            <a:ext cx="6737350" cy="3140075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List::~List(void) {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   Node* currNode = head, *nextNode = NULL;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   while (currNode != NULL)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   {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	nextNode	=	currNode-&gt;next;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cs typeface="Courier New" pitchFamily="49" charset="0"/>
              </a:rPr>
              <a:t>	</a:t>
            </a:r>
            <a:r>
              <a:rPr lang="en-US" altLang="zh-CN" b="0">
                <a:latin typeface="Courier New" pitchFamily="49" charset="0"/>
                <a:cs typeface="Courier New" pitchFamily="49" charset="0"/>
              </a:rPr>
              <a:t>// destroy the current node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	delete currNode;	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	currNode	=	nextNode;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   }</a:t>
            </a:r>
            <a:endParaRPr lang="en-US" altLang="zh-CN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smtClean="0">
                <a:solidFill>
                  <a:schemeClr val="tx1"/>
                </a:solidFill>
                <a:ea typeface="宋体" pitchFamily="2" charset="-122"/>
              </a:rPr>
              <a:t>Using </a:t>
            </a:r>
            <a:r>
              <a:rPr lang="en-US" altLang="zh-CN" b="1" smtClean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List</a:t>
            </a:r>
          </a:p>
        </p:txBody>
      </p:sp>
      <p:sp>
        <p:nvSpPr>
          <p:cNvPr id="25603" name="Rectangle 7"/>
          <p:cNvSpPr>
            <a:spLocks noChangeArrowheads="1"/>
          </p:cNvSpPr>
          <p:nvPr/>
        </p:nvSpPr>
        <p:spPr bwMode="auto">
          <a:xfrm>
            <a:off x="76200" y="1624013"/>
            <a:ext cx="9328150" cy="5310187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int main(void)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{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List list;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list.InsertNode(0, 7.0);	// successful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list.InsertNode(1, 5.0);	// successful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list.InsertNode(-1, 5.0);	// unsuccessful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list.InsertNode(0, 6.0);	// successful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list.InsertNode(8, 4.0);	// unsuccessful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// print all the elements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list.DisplayList();			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if(list.FindNode(5.0) &gt; 0)	cout &lt;&lt; "5.0 found" &lt;&lt; endl;	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else				cout &lt;&lt; "5.0 not found" &lt;&lt; endl;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if(list.FindNode(4.5) &gt; 0) cout &lt;&lt; "4.5 found" &lt;&lt; endl;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else				cout &lt;&lt; "4.5 not found" &lt;&lt; endl;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list.DeleteNode(7.0);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list.DisplayList();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	return 0;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Courier New" pitchFamily="49" charset="0"/>
                <a:cs typeface="Courier New" pitchFamily="49" charset="0"/>
              </a:rPr>
              <a:t>}</a:t>
            </a:r>
            <a:endParaRPr lang="en-US" altLang="zh-CN" sz="1800" b="0">
              <a:cs typeface="Courier New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>
              <a:cs typeface="Courier New" pitchFamily="49" charset="0"/>
            </a:endParaRPr>
          </a:p>
        </p:txBody>
      </p:sp>
      <p:sp>
        <p:nvSpPr>
          <p:cNvPr id="33800" name="AutoShape 8"/>
          <p:cNvSpPr>
            <a:spLocks noChangeArrowheads="1"/>
          </p:cNvSpPr>
          <p:nvPr/>
        </p:nvSpPr>
        <p:spPr bwMode="auto">
          <a:xfrm>
            <a:off x="6172200" y="228600"/>
            <a:ext cx="2895600" cy="2133600"/>
          </a:xfrm>
          <a:prstGeom prst="foldedCorner">
            <a:avLst>
              <a:gd name="adj" fmla="val 12500"/>
            </a:avLst>
          </a:prstGeom>
          <a:solidFill>
            <a:schemeClr val="folHlink"/>
          </a:solidFill>
          <a:ln w="3175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buFont typeface="Monotype Sorts" pitchFamily="2" charset="2"/>
              <a:buNone/>
            </a:pPr>
            <a:r>
              <a:rPr lang="en-US" altLang="zh-CN" sz="1200">
                <a:solidFill>
                  <a:schemeClr val="bg2"/>
                </a:solidFill>
              </a:rPr>
              <a:t>6</a:t>
            </a:r>
          </a:p>
          <a:p>
            <a:pPr>
              <a:buFont typeface="Monotype Sorts" pitchFamily="2" charset="2"/>
              <a:buNone/>
            </a:pPr>
            <a:r>
              <a:rPr lang="en-US" altLang="zh-CN" sz="1200">
                <a:solidFill>
                  <a:schemeClr val="bg2"/>
                </a:solidFill>
              </a:rPr>
              <a:t>7</a:t>
            </a:r>
          </a:p>
          <a:p>
            <a:pPr>
              <a:buFont typeface="Monotype Sorts" pitchFamily="2" charset="2"/>
              <a:buNone/>
            </a:pPr>
            <a:r>
              <a:rPr lang="en-US" altLang="zh-CN" sz="1200">
                <a:solidFill>
                  <a:schemeClr val="bg2"/>
                </a:solidFill>
              </a:rPr>
              <a:t>5</a:t>
            </a:r>
          </a:p>
          <a:p>
            <a:pPr>
              <a:buFont typeface="Monotype Sorts" pitchFamily="2" charset="2"/>
              <a:buNone/>
            </a:pPr>
            <a:r>
              <a:rPr lang="en-US" altLang="zh-CN" sz="1200">
                <a:solidFill>
                  <a:schemeClr val="bg2"/>
                </a:solidFill>
              </a:rPr>
              <a:t>Number of nodes in the list: 3</a:t>
            </a:r>
          </a:p>
          <a:p>
            <a:pPr>
              <a:buFont typeface="Monotype Sorts" pitchFamily="2" charset="2"/>
              <a:buNone/>
            </a:pPr>
            <a:r>
              <a:rPr lang="en-US" altLang="zh-CN" sz="1200">
                <a:solidFill>
                  <a:schemeClr val="bg2"/>
                </a:solidFill>
              </a:rPr>
              <a:t>5.0 found</a:t>
            </a:r>
          </a:p>
          <a:p>
            <a:pPr>
              <a:buFont typeface="Monotype Sorts" pitchFamily="2" charset="2"/>
              <a:buNone/>
            </a:pPr>
            <a:r>
              <a:rPr lang="en-US" altLang="zh-CN" sz="1200">
                <a:solidFill>
                  <a:schemeClr val="bg2"/>
                </a:solidFill>
              </a:rPr>
              <a:t>4.5 not found</a:t>
            </a:r>
          </a:p>
          <a:p>
            <a:pPr>
              <a:buFont typeface="Monotype Sorts" pitchFamily="2" charset="2"/>
              <a:buNone/>
            </a:pPr>
            <a:r>
              <a:rPr lang="en-US" altLang="zh-CN" sz="1200">
                <a:solidFill>
                  <a:schemeClr val="bg2"/>
                </a:solidFill>
              </a:rPr>
              <a:t>6</a:t>
            </a:r>
          </a:p>
          <a:p>
            <a:pPr>
              <a:buFont typeface="Monotype Sorts" pitchFamily="2" charset="2"/>
              <a:buNone/>
            </a:pPr>
            <a:r>
              <a:rPr lang="en-US" altLang="zh-CN" sz="1200">
                <a:solidFill>
                  <a:schemeClr val="bg2"/>
                </a:solidFill>
              </a:rPr>
              <a:t>5</a:t>
            </a:r>
          </a:p>
          <a:p>
            <a:pPr>
              <a:buFont typeface="Monotype Sorts" pitchFamily="2" charset="2"/>
              <a:buNone/>
            </a:pPr>
            <a:r>
              <a:rPr lang="en-US" altLang="zh-CN" sz="1200">
                <a:solidFill>
                  <a:schemeClr val="bg2"/>
                </a:solidFill>
              </a:rPr>
              <a:t>Number of nodes in the list: 2</a:t>
            </a:r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8153400" y="228600"/>
            <a:ext cx="914400" cy="396875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>
                <a:solidFill>
                  <a:schemeClr val="bg2"/>
                </a:solidFill>
              </a:rPr>
              <a:t>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0" grpId="0" animBg="1"/>
      <p:bldP spid="3380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Variations of Linked Lists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00200"/>
            <a:ext cx="7848600" cy="4495800"/>
          </a:xfrm>
        </p:spPr>
        <p:txBody>
          <a:bodyPr/>
          <a:lstStyle/>
          <a:p>
            <a:r>
              <a:rPr lang="en-US" altLang="zh-CN" i="1" smtClean="0">
                <a:solidFill>
                  <a:schemeClr val="hlink"/>
                </a:solidFill>
              </a:rPr>
              <a:t>Circular linked lists</a:t>
            </a:r>
          </a:p>
          <a:p>
            <a:pPr lvl="1"/>
            <a:r>
              <a:rPr lang="en-US" altLang="zh-CN" smtClean="0"/>
              <a:t>The last node points to the first node of the list</a:t>
            </a:r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  <a:p>
            <a:pPr lvl="1"/>
            <a:r>
              <a:rPr lang="en-US" altLang="zh-CN" smtClean="0"/>
              <a:t>How do we know when we have finished traversing the list? (Tip: check if the pointer of the current node is equal to the head.)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3352800" y="3336925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 flipV="1">
            <a:off x="3657600" y="3641725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5181600" y="3336925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 flipV="1">
            <a:off x="5486400" y="3641725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7010400" y="3336925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6633" name="Group 9"/>
          <p:cNvGrpSpPr>
            <a:grpSpLocks/>
          </p:cNvGrpSpPr>
          <p:nvPr/>
        </p:nvGrpSpPr>
        <p:grpSpPr bwMode="auto">
          <a:xfrm>
            <a:off x="2743200" y="3336925"/>
            <a:ext cx="609600" cy="609600"/>
            <a:chOff x="1728" y="2880"/>
            <a:chExt cx="384" cy="384"/>
          </a:xfrm>
        </p:grpSpPr>
        <p:sp>
          <p:nvSpPr>
            <p:cNvPr id="26646" name="Rectangle 10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7" name="Text Box 11"/>
            <p:cNvSpPr txBox="1">
              <a:spLocks noChangeArrowheads="1"/>
            </p:cNvSpPr>
            <p:nvPr/>
          </p:nvSpPr>
          <p:spPr bwMode="auto">
            <a:xfrm>
              <a:off x="1819" y="2966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solidFill>
                    <a:schemeClr val="bg1"/>
                  </a:solidFill>
                  <a:latin typeface="Tahoma" pitchFamily="34" charset="0"/>
                </a:rPr>
                <a:t>A</a:t>
              </a:r>
            </a:p>
          </p:txBody>
        </p:sp>
      </p:grpSp>
      <p:sp>
        <p:nvSpPr>
          <p:cNvPr id="26634" name="Rectangle 12"/>
          <p:cNvSpPr>
            <a:spLocks noChangeArrowheads="1"/>
          </p:cNvSpPr>
          <p:nvPr/>
        </p:nvSpPr>
        <p:spPr bwMode="auto">
          <a:xfrm>
            <a:off x="1524000" y="3330575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Line 13"/>
          <p:cNvSpPr>
            <a:spLocks noChangeShapeType="1"/>
          </p:cNvSpPr>
          <p:nvPr/>
        </p:nvSpPr>
        <p:spPr bwMode="auto">
          <a:xfrm flipV="1">
            <a:off x="1828800" y="3641725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6636" name="Text Box 14"/>
          <p:cNvSpPr txBox="1">
            <a:spLocks noChangeArrowheads="1"/>
          </p:cNvSpPr>
          <p:nvPr/>
        </p:nvSpPr>
        <p:spPr bwMode="auto">
          <a:xfrm>
            <a:off x="1457325" y="4022725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solidFill>
                  <a:schemeClr val="folHlink"/>
                </a:solidFill>
                <a:latin typeface="Tahoma" pitchFamily="34" charset="0"/>
              </a:rPr>
              <a:t>Head</a:t>
            </a:r>
          </a:p>
        </p:txBody>
      </p:sp>
      <p:grpSp>
        <p:nvGrpSpPr>
          <p:cNvPr id="26637" name="Group 15"/>
          <p:cNvGrpSpPr>
            <a:grpSpLocks/>
          </p:cNvGrpSpPr>
          <p:nvPr/>
        </p:nvGrpSpPr>
        <p:grpSpPr bwMode="auto">
          <a:xfrm>
            <a:off x="4572000" y="3336925"/>
            <a:ext cx="609600" cy="609600"/>
            <a:chOff x="1728" y="2880"/>
            <a:chExt cx="384" cy="384"/>
          </a:xfrm>
        </p:grpSpPr>
        <p:sp>
          <p:nvSpPr>
            <p:cNvPr id="26644" name="Rectangle 16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5" name="Text Box 17"/>
            <p:cNvSpPr txBox="1">
              <a:spLocks noChangeArrowheads="1"/>
            </p:cNvSpPr>
            <p:nvPr/>
          </p:nvSpPr>
          <p:spPr bwMode="auto">
            <a:xfrm>
              <a:off x="1820" y="2966"/>
              <a:ext cx="21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solidFill>
                    <a:schemeClr val="bg1"/>
                  </a:solidFill>
                  <a:latin typeface="Tahoma" pitchFamily="34" charset="0"/>
                </a:rPr>
                <a:t>B</a:t>
              </a:r>
            </a:p>
          </p:txBody>
        </p:sp>
      </p:grpSp>
      <p:grpSp>
        <p:nvGrpSpPr>
          <p:cNvPr id="26638" name="Group 18"/>
          <p:cNvGrpSpPr>
            <a:grpSpLocks/>
          </p:cNvGrpSpPr>
          <p:nvPr/>
        </p:nvGrpSpPr>
        <p:grpSpPr bwMode="auto">
          <a:xfrm>
            <a:off x="6400800" y="3336925"/>
            <a:ext cx="609600" cy="609600"/>
            <a:chOff x="1728" y="2880"/>
            <a:chExt cx="384" cy="384"/>
          </a:xfrm>
        </p:grpSpPr>
        <p:sp>
          <p:nvSpPr>
            <p:cNvPr id="26642" name="Rectangle 19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3" name="Text Box 20"/>
            <p:cNvSpPr txBox="1">
              <a:spLocks noChangeArrowheads="1"/>
            </p:cNvSpPr>
            <p:nvPr/>
          </p:nvSpPr>
          <p:spPr bwMode="auto">
            <a:xfrm>
              <a:off x="1819" y="2966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solidFill>
                    <a:schemeClr val="bg1"/>
                  </a:solidFill>
                  <a:latin typeface="Tahoma" pitchFamily="34" charset="0"/>
                </a:rPr>
                <a:t>C</a:t>
              </a:r>
            </a:p>
          </p:txBody>
        </p:sp>
      </p:grpSp>
      <p:sp>
        <p:nvSpPr>
          <p:cNvPr id="26639" name="Line 21"/>
          <p:cNvSpPr>
            <a:spLocks noChangeShapeType="1"/>
          </p:cNvSpPr>
          <p:nvPr/>
        </p:nvSpPr>
        <p:spPr bwMode="auto">
          <a:xfrm flipV="1">
            <a:off x="7299325" y="2967038"/>
            <a:ext cx="1588" cy="715962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 type="oval" w="med" len="med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640" name="Line 22"/>
          <p:cNvSpPr>
            <a:spLocks noChangeShapeType="1"/>
          </p:cNvSpPr>
          <p:nvPr/>
        </p:nvSpPr>
        <p:spPr bwMode="auto">
          <a:xfrm flipH="1">
            <a:off x="3057525" y="2971800"/>
            <a:ext cx="4241800" cy="0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641" name="Line 23"/>
          <p:cNvSpPr>
            <a:spLocks noChangeShapeType="1"/>
          </p:cNvSpPr>
          <p:nvPr/>
        </p:nvSpPr>
        <p:spPr bwMode="auto">
          <a:xfrm>
            <a:off x="3057525" y="2971800"/>
            <a:ext cx="0" cy="381000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Variations of Linked Lists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00200"/>
            <a:ext cx="8153400" cy="2667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i="1" smtClean="0">
                <a:solidFill>
                  <a:schemeClr val="hlink"/>
                </a:solidFill>
              </a:rPr>
              <a:t>Doubly linked lists</a:t>
            </a:r>
          </a:p>
          <a:p>
            <a:pPr lvl="1">
              <a:lnSpc>
                <a:spcPct val="90000"/>
              </a:lnSpc>
            </a:pPr>
            <a:r>
              <a:rPr lang="en-US" altLang="zh-CN" smtClean="0"/>
              <a:t>Each node points to not only successor but the predecessor</a:t>
            </a:r>
          </a:p>
          <a:p>
            <a:pPr lvl="1">
              <a:lnSpc>
                <a:spcPct val="90000"/>
              </a:lnSpc>
            </a:pPr>
            <a:r>
              <a:rPr lang="en-US" altLang="zh-CN" smtClean="0"/>
              <a:t>There are two </a:t>
            </a:r>
            <a:r>
              <a:rPr lang="en-US" altLang="zh-CN" smtClean="0">
                <a:latin typeface="Courier New" pitchFamily="49" charset="0"/>
                <a:ea typeface="Arial Unicode MS" pitchFamily="34" charset="-128"/>
                <a:cs typeface="Arial Unicode MS" pitchFamily="34" charset="-128"/>
              </a:rPr>
              <a:t>NULL: </a:t>
            </a:r>
            <a:r>
              <a:rPr lang="en-US" altLang="zh-CN" smtClean="0"/>
              <a:t>at the first and last nodes in the list</a:t>
            </a:r>
          </a:p>
          <a:p>
            <a:pPr lvl="1">
              <a:lnSpc>
                <a:spcPct val="90000"/>
              </a:lnSpc>
            </a:pPr>
            <a:r>
              <a:rPr lang="en-US" altLang="zh-CN" smtClean="0"/>
              <a:t>Advantage: given a node, it is easy to visit its predecessor. Convenient to traverse lists </a:t>
            </a:r>
            <a:r>
              <a:rPr lang="en-US" altLang="zh-CN" smtClean="0">
                <a:solidFill>
                  <a:schemeClr val="hlink"/>
                </a:solidFill>
              </a:rPr>
              <a:t>backwards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2312988" y="4422775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 flipV="1">
            <a:off x="2617788" y="466725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grpSp>
        <p:nvGrpSpPr>
          <p:cNvPr id="27654" name="Group 10"/>
          <p:cNvGrpSpPr>
            <a:grpSpLocks/>
          </p:cNvGrpSpPr>
          <p:nvPr/>
        </p:nvGrpSpPr>
        <p:grpSpPr bwMode="auto">
          <a:xfrm>
            <a:off x="1703388" y="4422775"/>
            <a:ext cx="609600" cy="609600"/>
            <a:chOff x="1728" y="2880"/>
            <a:chExt cx="384" cy="384"/>
          </a:xfrm>
        </p:grpSpPr>
        <p:sp>
          <p:nvSpPr>
            <p:cNvPr id="27674" name="Rectangle 11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5" name="Text Box 12"/>
            <p:cNvSpPr txBox="1">
              <a:spLocks noChangeArrowheads="1"/>
            </p:cNvSpPr>
            <p:nvPr/>
          </p:nvSpPr>
          <p:spPr bwMode="auto">
            <a:xfrm>
              <a:off x="1819" y="2966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solidFill>
                    <a:schemeClr val="bg1"/>
                  </a:solidFill>
                  <a:latin typeface="Tahoma" pitchFamily="34" charset="0"/>
                </a:rPr>
                <a:t>A</a:t>
              </a:r>
            </a:p>
          </p:txBody>
        </p:sp>
      </p:grpSp>
      <p:sp>
        <p:nvSpPr>
          <p:cNvPr id="27655" name="Rectangle 14"/>
          <p:cNvSpPr>
            <a:spLocks noChangeArrowheads="1"/>
          </p:cNvSpPr>
          <p:nvPr/>
        </p:nvSpPr>
        <p:spPr bwMode="auto">
          <a:xfrm>
            <a:off x="1651000" y="56578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Line 15"/>
          <p:cNvSpPr>
            <a:spLocks noChangeShapeType="1"/>
          </p:cNvSpPr>
          <p:nvPr/>
        </p:nvSpPr>
        <p:spPr bwMode="auto">
          <a:xfrm flipV="1">
            <a:off x="1955800" y="50482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7657" name="Text Box 16"/>
          <p:cNvSpPr txBox="1">
            <a:spLocks noChangeArrowheads="1"/>
          </p:cNvSpPr>
          <p:nvPr/>
        </p:nvSpPr>
        <p:spPr bwMode="auto">
          <a:xfrm>
            <a:off x="1651000" y="6350000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solidFill>
                  <a:schemeClr val="folHlink"/>
                </a:solidFill>
                <a:latin typeface="Tahoma" pitchFamily="34" charset="0"/>
              </a:rPr>
              <a:t>Head</a:t>
            </a:r>
          </a:p>
        </p:txBody>
      </p:sp>
      <p:sp>
        <p:nvSpPr>
          <p:cNvPr id="27658" name="Rectangle 23"/>
          <p:cNvSpPr>
            <a:spLocks noChangeArrowheads="1"/>
          </p:cNvSpPr>
          <p:nvPr/>
        </p:nvSpPr>
        <p:spPr bwMode="auto">
          <a:xfrm>
            <a:off x="1079500" y="44259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9" name="Rectangle 24"/>
          <p:cNvSpPr>
            <a:spLocks noChangeArrowheads="1"/>
          </p:cNvSpPr>
          <p:nvPr/>
        </p:nvSpPr>
        <p:spPr bwMode="auto">
          <a:xfrm>
            <a:off x="4775200" y="4422775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7660" name="Group 25"/>
          <p:cNvGrpSpPr>
            <a:grpSpLocks/>
          </p:cNvGrpSpPr>
          <p:nvPr/>
        </p:nvGrpSpPr>
        <p:grpSpPr bwMode="auto">
          <a:xfrm>
            <a:off x="4165600" y="4422775"/>
            <a:ext cx="609600" cy="609600"/>
            <a:chOff x="1728" y="2880"/>
            <a:chExt cx="384" cy="384"/>
          </a:xfrm>
        </p:grpSpPr>
        <p:sp>
          <p:nvSpPr>
            <p:cNvPr id="27672" name="Rectangle 26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3" name="Text Box 27"/>
            <p:cNvSpPr txBox="1">
              <a:spLocks noChangeArrowheads="1"/>
            </p:cNvSpPr>
            <p:nvPr/>
          </p:nvSpPr>
          <p:spPr bwMode="auto">
            <a:xfrm>
              <a:off x="1820" y="2966"/>
              <a:ext cx="21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solidFill>
                    <a:schemeClr val="bg1"/>
                  </a:solidFill>
                  <a:latin typeface="Tahoma" pitchFamily="34" charset="0"/>
                </a:rPr>
                <a:t>B</a:t>
              </a:r>
            </a:p>
          </p:txBody>
        </p:sp>
      </p:grpSp>
      <p:sp>
        <p:nvSpPr>
          <p:cNvPr id="27661" name="Rectangle 28"/>
          <p:cNvSpPr>
            <a:spLocks noChangeArrowheads="1"/>
          </p:cNvSpPr>
          <p:nvPr/>
        </p:nvSpPr>
        <p:spPr bwMode="auto">
          <a:xfrm>
            <a:off x="3541713" y="44259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Line 29"/>
          <p:cNvSpPr>
            <a:spLocks noChangeShapeType="1"/>
          </p:cNvSpPr>
          <p:nvPr/>
        </p:nvSpPr>
        <p:spPr bwMode="auto">
          <a:xfrm flipH="1">
            <a:off x="2933700" y="4821238"/>
            <a:ext cx="965200" cy="1111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7663" name="Text Box 35"/>
          <p:cNvSpPr txBox="1">
            <a:spLocks noChangeArrowheads="1"/>
          </p:cNvSpPr>
          <p:nvPr/>
        </p:nvSpPr>
        <p:spPr bwMode="auto">
          <a:xfrm>
            <a:off x="1193800" y="4514850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Tahoma" pitchFamily="34" charset="0"/>
                <a:sym typeface="Symbol" pitchFamily="18" charset="2"/>
              </a:rPr>
              <a:t></a:t>
            </a:r>
            <a:endParaRPr lang="zh-CN" altLang="en-US">
              <a:latin typeface="Tahoma" pitchFamily="34" charset="0"/>
            </a:endParaRPr>
          </a:p>
        </p:txBody>
      </p:sp>
      <p:sp>
        <p:nvSpPr>
          <p:cNvPr id="27664" name="Rectangle 36"/>
          <p:cNvSpPr>
            <a:spLocks noChangeArrowheads="1"/>
          </p:cNvSpPr>
          <p:nvPr/>
        </p:nvSpPr>
        <p:spPr bwMode="auto">
          <a:xfrm>
            <a:off x="7239000" y="44196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7665" name="Group 37"/>
          <p:cNvGrpSpPr>
            <a:grpSpLocks/>
          </p:cNvGrpSpPr>
          <p:nvPr/>
        </p:nvGrpSpPr>
        <p:grpSpPr bwMode="auto">
          <a:xfrm>
            <a:off x="6629400" y="4419600"/>
            <a:ext cx="609600" cy="609600"/>
            <a:chOff x="1728" y="2880"/>
            <a:chExt cx="384" cy="384"/>
          </a:xfrm>
        </p:grpSpPr>
        <p:sp>
          <p:nvSpPr>
            <p:cNvPr id="27670" name="Rectangle 38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1" name="Text Box 39"/>
            <p:cNvSpPr txBox="1">
              <a:spLocks noChangeArrowheads="1"/>
            </p:cNvSpPr>
            <p:nvPr/>
          </p:nvSpPr>
          <p:spPr bwMode="auto">
            <a:xfrm>
              <a:off x="1819" y="2966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solidFill>
                    <a:schemeClr val="bg1"/>
                  </a:solidFill>
                  <a:latin typeface="Tahoma" pitchFamily="34" charset="0"/>
                </a:rPr>
                <a:t>C</a:t>
              </a:r>
            </a:p>
          </p:txBody>
        </p:sp>
      </p:grpSp>
      <p:sp>
        <p:nvSpPr>
          <p:cNvPr id="27666" name="Rectangle 40"/>
          <p:cNvSpPr>
            <a:spLocks noChangeArrowheads="1"/>
          </p:cNvSpPr>
          <p:nvPr/>
        </p:nvSpPr>
        <p:spPr bwMode="auto">
          <a:xfrm>
            <a:off x="6005513" y="4422775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7" name="Text Box 41"/>
          <p:cNvSpPr txBox="1">
            <a:spLocks noChangeArrowheads="1"/>
          </p:cNvSpPr>
          <p:nvPr/>
        </p:nvSpPr>
        <p:spPr bwMode="auto">
          <a:xfrm>
            <a:off x="7353300" y="4537075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Tahoma" pitchFamily="34" charset="0"/>
                <a:sym typeface="Symbol" pitchFamily="18" charset="2"/>
              </a:rPr>
              <a:t></a:t>
            </a:r>
            <a:endParaRPr lang="zh-CN" altLang="en-US">
              <a:latin typeface="Tahoma" pitchFamily="34" charset="0"/>
            </a:endParaRPr>
          </a:p>
        </p:txBody>
      </p:sp>
      <p:sp>
        <p:nvSpPr>
          <p:cNvPr id="27668" name="Line 42"/>
          <p:cNvSpPr>
            <a:spLocks noChangeShapeType="1"/>
          </p:cNvSpPr>
          <p:nvPr/>
        </p:nvSpPr>
        <p:spPr bwMode="auto">
          <a:xfrm flipH="1">
            <a:off x="5397500" y="4818063"/>
            <a:ext cx="965200" cy="1111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7669" name="Line 43"/>
          <p:cNvSpPr>
            <a:spLocks noChangeShapeType="1"/>
          </p:cNvSpPr>
          <p:nvPr/>
        </p:nvSpPr>
        <p:spPr bwMode="auto">
          <a:xfrm flipV="1">
            <a:off x="5067300" y="4664075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Array versus Linked Lists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981200"/>
            <a:ext cx="7848600" cy="4267200"/>
          </a:xfrm>
        </p:spPr>
        <p:txBody>
          <a:bodyPr/>
          <a:lstStyle/>
          <a:p>
            <a:r>
              <a:rPr lang="en-US" altLang="zh-CN" sz="2400" smtClean="0"/>
              <a:t>Linked lists are more complex to code and manage than arrays, but they have some distinct advantages.</a:t>
            </a:r>
          </a:p>
          <a:p>
            <a:pPr lvl="1"/>
            <a:r>
              <a:rPr lang="en-US" altLang="zh-CN" sz="2000" b="1" smtClean="0">
                <a:solidFill>
                  <a:schemeClr val="hlink"/>
                </a:solidFill>
              </a:rPr>
              <a:t>Dynamic</a:t>
            </a:r>
            <a:r>
              <a:rPr lang="en-US" altLang="zh-CN" sz="2000" smtClean="0"/>
              <a:t>: a linked list can easily grow and shrink in size.</a:t>
            </a:r>
          </a:p>
          <a:p>
            <a:pPr lvl="2"/>
            <a:r>
              <a:rPr lang="en-US" altLang="zh-CN" sz="1800" smtClean="0"/>
              <a:t>We don’t need to know how many nodes will be in the list. They are created in memory as needed.</a:t>
            </a:r>
          </a:p>
          <a:p>
            <a:pPr lvl="2"/>
            <a:r>
              <a:rPr lang="en-US" altLang="zh-CN" sz="1800" smtClean="0"/>
              <a:t>In contrast, the size of a C++ array is fixed at compilation time.</a:t>
            </a:r>
          </a:p>
          <a:p>
            <a:pPr lvl="1"/>
            <a:r>
              <a:rPr lang="en-US" altLang="zh-CN" sz="2000" b="1" smtClean="0">
                <a:solidFill>
                  <a:schemeClr val="hlink"/>
                </a:solidFill>
              </a:rPr>
              <a:t>Easy and fast insertions and deletions</a:t>
            </a:r>
          </a:p>
          <a:p>
            <a:pPr lvl="2"/>
            <a:r>
              <a:rPr lang="en-US" altLang="zh-CN" sz="1800" smtClean="0"/>
              <a:t>To insert or delete an element in an array, we need to copy to temporary variables to make room for new elements or close the gap caused by deleted elements.</a:t>
            </a:r>
          </a:p>
          <a:p>
            <a:pPr lvl="2"/>
            <a:r>
              <a:rPr lang="en-US" altLang="zh-CN" sz="1800" smtClean="0"/>
              <a:t>With a linked list, no need to move other nodes. Only need to reset some pointers.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1804</TotalTime>
  <Words>1050</Words>
  <Application>Microsoft Office PowerPoint</Application>
  <PresentationFormat>On-screen Show (4:3)</PresentationFormat>
  <Paragraphs>376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Arial</vt:lpstr>
      <vt:lpstr>Monotype Sorts</vt:lpstr>
      <vt:lpstr>Franklin Gothic Book</vt:lpstr>
      <vt:lpstr>Perpetua</vt:lpstr>
      <vt:lpstr>Wingdings 2</vt:lpstr>
      <vt:lpstr>Calibri</vt:lpstr>
      <vt:lpstr>新細明體</vt:lpstr>
      <vt:lpstr>微軟正黑體</vt:lpstr>
      <vt:lpstr>宋体</vt:lpstr>
      <vt:lpstr>Courier New</vt:lpstr>
      <vt:lpstr>Tahoma</vt:lpstr>
      <vt:lpstr>Symbol</vt:lpstr>
      <vt:lpstr>Arial Unicode MS</vt:lpstr>
      <vt:lpstr>Equity</vt:lpstr>
      <vt:lpstr>Linked Lists</vt:lpstr>
      <vt:lpstr>List Overview</vt:lpstr>
      <vt:lpstr>Linked Lists</vt:lpstr>
      <vt:lpstr>A Simple Linked List Class</vt:lpstr>
      <vt:lpstr>A Simple Linked List Class</vt:lpstr>
      <vt:lpstr>A Simple Linked List Class </vt:lpstr>
      <vt:lpstr>Inserting a new node</vt:lpstr>
      <vt:lpstr>Inserting a new node</vt:lpstr>
      <vt:lpstr>Inserting a new node</vt:lpstr>
      <vt:lpstr>Inserting a new node</vt:lpstr>
      <vt:lpstr>Inserting a new node</vt:lpstr>
      <vt:lpstr>Inserting a new node</vt:lpstr>
      <vt:lpstr>Finding a node</vt:lpstr>
      <vt:lpstr>Deleting a node</vt:lpstr>
      <vt:lpstr>Deleting a node</vt:lpstr>
      <vt:lpstr>Deleting a node</vt:lpstr>
      <vt:lpstr>Deleting a node</vt:lpstr>
      <vt:lpstr>Printing all the elements</vt:lpstr>
      <vt:lpstr>Destroying the list</vt:lpstr>
      <vt:lpstr>Using List</vt:lpstr>
      <vt:lpstr>Variations of Linked Lists</vt:lpstr>
      <vt:lpstr>Variations of Linked Lists</vt:lpstr>
      <vt:lpstr>Array versus Linked Lists</vt:lpstr>
    </vt:vector>
  </TitlesOfParts>
  <Company>HKUST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</dc:title>
  <dc:creator>fuhb</dc:creator>
  <cp:lastModifiedBy>Windows User</cp:lastModifiedBy>
  <cp:revision>114</cp:revision>
  <dcterms:created xsi:type="dcterms:W3CDTF">2005-09-02T05:46:43Z</dcterms:created>
  <dcterms:modified xsi:type="dcterms:W3CDTF">2021-11-08T15:11:57Z</dcterms:modified>
</cp:coreProperties>
</file>