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Nunito"/>
      <p:regular r:id="rId54"/>
      <p:bold r:id="rId55"/>
      <p:italic r:id="rId56"/>
      <p:boldItalic r:id="rId57"/>
    </p:embeddedFont>
    <p:embeddedFont>
      <p:font typeface="Century Gothic"/>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jdB3XUw28vm9qcWWC+Rzw9Knb9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9BEEAA-D534-408A-A0EF-D0AD3BC353A7}">
  <a:tblStyle styleId="{F89BEEAA-D534-408A-A0EF-D0AD3BC353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0EECDC7-5CD1-4221-8821-7F6EB2C338F3}"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E7E6"/>
          </a:solidFill>
        </a:fill>
      </a:tcStyle>
    </a:wholeTbl>
    <a:band1H>
      <a:tcTxStyle/>
      <a:tcStyle>
        <a:fill>
          <a:solidFill>
            <a:srgbClr val="E0CCCA"/>
          </a:solidFill>
        </a:fill>
      </a:tcStyle>
    </a:band1H>
    <a:band2H>
      <a:tcTxStyle/>
    </a:band2H>
    <a:band1V>
      <a:tcTxStyle/>
      <a:tcStyle>
        <a:fill>
          <a:solidFill>
            <a:srgbClr val="E0CC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font" Target="fonts/CenturyGothic-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CenturyGothic-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Nunito-bold.fntdata"/><Relationship Id="rId10" Type="http://schemas.openxmlformats.org/officeDocument/2006/relationships/slide" Target="slides/slide5.xml"/><Relationship Id="rId54" Type="http://schemas.openxmlformats.org/officeDocument/2006/relationships/font" Target="fonts/Nunito-regular.fntdata"/><Relationship Id="rId13" Type="http://schemas.openxmlformats.org/officeDocument/2006/relationships/slide" Target="slides/slide8.xml"/><Relationship Id="rId57" Type="http://schemas.openxmlformats.org/officeDocument/2006/relationships/font" Target="fonts/Nunito-boldItalic.fntdata"/><Relationship Id="rId12" Type="http://schemas.openxmlformats.org/officeDocument/2006/relationships/slide" Target="slides/slide7.xml"/><Relationship Id="rId56" Type="http://schemas.openxmlformats.org/officeDocument/2006/relationships/font" Target="fonts/Nunito-italic.fntdata"/><Relationship Id="rId15" Type="http://schemas.openxmlformats.org/officeDocument/2006/relationships/slide" Target="slides/slide10.xml"/><Relationship Id="rId59" Type="http://schemas.openxmlformats.org/officeDocument/2006/relationships/font" Target="fonts/CenturyGothic-bold.fntdata"/><Relationship Id="rId14" Type="http://schemas.openxmlformats.org/officeDocument/2006/relationships/slide" Target="slides/slide9.xml"/><Relationship Id="rId58" Type="http://schemas.openxmlformats.org/officeDocument/2006/relationships/font" Target="fonts/CenturyGothic-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50"/>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0"/>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5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0"/>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0"/>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5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5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53"/>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3"/>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60" name="Google Shape;60;p5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3"/>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3"/>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4" name="Shape 64"/>
        <p:cNvGrpSpPr/>
        <p:nvPr/>
      </p:nvGrpSpPr>
      <p:grpSpPr>
        <a:xfrm>
          <a:off x="0" y="0"/>
          <a:ext cx="0" cy="0"/>
          <a:chOff x="0" y="0"/>
          <a:chExt cx="0" cy="0"/>
        </a:xfrm>
      </p:grpSpPr>
      <p:sp>
        <p:nvSpPr>
          <p:cNvPr id="65" name="Google Shape;65;p5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4"/>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7" name="Google Shape;67;p54"/>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8" name="Google Shape;68;p5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2" name="Shape 72"/>
        <p:cNvGrpSpPr/>
        <p:nvPr/>
      </p:nvGrpSpPr>
      <p:grpSpPr>
        <a:xfrm>
          <a:off x="0" y="0"/>
          <a:ext cx="0" cy="0"/>
          <a:chOff x="0" y="0"/>
          <a:chExt cx="0" cy="0"/>
        </a:xfrm>
      </p:grpSpPr>
      <p:sp>
        <p:nvSpPr>
          <p:cNvPr id="73" name="Google Shape;73;p5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5"/>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5" name="Google Shape;75;p55"/>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6" name="Google Shape;76;p55"/>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7" name="Google Shape;77;p55"/>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8" name="Google Shape;78;p5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5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57"/>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7"/>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57"/>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5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58"/>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8"/>
          <p:cNvSpPr/>
          <p:nvPr>
            <p:ph idx="2" type="pic"/>
          </p:nvPr>
        </p:nvSpPr>
        <p:spPr>
          <a:xfrm>
            <a:off x="2589212" y="634965"/>
            <a:ext cx="8915400" cy="3854970"/>
          </a:xfrm>
          <a:prstGeom prst="rect">
            <a:avLst/>
          </a:prstGeom>
          <a:noFill/>
          <a:ln>
            <a:noFill/>
          </a:ln>
        </p:spPr>
      </p:sp>
      <p:sp>
        <p:nvSpPr>
          <p:cNvPr id="99" name="Google Shape;99;p58"/>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5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59"/>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9"/>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5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60"/>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60"/>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60"/>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6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60"/>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20" name="Google Shape;120;p60"/>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61"/>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61"/>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6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6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6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6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6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6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6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6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6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37" name="Google Shape;137;p6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63"/>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6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6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6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6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6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6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64"/>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6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6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6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65"/>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65"/>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6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6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6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5" name="Shape 5"/>
        <p:cNvGrpSpPr/>
        <p:nvPr/>
      </p:nvGrpSpPr>
      <p:grpSpPr>
        <a:xfrm>
          <a:off x="0" y="0"/>
          <a:ext cx="0" cy="0"/>
          <a:chOff x="0" y="0"/>
          <a:chExt cx="0" cy="0"/>
        </a:xfrm>
      </p:grpSpPr>
      <p:grpSp>
        <p:nvGrpSpPr>
          <p:cNvPr id="6" name="Google Shape;6;p49"/>
          <p:cNvGrpSpPr/>
          <p:nvPr/>
        </p:nvGrpSpPr>
        <p:grpSpPr>
          <a:xfrm>
            <a:off x="1" y="228600"/>
            <a:ext cx="2851516" cy="6638628"/>
            <a:chOff x="2487613" y="285750"/>
            <a:chExt cx="2428875" cy="5654676"/>
          </a:xfrm>
        </p:grpSpPr>
        <p:sp>
          <p:nvSpPr>
            <p:cNvPr id="7" name="Google Shape;7;p49"/>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49"/>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49"/>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49"/>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9"/>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9"/>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49"/>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49"/>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49"/>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9"/>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49"/>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9"/>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49"/>
          <p:cNvGrpSpPr/>
          <p:nvPr/>
        </p:nvGrpSpPr>
        <p:grpSpPr>
          <a:xfrm>
            <a:off x="27221" y="-786"/>
            <a:ext cx="2356674" cy="6854039"/>
            <a:chOff x="6627813" y="194833"/>
            <a:chExt cx="1952625" cy="5678918"/>
          </a:xfrm>
        </p:grpSpPr>
        <p:sp>
          <p:nvSpPr>
            <p:cNvPr id="20" name="Google Shape;20;p49"/>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9"/>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9"/>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9"/>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9"/>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9"/>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9"/>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9"/>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9"/>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9"/>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9"/>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9"/>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49"/>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9"/>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49"/>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4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4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4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abhaycopi.blogspot.com/2014/04/advanced-dram-organization.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geeksforgeeks.org/computer-organization-architecture/what-is-non-volatile-memory/" TargetMode="External"/><Relationship Id="rId4" Type="http://schemas.openxmlformats.org/officeDocument/2006/relationships/hyperlink" Target="https://www.geeksforgeeks.org/computer-organization-architecture/difference-between-information-and-data/" TargetMode="External"/><Relationship Id="rId5" Type="http://schemas.openxmlformats.org/officeDocument/2006/relationships/hyperlink" Target="https://www.geeksforgeeks.org/computer-science-fundamentals/central-processing-unit-cpu/"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geeksforgeeks.org/computer-organization-architecture/magnetic-tape-memor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geeksforgeeks.org/operating-systems/magnetic-disk-memory/" TargetMode="Externa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www.geeksforgeeks.org/computer-organization-architecture/advantages-and-disadvantages-of-optical-disk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www.geeksforgeeks.org/computer-science-fundamentals/dvd-full-form/" TargetMode="External"/><Relationship Id="rId4" Type="http://schemas.openxmlformats.org/officeDocument/2006/relationships/hyperlink" Target="https://www.geeksforgeeks.org/computer-science-fundamentals/dvd-r-full-form/" TargetMode="External"/><Relationship Id="rId5" Type="http://schemas.openxmlformats.org/officeDocument/2006/relationships/hyperlink" Target="https://www.geeksforgeeks.org/computer-science-fundamentals/dvd-rom-full-for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www.geeksforgeeks.org/computer-networks/universal-serial-bus-usb/" TargetMode="External"/><Relationship Id="rId4" Type="http://schemas.openxmlformats.org/officeDocument/2006/relationships/hyperlink" Target="https://www.geeksforgeeks.org/computer-networks/sata-full-for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www.geeksforgeeks.org/dbms/difference-between-data-redundancy-and-data-inconsistency/"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www.geeksforgeeks.org/operating-systems/disk-striping-raid-0/" TargetMode="Externa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www.geeksforgeeks.org/operating-systems/disk-mirroring-raid-1/" TargetMode="Externa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www.geeksforgeeks.org/computer-networks/hamming-code-in-computer-network/" TargetMode="Externa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ctrTitle"/>
          </p:nvPr>
        </p:nvSpPr>
        <p:spPr>
          <a:xfrm>
            <a:off x="1749242" y="1371600"/>
            <a:ext cx="8915399" cy="853967"/>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INTERNAL MEMORY</a:t>
            </a:r>
            <a:endParaRPr/>
          </a:p>
        </p:txBody>
      </p:sp>
      <p:sp>
        <p:nvSpPr>
          <p:cNvPr id="165" name="Google Shape;165;p1"/>
          <p:cNvSpPr txBox="1"/>
          <p:nvPr>
            <p:ph idx="1" type="subTitle"/>
          </p:nvPr>
        </p:nvSpPr>
        <p:spPr>
          <a:xfrm>
            <a:off x="1749242" y="2682766"/>
            <a:ext cx="8915399" cy="11262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US">
                <a:latin typeface="Times New Roman"/>
                <a:ea typeface="Times New Roman"/>
                <a:cs typeface="Times New Roman"/>
                <a:sym typeface="Times New Roman"/>
              </a:rPr>
              <a:t>Internal Memory- semiconductor main memory, advanced DRAM organization. External Memory, Hard Disk organization. RAID- level 1 to level 6.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 Introduction to Internal Memory</a:t>
            </a:r>
            <a:br>
              <a:rPr b="1" lang="en-US"/>
            </a:br>
            <a:endParaRPr/>
          </a:p>
        </p:txBody>
      </p:sp>
      <p:sp>
        <p:nvSpPr>
          <p:cNvPr id="171" name="Google Shape;171;p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Internal memory is also called </a:t>
            </a:r>
            <a:r>
              <a:rPr b="1" lang="en-US"/>
              <a:t>primary memory</a:t>
            </a:r>
            <a:r>
              <a:rPr lang="en-US"/>
              <a:t> or </a:t>
            </a:r>
            <a:r>
              <a:rPr b="1" lang="en-US"/>
              <a:t>main memory</a:t>
            </a:r>
            <a:r>
              <a:rPr lang="en-US"/>
              <a:t>.</a:t>
            </a:r>
            <a:endParaRPr/>
          </a:p>
          <a:p>
            <a:pPr indent="-342900" lvl="0" marL="342900" rtl="0" algn="l">
              <a:spcBef>
                <a:spcPts val="1000"/>
              </a:spcBef>
              <a:spcAft>
                <a:spcPts val="0"/>
              </a:spcAft>
              <a:buSzPts val="1800"/>
              <a:buChar char="🠶"/>
            </a:pPr>
            <a:r>
              <a:rPr lang="en-US"/>
              <a:t>It stores data and instructions currently being used by the CPU.</a:t>
            </a:r>
            <a:endParaRPr/>
          </a:p>
          <a:p>
            <a:pPr indent="-342900" lvl="0" marL="342900" rtl="0" algn="l">
              <a:spcBef>
                <a:spcPts val="1000"/>
              </a:spcBef>
              <a:spcAft>
                <a:spcPts val="0"/>
              </a:spcAft>
              <a:buSzPts val="1800"/>
              <a:buChar char="🠶"/>
            </a:pPr>
            <a:r>
              <a:rPr lang="en-US"/>
              <a:t>Located close to or inside the processor, providing high-speed access.</a:t>
            </a:r>
            <a:endParaRPr/>
          </a:p>
          <a:p>
            <a:pPr indent="-342900" lvl="0" marL="342900" rtl="0" algn="l">
              <a:spcBef>
                <a:spcPts val="1000"/>
              </a:spcBef>
              <a:spcAft>
                <a:spcPts val="0"/>
              </a:spcAft>
              <a:buSzPts val="1800"/>
              <a:buChar char="🠶"/>
            </a:pPr>
            <a:r>
              <a:rPr lang="en-US"/>
              <a:t>Acts as a </a:t>
            </a:r>
            <a:r>
              <a:rPr b="1" lang="en-US"/>
              <a:t>bridge between CPU and secondary storage</a:t>
            </a:r>
            <a:r>
              <a:rPr lang="en-US"/>
              <a:t> (HDD, SSD).</a:t>
            </a:r>
            <a:endParaRPr/>
          </a:p>
          <a:p>
            <a:pPr indent="-342900" lvl="0" marL="342900" rtl="0" algn="l">
              <a:spcBef>
                <a:spcPts val="1000"/>
              </a:spcBef>
              <a:spcAft>
                <a:spcPts val="0"/>
              </a:spcAft>
              <a:buSzPts val="1800"/>
              <a:buChar char="🠶"/>
            </a:pPr>
            <a:r>
              <a:rPr lang="en-US"/>
              <a:t>It includes high-speed storage components such as </a:t>
            </a:r>
            <a:r>
              <a:rPr b="1" lang="en-US"/>
              <a:t>registers, cache memory, and main memory (RAM)</a:t>
            </a:r>
            <a:r>
              <a:rPr lang="en-US"/>
              <a:t>, and some forms of </a:t>
            </a:r>
            <a:r>
              <a:rPr b="1" lang="en-US"/>
              <a:t>ROM</a:t>
            </a:r>
            <a:r>
              <a:rPr lang="en-US"/>
              <a:t> used to store system-level instructions.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
          <p:cNvSpPr txBox="1"/>
          <p:nvPr>
            <p:ph idx="1" type="body"/>
          </p:nvPr>
        </p:nvSpPr>
        <p:spPr>
          <a:xfrm>
            <a:off x="2142644" y="1240465"/>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Types of Internal Memory</a:t>
            </a:r>
            <a:endParaRPr/>
          </a:p>
          <a:p>
            <a:pPr indent="-342900" lvl="0" marL="342900" rtl="0" algn="l">
              <a:spcBef>
                <a:spcPts val="1000"/>
              </a:spcBef>
              <a:spcAft>
                <a:spcPts val="0"/>
              </a:spcAft>
              <a:buSzPts val="1800"/>
              <a:buChar char="🠶"/>
            </a:pPr>
            <a:r>
              <a:rPr lang="en-US"/>
              <a:t>Internal memory is generally classified into:</a:t>
            </a:r>
            <a:endParaRPr/>
          </a:p>
          <a:p>
            <a:pPr indent="-342900" lvl="0" marL="342900" rtl="0" algn="l">
              <a:spcBef>
                <a:spcPts val="1000"/>
              </a:spcBef>
              <a:spcAft>
                <a:spcPts val="0"/>
              </a:spcAft>
              <a:buSzPts val="1800"/>
              <a:buChar char="🠶"/>
            </a:pPr>
            <a:r>
              <a:rPr b="1" lang="en-US"/>
              <a:t>CPU Registers</a:t>
            </a:r>
            <a:endParaRPr/>
          </a:p>
          <a:p>
            <a:pPr indent="-342900" lvl="0" marL="342900" rtl="0" algn="l">
              <a:spcBef>
                <a:spcPts val="1000"/>
              </a:spcBef>
              <a:spcAft>
                <a:spcPts val="0"/>
              </a:spcAft>
              <a:buSzPts val="1800"/>
              <a:buChar char="🠶"/>
            </a:pPr>
            <a:r>
              <a:rPr b="1" lang="en-US"/>
              <a:t>Cache Memory (L1, L2, L3)</a:t>
            </a:r>
            <a:endParaRPr/>
          </a:p>
          <a:p>
            <a:pPr indent="-342900" lvl="0" marL="342900" rtl="0" algn="l">
              <a:spcBef>
                <a:spcPts val="1000"/>
              </a:spcBef>
              <a:spcAft>
                <a:spcPts val="0"/>
              </a:spcAft>
              <a:buSzPts val="1800"/>
              <a:buChar char="🠶"/>
            </a:pPr>
            <a:r>
              <a:rPr b="1" lang="en-US"/>
              <a:t>Main Memory (RAM)</a:t>
            </a:r>
            <a:endParaRPr/>
          </a:p>
          <a:p>
            <a:pPr indent="-342900" lvl="0" marL="342900" rtl="0" algn="l">
              <a:spcBef>
                <a:spcPts val="1000"/>
              </a:spcBef>
              <a:spcAft>
                <a:spcPts val="0"/>
              </a:spcAft>
              <a:buSzPts val="1800"/>
              <a:buChar char="🠶"/>
            </a:pPr>
            <a:r>
              <a:rPr b="1" lang="en-US"/>
              <a:t>Read Only Memory (ROM)</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Semiconductor Main Memory</a:t>
            </a:r>
            <a:br>
              <a:rPr b="1" lang="en-US"/>
            </a:br>
            <a:endParaRPr/>
          </a:p>
        </p:txBody>
      </p:sp>
      <p:sp>
        <p:nvSpPr>
          <p:cNvPr id="182" name="Google Shape;182;p4"/>
          <p:cNvSpPr txBox="1"/>
          <p:nvPr>
            <p:ph idx="1" type="body"/>
          </p:nvPr>
        </p:nvSpPr>
        <p:spPr>
          <a:xfrm>
            <a:off x="1717342" y="1414130"/>
            <a:ext cx="8915400" cy="551829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Semiconductor memory is the primary storage used in computers, made using semiconductor (silicon-based) technology.</a:t>
            </a:r>
            <a:endParaRPr/>
          </a:p>
          <a:p>
            <a:pPr indent="-342900" lvl="0" marL="342900" rtl="0" algn="l">
              <a:spcBef>
                <a:spcPts val="1000"/>
              </a:spcBef>
              <a:spcAft>
                <a:spcPts val="0"/>
              </a:spcAft>
              <a:buSzPts val="1800"/>
              <a:buChar char="🠶"/>
            </a:pPr>
            <a:r>
              <a:rPr lang="en-US"/>
              <a:t> It includes </a:t>
            </a:r>
            <a:r>
              <a:rPr b="1" lang="en-US"/>
              <a:t>RAM</a:t>
            </a:r>
            <a:r>
              <a:rPr lang="en-US"/>
              <a:t>, </a:t>
            </a:r>
            <a:r>
              <a:rPr b="1" lang="en-US"/>
              <a:t>ROM</a:t>
            </a:r>
            <a:r>
              <a:rPr lang="en-US"/>
              <a:t>, and several special-purpose memory types.</a:t>
            </a:r>
            <a:endParaRPr/>
          </a:p>
          <a:p>
            <a:pPr indent="0" lvl="0" marL="0" rtl="0" algn="l">
              <a:spcBef>
                <a:spcPts val="1000"/>
              </a:spcBef>
              <a:spcAft>
                <a:spcPts val="0"/>
              </a:spcAft>
              <a:buSzPts val="1800"/>
              <a:buNone/>
            </a:pPr>
            <a:r>
              <a:t/>
            </a:r>
            <a:endParaRPr b="1"/>
          </a:p>
          <a:p>
            <a:pPr indent="0" lvl="0" marL="0" rtl="0" algn="l">
              <a:spcBef>
                <a:spcPts val="1000"/>
              </a:spcBef>
              <a:spcAft>
                <a:spcPts val="0"/>
              </a:spcAft>
              <a:buSzPts val="1800"/>
              <a:buNone/>
            </a:pPr>
            <a:r>
              <a:rPr b="1" lang="en-US"/>
              <a:t>Characteristics of Semiconductor Memory</a:t>
            </a:r>
            <a:endParaRPr/>
          </a:p>
          <a:p>
            <a:pPr indent="-342900" lvl="0" marL="342900" rtl="0" algn="l">
              <a:spcBef>
                <a:spcPts val="1000"/>
              </a:spcBef>
              <a:spcAft>
                <a:spcPts val="0"/>
              </a:spcAft>
              <a:buSzPts val="1800"/>
              <a:buChar char="🠶"/>
            </a:pPr>
            <a:r>
              <a:rPr b="1" lang="en-US"/>
              <a:t>Volatile or non-volatile:</a:t>
            </a:r>
            <a:endParaRPr/>
          </a:p>
          <a:p>
            <a:pPr indent="-285750" lvl="1" marL="742950" rtl="0" algn="l">
              <a:spcBef>
                <a:spcPts val="1000"/>
              </a:spcBef>
              <a:spcAft>
                <a:spcPts val="0"/>
              </a:spcAft>
              <a:buSzPts val="1600"/>
              <a:buChar char="🠶"/>
            </a:pPr>
            <a:r>
              <a:rPr lang="en-US"/>
              <a:t>RAM → volatile</a:t>
            </a:r>
            <a:endParaRPr/>
          </a:p>
          <a:p>
            <a:pPr indent="-285750" lvl="1" marL="742950" rtl="0" algn="l">
              <a:spcBef>
                <a:spcPts val="1000"/>
              </a:spcBef>
              <a:spcAft>
                <a:spcPts val="0"/>
              </a:spcAft>
              <a:buSzPts val="1600"/>
              <a:buChar char="🠶"/>
            </a:pPr>
            <a:r>
              <a:rPr lang="en-US"/>
              <a:t>ROM, Flash → non-volatile</a:t>
            </a:r>
            <a:endParaRPr/>
          </a:p>
          <a:p>
            <a:pPr indent="-342900" lvl="0" marL="342900" rtl="0" algn="l">
              <a:spcBef>
                <a:spcPts val="1000"/>
              </a:spcBef>
              <a:spcAft>
                <a:spcPts val="0"/>
              </a:spcAft>
              <a:buSzPts val="1800"/>
              <a:buChar char="🠶"/>
            </a:pPr>
            <a:r>
              <a:rPr b="1" lang="en-US"/>
              <a:t>Fast access time</a:t>
            </a:r>
            <a:r>
              <a:rPr lang="en-US"/>
              <a:t> compared to magnetic/optical storage.</a:t>
            </a:r>
            <a:endParaRPr/>
          </a:p>
          <a:p>
            <a:pPr indent="-342900" lvl="0" marL="342900" rtl="0" algn="l">
              <a:spcBef>
                <a:spcPts val="1000"/>
              </a:spcBef>
              <a:spcAft>
                <a:spcPts val="0"/>
              </a:spcAft>
              <a:buSzPts val="1800"/>
              <a:buChar char="🠶"/>
            </a:pPr>
            <a:r>
              <a:rPr b="1" lang="en-US"/>
              <a:t>Random access:</a:t>
            </a:r>
            <a:r>
              <a:rPr lang="en-US"/>
              <a:t> All locations accessible in equal time.</a:t>
            </a:r>
            <a:endParaRPr/>
          </a:p>
          <a:p>
            <a:pPr indent="-342900" lvl="0" marL="342900" rtl="0" algn="l">
              <a:spcBef>
                <a:spcPts val="1000"/>
              </a:spcBef>
              <a:spcAft>
                <a:spcPts val="0"/>
              </a:spcAft>
              <a:buSzPts val="1800"/>
              <a:buChar char="🠶"/>
            </a:pPr>
            <a:r>
              <a:rPr b="1" lang="en-US"/>
              <a:t>Low power consumption</a:t>
            </a:r>
            <a:r>
              <a:rPr lang="en-US"/>
              <a:t> (especially static RAM).</a:t>
            </a:r>
            <a:endParaRPr/>
          </a:p>
          <a:p>
            <a:pPr indent="-342900" lvl="0" marL="342900" rtl="0" algn="l">
              <a:spcBef>
                <a:spcPts val="1000"/>
              </a:spcBef>
              <a:spcAft>
                <a:spcPts val="0"/>
              </a:spcAft>
              <a:buSzPts val="1800"/>
              <a:buChar char="🠶"/>
            </a:pPr>
            <a:r>
              <a:rPr b="1" lang="en-US"/>
              <a:t>Integrated on chips</a:t>
            </a:r>
            <a:r>
              <a:rPr lang="en-US"/>
              <a:t>, allowing compact, dense memory modules.</a:t>
            </a:r>
            <a:endParaRPr/>
          </a:p>
          <a:p>
            <a:pPr indent="-342900" lvl="0" marL="342900" rtl="0" algn="l">
              <a:spcBef>
                <a:spcPts val="1000"/>
              </a:spcBef>
              <a:spcAft>
                <a:spcPts val="0"/>
              </a:spcAft>
              <a:buSzPts val="1800"/>
              <a:buChar char="🠶"/>
            </a:pPr>
            <a:r>
              <a:rPr b="1" lang="en-US"/>
              <a:t>Used as primary memory</a:t>
            </a:r>
            <a:r>
              <a:rPr lang="en-US"/>
              <a:t> in the memory hierarchy.</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1541721" y="624110"/>
            <a:ext cx="9962891" cy="77938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Types of Semiconductor Memory</a:t>
            </a:r>
            <a:br>
              <a:rPr b="1" lang="en-US"/>
            </a:br>
            <a:endParaRPr/>
          </a:p>
        </p:txBody>
      </p:sp>
      <p:sp>
        <p:nvSpPr>
          <p:cNvPr id="188" name="Google Shape;188;p5"/>
          <p:cNvSpPr txBox="1"/>
          <p:nvPr>
            <p:ph idx="1" type="body"/>
          </p:nvPr>
        </p:nvSpPr>
        <p:spPr>
          <a:xfrm>
            <a:off x="1467293" y="1403498"/>
            <a:ext cx="9229060" cy="5139069"/>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100000"/>
              <a:buChar char="🠶"/>
            </a:pPr>
            <a:r>
              <a:rPr b="1" lang="en-US"/>
              <a:t>There are two types of semi conductor memory</a:t>
            </a:r>
            <a:endParaRPr/>
          </a:p>
          <a:p>
            <a:pPr indent="-237172" lvl="0" marL="342900" rtl="0" algn="l">
              <a:spcBef>
                <a:spcPts val="1000"/>
              </a:spcBef>
              <a:spcAft>
                <a:spcPts val="0"/>
              </a:spcAft>
              <a:buSzPct val="100000"/>
              <a:buNone/>
            </a:pPr>
            <a:r>
              <a:t/>
            </a:r>
            <a:endParaRPr b="1"/>
          </a:p>
          <a:p>
            <a:pPr indent="-342900" lvl="0" marL="342900" rtl="0" algn="l">
              <a:spcBef>
                <a:spcPts val="1000"/>
              </a:spcBef>
              <a:spcAft>
                <a:spcPts val="0"/>
              </a:spcAft>
              <a:buSzPct val="100000"/>
              <a:buAutoNum type="arabicPeriod"/>
            </a:pPr>
            <a:r>
              <a:rPr lang="en-US"/>
              <a:t>Random Access Memory(RAM)</a:t>
            </a:r>
            <a:endParaRPr/>
          </a:p>
          <a:p>
            <a:pPr indent="-342900" lvl="0" marL="342900" rtl="0" algn="l">
              <a:spcBef>
                <a:spcPts val="1000"/>
              </a:spcBef>
              <a:spcAft>
                <a:spcPts val="0"/>
              </a:spcAft>
              <a:buSzPct val="100000"/>
              <a:buAutoNum type="arabicPeriod"/>
            </a:pPr>
            <a:r>
              <a:rPr lang="en-US"/>
              <a:t>Read-Only Memory(ROM)</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b="1" lang="en-US"/>
              <a:t>Random Access Memory(RAM):</a:t>
            </a:r>
            <a:endParaRPr/>
          </a:p>
          <a:p>
            <a:pPr indent="0" lvl="0" marL="0" rtl="0" algn="l">
              <a:spcBef>
                <a:spcPts val="1000"/>
              </a:spcBef>
              <a:spcAft>
                <a:spcPts val="0"/>
              </a:spcAft>
              <a:buSzPct val="100000"/>
              <a:buNone/>
            </a:pPr>
            <a:r>
              <a:t/>
            </a:r>
            <a:endParaRPr b="1"/>
          </a:p>
          <a:p>
            <a:pPr indent="-342900" lvl="0" marL="342900" rtl="0" algn="l">
              <a:spcBef>
                <a:spcPts val="1000"/>
              </a:spcBef>
              <a:spcAft>
                <a:spcPts val="0"/>
              </a:spcAft>
              <a:buSzPct val="100000"/>
              <a:buChar char="🠶"/>
            </a:pPr>
            <a:r>
              <a:rPr lang="en-US"/>
              <a:t>It permits information to be gotten to in any request, making it appropriate for brief capacity.</a:t>
            </a:r>
            <a:endParaRPr/>
          </a:p>
          <a:p>
            <a:pPr indent="-342900" lvl="0" marL="342900" rtl="0" algn="l">
              <a:spcBef>
                <a:spcPts val="1000"/>
              </a:spcBef>
              <a:spcAft>
                <a:spcPts val="0"/>
              </a:spcAft>
              <a:buSzPct val="100000"/>
              <a:buChar char="🠶"/>
            </a:pPr>
            <a:r>
              <a:rPr b="1" lang="en-US"/>
              <a:t>Type:</a:t>
            </a:r>
            <a:r>
              <a:rPr lang="en-US"/>
              <a:t> Unpredictable - information evaporates without power.</a:t>
            </a:r>
            <a:endParaRPr/>
          </a:p>
          <a:p>
            <a:pPr indent="-342900" lvl="0" marL="342900" rtl="0" algn="l">
              <a:spcBef>
                <a:spcPts val="1000"/>
              </a:spcBef>
              <a:spcAft>
                <a:spcPts val="0"/>
              </a:spcAft>
              <a:buSzPct val="100000"/>
              <a:buChar char="🠶"/>
            </a:pPr>
            <a:r>
              <a:rPr b="1" lang="en-US"/>
              <a:t>Function:</a:t>
            </a:r>
            <a:r>
              <a:rPr lang="en-US"/>
              <a:t> stores data for active applications on a temporary basis.</a:t>
            </a:r>
            <a:endParaRPr/>
          </a:p>
          <a:p>
            <a:pPr indent="-342900" lvl="0" marL="342900" rtl="0" algn="l">
              <a:spcBef>
                <a:spcPts val="1000"/>
              </a:spcBef>
              <a:spcAft>
                <a:spcPts val="0"/>
              </a:spcAft>
              <a:buSzPct val="100000"/>
              <a:buChar char="🠶"/>
            </a:pPr>
            <a:r>
              <a:rPr b="1" lang="en-US"/>
              <a:t>Speed:</a:t>
            </a:r>
            <a:r>
              <a:rPr lang="en-US"/>
              <a:t> lightning-fast access in a flash.</a:t>
            </a:r>
            <a:endParaRPr/>
          </a:p>
          <a:p>
            <a:pPr indent="-342900" lvl="0" marL="342900" rtl="0" algn="l">
              <a:spcBef>
                <a:spcPts val="1000"/>
              </a:spcBef>
              <a:spcAft>
                <a:spcPts val="0"/>
              </a:spcAft>
              <a:buSzPct val="100000"/>
              <a:buChar char="🠶"/>
            </a:pPr>
            <a:r>
              <a:rPr b="1" lang="en-US"/>
              <a:t>Capacity:</a:t>
            </a:r>
            <a:r>
              <a:rPr lang="en-US"/>
              <a:t> Normally more modest than ROM.</a:t>
            </a:r>
            <a:endParaRPr/>
          </a:p>
          <a:p>
            <a:pPr indent="-342900" lvl="0" marL="342900" rtl="0" algn="l">
              <a:spcBef>
                <a:spcPts val="1000"/>
              </a:spcBef>
              <a:spcAft>
                <a:spcPts val="0"/>
              </a:spcAft>
              <a:buSzPct val="100000"/>
              <a:buChar char="🠶"/>
            </a:pPr>
            <a:r>
              <a:rPr b="1" lang="en-US"/>
              <a:t>Applications:</a:t>
            </a:r>
            <a:r>
              <a:rPr lang="en-US"/>
              <a:t> Running projects, open documents, program tabs.</a:t>
            </a:r>
            <a:endParaRPr/>
          </a:p>
          <a:p>
            <a:pPr indent="0" lvl="0" marL="0" rtl="0" algn="l">
              <a:spcBef>
                <a:spcPts val="1000"/>
              </a:spcBef>
              <a:spcAft>
                <a:spcPts val="0"/>
              </a:spcAft>
              <a:buSzPct val="100000"/>
              <a:buNone/>
            </a:pPr>
            <a:br>
              <a:rPr lang="en-US"/>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6"/>
          <p:cNvPicPr preferRelativeResize="0"/>
          <p:nvPr/>
        </p:nvPicPr>
        <p:blipFill rotWithShape="1">
          <a:blip r:embed="rId3">
            <a:alphaModFix/>
          </a:blip>
          <a:srcRect b="0" l="0" r="0" t="0"/>
          <a:stretch/>
        </p:blipFill>
        <p:spPr>
          <a:xfrm>
            <a:off x="2764465" y="1190847"/>
            <a:ext cx="6815470" cy="46145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7"/>
          <p:cNvSpPr/>
          <p:nvPr/>
        </p:nvSpPr>
        <p:spPr>
          <a:xfrm>
            <a:off x="1414129" y="1305342"/>
            <a:ext cx="10069034"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entury Gothic"/>
                <a:ea typeface="Century Gothic"/>
                <a:cs typeface="Century Gothic"/>
                <a:sym typeface="Century Gothic"/>
              </a:rPr>
              <a:t>Read Only Memory(ROM)</a:t>
            </a:r>
            <a:endParaRPr/>
          </a:p>
          <a:p>
            <a:pPr indent="0" lvl="0" marL="0" marR="0" rtl="0" algn="l">
              <a:spcBef>
                <a:spcPts val="0"/>
              </a:spcBef>
              <a:spcAft>
                <a:spcPts val="0"/>
              </a:spcAft>
              <a:buNone/>
            </a:pPr>
            <a:r>
              <a:t/>
            </a:r>
            <a:endParaRPr b="1" i="0" sz="1800" u="none" cap="none" strike="noStrike">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US" sz="1800" u="none" cap="none" strike="noStrike">
                <a:solidFill>
                  <a:schemeClr val="dk1"/>
                </a:solidFill>
                <a:latin typeface="Century Gothic"/>
                <a:ea typeface="Century Gothic"/>
                <a:cs typeface="Century Gothic"/>
                <a:sym typeface="Century Gothic"/>
              </a:rPr>
              <a:t>I</a:t>
            </a:r>
            <a:r>
              <a:rPr b="0" i="0" lang="en-US" sz="1800" u="none" cap="none" strike="noStrike">
                <a:solidFill>
                  <a:schemeClr val="dk1"/>
                </a:solidFill>
                <a:latin typeface="Century Gothic"/>
                <a:ea typeface="Century Gothic"/>
                <a:cs typeface="Century Gothic"/>
                <a:sym typeface="Century Gothic"/>
              </a:rPr>
              <a:t>nformation is for all time put away and can't be changed during typical activity. </a:t>
            </a:r>
            <a:endParaRPr b="0" i="0" sz="1800" u="none" cap="none" strike="noStrike">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0" i="0" lang="en-US" sz="1800" u="none" cap="none" strike="noStrike">
                <a:solidFill>
                  <a:schemeClr val="dk1"/>
                </a:solidFill>
                <a:latin typeface="Century Gothic"/>
                <a:ea typeface="Century Gothic"/>
                <a:cs typeface="Century Gothic"/>
                <a:sym typeface="Century Gothic"/>
              </a:rPr>
              <a:t>It is utilized for putting away firmware and other basic information.</a:t>
            </a:r>
            <a:endParaRPr/>
          </a:p>
          <a:p>
            <a:pPr indent="0" lvl="0" marL="0" marR="0" rtl="0" algn="just">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a:p>
            <a:pPr indent="-114300" lvl="0" marL="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entury Gothic"/>
                <a:ea typeface="Century Gothic"/>
                <a:cs typeface="Century Gothic"/>
                <a:sym typeface="Century Gothic"/>
              </a:rPr>
              <a:t>Type:</a:t>
            </a:r>
            <a:r>
              <a:rPr b="0" i="0" lang="en-US" sz="1800" u="none" cap="none" strike="noStrike">
                <a:solidFill>
                  <a:schemeClr val="dk1"/>
                </a:solidFill>
                <a:latin typeface="Century Gothic"/>
                <a:ea typeface="Century Gothic"/>
                <a:cs typeface="Century Gothic"/>
                <a:sym typeface="Century Gothic"/>
              </a:rPr>
              <a:t> Non-unstable - information perseveres even without power.</a:t>
            </a:r>
            <a:endParaRPr/>
          </a:p>
          <a:p>
            <a:pPr indent="0" lvl="0" marL="0" marR="0" rtl="0" algn="l">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a:p>
            <a:pPr indent="-114300" lvl="0" marL="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entury Gothic"/>
                <a:ea typeface="Century Gothic"/>
                <a:cs typeface="Century Gothic"/>
                <a:sym typeface="Century Gothic"/>
              </a:rPr>
              <a:t>Function:</a:t>
            </a:r>
            <a:r>
              <a:rPr b="0" i="0" lang="en-US" sz="1800" u="none" cap="none" strike="noStrike">
                <a:solidFill>
                  <a:schemeClr val="dk1"/>
                </a:solidFill>
                <a:latin typeface="Century Gothic"/>
                <a:ea typeface="Century Gothic"/>
                <a:cs typeface="Century Gothic"/>
                <a:sym typeface="Century Gothic"/>
              </a:rPr>
              <a:t> provides permanent storage for essential functions.</a:t>
            </a:r>
            <a:endParaRPr/>
          </a:p>
          <a:p>
            <a:pPr indent="0" lvl="0" marL="0" marR="0" rtl="0" algn="l">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a:p>
            <a:pPr indent="-114300" lvl="0" marL="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entury Gothic"/>
                <a:ea typeface="Century Gothic"/>
                <a:cs typeface="Century Gothic"/>
                <a:sym typeface="Century Gothic"/>
              </a:rPr>
              <a:t>Speed:</a:t>
            </a:r>
            <a:r>
              <a:rPr b="0" i="0" lang="en-US" sz="1800" u="none" cap="none" strike="noStrike">
                <a:solidFill>
                  <a:schemeClr val="dk1"/>
                </a:solidFill>
                <a:latin typeface="Century Gothic"/>
                <a:ea typeface="Century Gothic"/>
                <a:cs typeface="Century Gothic"/>
                <a:sym typeface="Century Gothic"/>
              </a:rPr>
              <a:t> More slow than Smash, as information recovery isn't as incessant.</a:t>
            </a:r>
            <a:endParaRPr/>
          </a:p>
          <a:p>
            <a:pPr indent="0" lvl="0" marL="0" marR="0" rtl="0" algn="l">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a:p>
            <a:pPr indent="-114300" lvl="0" marL="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entury Gothic"/>
                <a:ea typeface="Century Gothic"/>
                <a:cs typeface="Century Gothic"/>
                <a:sym typeface="Century Gothic"/>
              </a:rPr>
              <a:t>Capacity:</a:t>
            </a:r>
            <a:r>
              <a:rPr b="0" i="0" lang="en-US" sz="1800" u="none" cap="none" strike="noStrike">
                <a:solidFill>
                  <a:schemeClr val="dk1"/>
                </a:solidFill>
                <a:latin typeface="Century Gothic"/>
                <a:ea typeface="Century Gothic"/>
                <a:cs typeface="Century Gothic"/>
                <a:sym typeface="Century Gothic"/>
              </a:rPr>
              <a:t> Variable based on device complexity.</a:t>
            </a:r>
            <a:endParaRPr/>
          </a:p>
          <a:p>
            <a:pPr indent="0" lvl="0" marL="0" marR="0" rtl="0" algn="l">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a:p>
            <a:pPr indent="-114300" lvl="0" marL="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entury Gothic"/>
                <a:ea typeface="Century Gothic"/>
                <a:cs typeface="Century Gothic"/>
                <a:sym typeface="Century Gothic"/>
              </a:rPr>
              <a:t>Applications:</a:t>
            </a:r>
            <a:r>
              <a:rPr b="0" i="0" lang="en-US" sz="1800" u="none" cap="none" strike="noStrike">
                <a:solidFill>
                  <a:schemeClr val="dk1"/>
                </a:solidFill>
                <a:latin typeface="Century Gothic"/>
                <a:ea typeface="Century Gothic"/>
                <a:cs typeface="Century Gothic"/>
                <a:sym typeface="Century Gothic"/>
              </a:rPr>
              <a:t> Firmware, the operating system, and device drivers.</a:t>
            </a:r>
            <a:endParaRPr/>
          </a:p>
          <a:p>
            <a:pPr indent="0" lvl="0" marL="0" marR="0" rtl="0" algn="l">
              <a:spcBef>
                <a:spcPts val="0"/>
              </a:spcBef>
              <a:spcAft>
                <a:spcPts val="0"/>
              </a:spcAft>
              <a:buNone/>
            </a:pPr>
            <a:br>
              <a:rPr b="0" i="0" lang="en-US" sz="1800" u="none" cap="none" strike="noStrike">
                <a:solidFill>
                  <a:schemeClr val="dk1"/>
                </a:solidFill>
                <a:latin typeface="Century Gothic"/>
                <a:ea typeface="Century Gothic"/>
                <a:cs typeface="Century Gothic"/>
                <a:sym typeface="Century Gothic"/>
              </a:rPr>
            </a:b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8"/>
          <p:cNvPicPr preferRelativeResize="0"/>
          <p:nvPr/>
        </p:nvPicPr>
        <p:blipFill rotWithShape="1">
          <a:blip r:embed="rId3">
            <a:alphaModFix/>
          </a:blip>
          <a:srcRect b="0" l="0" r="0" t="0"/>
          <a:stretch/>
        </p:blipFill>
        <p:spPr>
          <a:xfrm>
            <a:off x="2530549" y="1590418"/>
            <a:ext cx="6081823" cy="3677163"/>
          </a:xfrm>
          <a:prstGeom prst="rect">
            <a:avLst/>
          </a:prstGeom>
          <a:noFill/>
          <a:ln>
            <a:noFill/>
          </a:ln>
        </p:spPr>
      </p:pic>
      <p:pic>
        <p:nvPicPr>
          <p:cNvPr id="204" name="Google Shape;204;p8"/>
          <p:cNvPicPr preferRelativeResize="0"/>
          <p:nvPr/>
        </p:nvPicPr>
        <p:blipFill rotWithShape="1">
          <a:blip r:embed="rId4">
            <a:alphaModFix/>
          </a:blip>
          <a:srcRect b="0" l="0" r="0" t="0"/>
          <a:stretch/>
        </p:blipFill>
        <p:spPr>
          <a:xfrm>
            <a:off x="2530549" y="894996"/>
            <a:ext cx="1105054" cy="6954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txBox="1"/>
          <p:nvPr>
            <p:ph type="title"/>
          </p:nvPr>
        </p:nvSpPr>
        <p:spPr>
          <a:xfrm>
            <a:off x="1807535" y="92482"/>
            <a:ext cx="9473793"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Working of Semiconductor Memory</a:t>
            </a:r>
            <a:br>
              <a:rPr b="1" lang="en-US"/>
            </a:br>
            <a:endParaRPr/>
          </a:p>
        </p:txBody>
      </p:sp>
      <p:sp>
        <p:nvSpPr>
          <p:cNvPr id="210" name="Google Shape;210;p9"/>
          <p:cNvSpPr txBox="1"/>
          <p:nvPr>
            <p:ph idx="1" type="body"/>
          </p:nvPr>
        </p:nvSpPr>
        <p:spPr>
          <a:xfrm>
            <a:off x="2086731" y="1155405"/>
            <a:ext cx="8915400" cy="552184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Semiconductor memory stores information utilizing minuscule circuits called memory cells.</a:t>
            </a:r>
            <a:endParaRPr/>
          </a:p>
          <a:p>
            <a:pPr indent="-342900" lvl="0" marL="342900" rtl="0" algn="l">
              <a:spcBef>
                <a:spcPts val="1000"/>
              </a:spcBef>
              <a:spcAft>
                <a:spcPts val="0"/>
              </a:spcAft>
              <a:buSzPts val="1800"/>
              <a:buChar char="🠶"/>
            </a:pPr>
            <a:r>
              <a:rPr lang="en-US"/>
              <a:t> Every memory cell is comprised of semiconductors and capacitors. </a:t>
            </a:r>
            <a:endParaRPr/>
          </a:p>
          <a:p>
            <a:pPr indent="-342900" lvl="0" marL="342900" rtl="0" algn="l">
              <a:spcBef>
                <a:spcPts val="1000"/>
              </a:spcBef>
              <a:spcAft>
                <a:spcPts val="0"/>
              </a:spcAft>
              <a:buSzPts val="1800"/>
              <a:buChar char="🠶"/>
            </a:pPr>
            <a:r>
              <a:rPr lang="en-US"/>
              <a:t>The semiconductors go about as switches, controlling the progression of power to the capacitor. </a:t>
            </a:r>
            <a:endParaRPr/>
          </a:p>
          <a:p>
            <a:pPr indent="-342900" lvl="0" marL="342900" rtl="0" algn="l">
              <a:spcBef>
                <a:spcPts val="1000"/>
              </a:spcBef>
              <a:spcAft>
                <a:spcPts val="0"/>
              </a:spcAft>
              <a:buSzPts val="1800"/>
              <a:buChar char="🠶"/>
            </a:pPr>
            <a:r>
              <a:rPr lang="en-US"/>
              <a:t>The capacitor stores the electrical charge, addressing a paired "0" or "1".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Examples of Semiconductor Memory</a:t>
            </a:r>
            <a:br>
              <a:rPr b="1" lang="en-US"/>
            </a:br>
            <a:endParaRPr/>
          </a:p>
        </p:txBody>
      </p:sp>
      <p:sp>
        <p:nvSpPr>
          <p:cNvPr id="216" name="Google Shape;216;p10"/>
          <p:cNvSpPr txBox="1"/>
          <p:nvPr>
            <p:ph idx="1" type="body"/>
          </p:nvPr>
        </p:nvSpPr>
        <p:spPr>
          <a:xfrm>
            <a:off x="1525956" y="1357423"/>
            <a:ext cx="8915400" cy="560690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DRAM:</a:t>
            </a:r>
            <a:r>
              <a:rPr lang="en-US"/>
              <a:t> In DRAM, the capacitor stores the information bit as a charge. However, the memory cell needs to be refreshed on a regular basis to prevent data loss as this charge slowly leaks over time. Reviving includes perusing the information from the cell, enhancing it, and afterward composing it back to the cell.</a:t>
            </a:r>
            <a:endParaRPr/>
          </a:p>
          <a:p>
            <a:pPr indent="-342900" lvl="0" marL="342900" rtl="0" algn="l">
              <a:spcBef>
                <a:spcPts val="1000"/>
              </a:spcBef>
              <a:spcAft>
                <a:spcPts val="0"/>
              </a:spcAft>
              <a:buSzPts val="1800"/>
              <a:buChar char="🠶"/>
            </a:pPr>
            <a:r>
              <a:rPr b="1" lang="en-US"/>
              <a:t>Dynamic Random Access Memory(DRAM)</a:t>
            </a:r>
            <a:r>
              <a:rPr lang="en-US"/>
              <a:t>:It is commonly used in computers for temporary data storage.</a:t>
            </a:r>
            <a:endParaRPr/>
          </a:p>
          <a:p>
            <a:pPr indent="0" lvl="0" marL="0" rtl="0" algn="l">
              <a:spcBef>
                <a:spcPts val="1000"/>
              </a:spcBef>
              <a:spcAft>
                <a:spcPts val="0"/>
              </a:spcAft>
              <a:buSzPts val="1800"/>
              <a:buNone/>
            </a:pPr>
            <a:br>
              <a:rPr lang="en-US"/>
            </a:br>
            <a:endParaRPr/>
          </a:p>
          <a:p>
            <a:pPr indent="-228600" lvl="0" marL="342900" rtl="0" algn="l">
              <a:spcBef>
                <a:spcPts val="1000"/>
              </a:spcBef>
              <a:spcAft>
                <a:spcPts val="0"/>
              </a:spcAft>
              <a:buSzPts val="1800"/>
              <a:buNone/>
            </a:pPr>
            <a:r>
              <a:t/>
            </a:r>
            <a:endParaRPr/>
          </a:p>
        </p:txBody>
      </p:sp>
      <p:pic>
        <p:nvPicPr>
          <p:cNvPr id="217" name="Google Shape;217;p10"/>
          <p:cNvPicPr preferRelativeResize="0"/>
          <p:nvPr/>
        </p:nvPicPr>
        <p:blipFill rotWithShape="1">
          <a:blip r:embed="rId3">
            <a:alphaModFix/>
          </a:blip>
          <a:srcRect b="0" l="0" r="0" t="0"/>
          <a:stretch/>
        </p:blipFill>
        <p:spPr>
          <a:xfrm>
            <a:off x="2089482" y="3838352"/>
            <a:ext cx="6320871" cy="26184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ph idx="1" type="body"/>
          </p:nvPr>
        </p:nvSpPr>
        <p:spPr>
          <a:xfrm>
            <a:off x="1738606" y="336697"/>
            <a:ext cx="9074705" cy="422467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Static Random Access Memory(SRAM)</a:t>
            </a:r>
            <a:r>
              <a:rPr lang="en-US"/>
              <a:t>:Used for excessive-velocity information storage, which include caches in processors.</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b="1" lang="en-US"/>
              <a:t>SRAM: </a:t>
            </a:r>
            <a:r>
              <a:rPr lang="en-US"/>
              <a:t>In SRAM, the information bit is put away as a lock circuit shaped by two semiconductors. </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This circuit doesn't need to be refreshed and can keep the integrity of the data as long as there is power.</a:t>
            </a:r>
            <a:endParaRPr/>
          </a:p>
          <a:p>
            <a:pPr indent="0" lvl="0" marL="0" rtl="0" algn="l">
              <a:spcBef>
                <a:spcPts val="1000"/>
              </a:spcBef>
              <a:spcAft>
                <a:spcPts val="0"/>
              </a:spcAft>
              <a:buSzPts val="1800"/>
              <a:buNone/>
            </a:pPr>
            <a:br>
              <a:rPr lang="en-US"/>
            </a:br>
            <a:endParaRPr/>
          </a:p>
        </p:txBody>
      </p:sp>
      <p:pic>
        <p:nvPicPr>
          <p:cNvPr id="223" name="Google Shape;223;p11"/>
          <p:cNvPicPr preferRelativeResize="0"/>
          <p:nvPr/>
        </p:nvPicPr>
        <p:blipFill rotWithShape="1">
          <a:blip r:embed="rId3">
            <a:alphaModFix/>
          </a:blip>
          <a:srcRect b="0" l="0" r="0" t="0"/>
          <a:stretch/>
        </p:blipFill>
        <p:spPr>
          <a:xfrm>
            <a:off x="1854022" y="3328197"/>
            <a:ext cx="6683923" cy="33419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idx="1" type="body"/>
          </p:nvPr>
        </p:nvSpPr>
        <p:spPr>
          <a:xfrm>
            <a:off x="2195807" y="708837"/>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Flash Memory:</a:t>
            </a:r>
            <a:r>
              <a:rPr lang="en-US"/>
              <a:t> Used for permanent garage of statistics, which includes in USB drives and strong-country drives (SSDs).</a:t>
            </a:r>
            <a:endParaRPr/>
          </a:p>
          <a:p>
            <a:pPr indent="-342900" lvl="0" marL="342900" rtl="0" algn="l">
              <a:spcBef>
                <a:spcPts val="1000"/>
              </a:spcBef>
              <a:spcAft>
                <a:spcPts val="0"/>
              </a:spcAft>
              <a:buSzPts val="1800"/>
              <a:buChar char="🠶"/>
            </a:pPr>
            <a:r>
              <a:rPr lang="en-US"/>
              <a:t>Streak memory utilizes an alternate innovation called drifting entryway semiconductors. The memory can be erased and reprogrammed electrically thanks to these transistors' additional gate, which can be used to trap or release electrons.</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229" name="Google Shape;229;p12"/>
          <p:cNvPicPr preferRelativeResize="0"/>
          <p:nvPr/>
        </p:nvPicPr>
        <p:blipFill rotWithShape="1">
          <a:blip r:embed="rId3">
            <a:alphaModFix/>
          </a:blip>
          <a:srcRect b="0" l="0" r="0" t="0"/>
          <a:stretch/>
        </p:blipFill>
        <p:spPr>
          <a:xfrm>
            <a:off x="2424615" y="2724088"/>
            <a:ext cx="7087589" cy="352474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3"/>
          <p:cNvSpPr txBox="1"/>
          <p:nvPr>
            <p:ph type="title"/>
          </p:nvPr>
        </p:nvSpPr>
        <p:spPr>
          <a:xfrm>
            <a:off x="1722474" y="262603"/>
            <a:ext cx="9782138" cy="9176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Advantages of Semiconductor Memory</a:t>
            </a:r>
            <a:br>
              <a:rPr b="1" lang="en-US"/>
            </a:br>
            <a:endParaRPr/>
          </a:p>
        </p:txBody>
      </p:sp>
      <p:sp>
        <p:nvSpPr>
          <p:cNvPr id="235" name="Google Shape;235;p13"/>
          <p:cNvSpPr txBox="1"/>
          <p:nvPr>
            <p:ph idx="1" type="body"/>
          </p:nvPr>
        </p:nvSpPr>
        <p:spPr>
          <a:xfrm>
            <a:off x="1509823" y="903768"/>
            <a:ext cx="9462977" cy="581601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High Speed: </a:t>
            </a:r>
            <a:r>
              <a:rPr lang="en-US"/>
              <a:t>Fast data retrieval from semiconductor memory enables responsive performance and smooth operation. Applications like gaming, real-time video, and online transaction all depend on this.</a:t>
            </a:r>
            <a:endParaRPr/>
          </a:p>
          <a:p>
            <a:pPr indent="-342900" lvl="0" marL="342900" rtl="0" algn="l">
              <a:spcBef>
                <a:spcPts val="1000"/>
              </a:spcBef>
              <a:spcAft>
                <a:spcPts val="0"/>
              </a:spcAft>
              <a:buSzPts val="1800"/>
              <a:buChar char="🠶"/>
            </a:pPr>
            <a:r>
              <a:rPr b="1" lang="en-US"/>
              <a:t>Low power consumption:</a:t>
            </a:r>
            <a:r>
              <a:rPr lang="en-US"/>
              <a:t> Compared to other types of memory, such as magnetic storage, semiconductor memory is very energy efficient. This is important for laptops and mobile devices, as it extends battery life.</a:t>
            </a:r>
            <a:endParaRPr/>
          </a:p>
          <a:p>
            <a:pPr indent="-342900" lvl="0" marL="342900" rtl="0" algn="l">
              <a:spcBef>
                <a:spcPts val="1000"/>
              </a:spcBef>
              <a:spcAft>
                <a:spcPts val="0"/>
              </a:spcAft>
              <a:buSzPts val="1800"/>
              <a:buChar char="🠶"/>
            </a:pPr>
            <a:r>
              <a:rPr b="1" lang="en-US"/>
              <a:t>High storage density:</a:t>
            </a:r>
            <a:r>
              <a:rPr lang="en-US"/>
              <a:t> Semiconductor memory can pack an enormous measure of information into a minuscule space. Because of this, it is ideal for high-performance computing systems and portable devices like smartphones and tablets where space is at a premium.</a:t>
            </a:r>
            <a:endParaRPr/>
          </a:p>
          <a:p>
            <a:pPr indent="-342900" lvl="0" marL="342900" rtl="0" algn="l">
              <a:spcBef>
                <a:spcPts val="1000"/>
              </a:spcBef>
              <a:spcAft>
                <a:spcPts val="0"/>
              </a:spcAft>
              <a:buSzPts val="1800"/>
              <a:buChar char="🠶"/>
            </a:pPr>
            <a:r>
              <a:rPr b="1" lang="en-US"/>
              <a:t>Scalability:</a:t>
            </a:r>
            <a:r>
              <a:rPr lang="en-US"/>
              <a:t> Semiconductor memory innovation can be effortlessly scaled to satisfy the rising needs of registering. This indicates that the capacity of semiconductor memory chips will also increase in tandem with our demand for data storage.</a:t>
            </a:r>
            <a:endParaRPr/>
          </a:p>
          <a:p>
            <a:pPr indent="-342900" lvl="0" marL="342900" rtl="0" algn="l">
              <a:spcBef>
                <a:spcPts val="1000"/>
              </a:spcBef>
              <a:spcAft>
                <a:spcPts val="0"/>
              </a:spcAft>
              <a:buSzPts val="1800"/>
              <a:buChar char="🠶"/>
            </a:pPr>
            <a:r>
              <a:rPr b="1" lang="en-US"/>
              <a:t>Non-volatile(except for RAM):</a:t>
            </a:r>
            <a:r>
              <a:rPr lang="en-US"/>
              <a:t> Non-volatile semiconductor memory, such as read-only memory (ROM) and flash memory, stores data even when the power is turned off. Because of this, they are excellent for storing long-term data like operating systems and firmware.</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1625362" y="135013"/>
            <a:ext cx="8911687" cy="73685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Disadvantages of Semiconductor Memory</a:t>
            </a:r>
            <a:br>
              <a:rPr b="1" lang="en-US"/>
            </a:br>
            <a:endParaRPr/>
          </a:p>
        </p:txBody>
      </p:sp>
      <p:sp>
        <p:nvSpPr>
          <p:cNvPr id="241" name="Google Shape;241;p14"/>
          <p:cNvSpPr txBox="1"/>
          <p:nvPr>
            <p:ph idx="1" type="body"/>
          </p:nvPr>
        </p:nvSpPr>
        <p:spPr>
          <a:xfrm>
            <a:off x="1625362" y="871870"/>
            <a:ext cx="9117234" cy="541551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Volatile(for RAM):</a:t>
            </a:r>
            <a:r>
              <a:rPr lang="en-US"/>
              <a:t> When the power is turned off, data stored in traditional RAM are lost. This can be risky on the off chance that you are chipping away at something significant and the power goes out of the blue.</a:t>
            </a:r>
            <a:endParaRPr/>
          </a:p>
          <a:p>
            <a:pPr indent="-342900" lvl="0" marL="342900" rtl="0" algn="l">
              <a:spcBef>
                <a:spcPts val="1000"/>
              </a:spcBef>
              <a:spcAft>
                <a:spcPts val="0"/>
              </a:spcAft>
              <a:buSzPts val="1800"/>
              <a:buChar char="🠶"/>
            </a:pPr>
            <a:r>
              <a:rPr b="1" lang="en-US"/>
              <a:t>Can be much expensive:</a:t>
            </a:r>
            <a:r>
              <a:rPr lang="en-US"/>
              <a:t> When compared to other types of storage, such as hard disk drives, high-performance or large-capacity semiconductor memory can be expensive.</a:t>
            </a:r>
            <a:endParaRPr/>
          </a:p>
          <a:p>
            <a:pPr indent="-342900" lvl="0" marL="342900" rtl="0" algn="l">
              <a:spcBef>
                <a:spcPts val="1000"/>
              </a:spcBef>
              <a:spcAft>
                <a:spcPts val="0"/>
              </a:spcAft>
              <a:buSzPts val="1800"/>
              <a:buChar char="🠶"/>
            </a:pPr>
            <a:r>
              <a:rPr b="1" lang="en-US"/>
              <a:t>Limited lifespan(for Flash memory):</a:t>
            </a:r>
            <a:r>
              <a:rPr lang="en-US"/>
              <a:t> Flash memory has a set number of compose cycles before it breaks down. As a result, flash memory devices will eventually require replacement.</a:t>
            </a:r>
            <a:endParaRPr/>
          </a:p>
          <a:p>
            <a:pPr indent="-342900" lvl="0" marL="342900" rtl="0" algn="l">
              <a:spcBef>
                <a:spcPts val="1000"/>
              </a:spcBef>
              <a:spcAft>
                <a:spcPts val="0"/>
              </a:spcAft>
              <a:buSzPts val="1800"/>
              <a:buChar char="🠶"/>
            </a:pPr>
            <a:r>
              <a:rPr b="1" lang="en-US"/>
              <a:t>Security issues:</a:t>
            </a:r>
            <a:r>
              <a:rPr lang="en-US"/>
              <a:t> Semiconductor memory can be helpless against information breaks and hacking. This is due to the fact that the data is stored electronically and can be accessed in the event that the device is hacked.</a:t>
            </a:r>
            <a:endParaRPr/>
          </a:p>
          <a:p>
            <a:pPr indent="-342900" lvl="0" marL="342900" rtl="0" algn="l">
              <a:spcBef>
                <a:spcPts val="1000"/>
              </a:spcBef>
              <a:spcAft>
                <a:spcPts val="0"/>
              </a:spcAft>
              <a:buSzPts val="1800"/>
              <a:buChar char="🠶"/>
            </a:pPr>
            <a:r>
              <a:rPr b="1" lang="en-US"/>
              <a:t>Effect on the Environment:</a:t>
            </a:r>
            <a:r>
              <a:rPr lang="en-US"/>
              <a:t> The process of manufacturing semiconductor memory chips can be resource-intensive and harmful to the environment. However, efforts are being made to develop production methods that are more environmentally friendly.</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title"/>
          </p:nvPr>
        </p:nvSpPr>
        <p:spPr>
          <a:xfrm>
            <a:off x="1529669" y="400826"/>
            <a:ext cx="8911687" cy="87508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Applications of Semiconductor Memory</a:t>
            </a:r>
            <a:br>
              <a:rPr b="1" lang="en-US"/>
            </a:br>
            <a:endParaRPr/>
          </a:p>
        </p:txBody>
      </p:sp>
      <p:sp>
        <p:nvSpPr>
          <p:cNvPr id="247" name="Google Shape;247;p15"/>
          <p:cNvSpPr txBox="1"/>
          <p:nvPr>
            <p:ph idx="1" type="body"/>
          </p:nvPr>
        </p:nvSpPr>
        <p:spPr>
          <a:xfrm>
            <a:off x="1529669" y="1633870"/>
            <a:ext cx="8915400" cy="3777622"/>
          </a:xfrm>
          <a:prstGeom prst="rect">
            <a:avLst/>
          </a:prstGeom>
          <a:noFill/>
          <a:ln>
            <a:noFill/>
          </a:ln>
        </p:spPr>
        <p:txBody>
          <a:bodyPr anchorCtr="0" anchor="t" bIns="45700" lIns="91425" spcFirstLastPara="1" rIns="91425" wrap="square" tIns="45700">
            <a:normAutofit fontScale="25000" lnSpcReduction="20000"/>
          </a:bodyPr>
          <a:lstStyle/>
          <a:p>
            <a:pPr indent="-342900" lvl="0" marL="342900" rtl="0" algn="l">
              <a:spcBef>
                <a:spcPts val="0"/>
              </a:spcBef>
              <a:spcAft>
                <a:spcPts val="0"/>
              </a:spcAft>
              <a:buSzPct val="100000"/>
              <a:buChar char="🠶"/>
            </a:pPr>
            <a:r>
              <a:rPr lang="en-US" sz="7200">
                <a:latin typeface="Times New Roman"/>
                <a:ea typeface="Times New Roman"/>
                <a:cs typeface="Times New Roman"/>
                <a:sym typeface="Times New Roman"/>
              </a:rPr>
              <a:t>Semiconductor memory is used in a wide variety of applications, including:</a:t>
            </a:r>
            <a:endParaRPr/>
          </a:p>
          <a:p>
            <a:pPr indent="0" lvl="0" marL="0" rtl="0" algn="l">
              <a:spcBef>
                <a:spcPts val="1000"/>
              </a:spcBef>
              <a:spcAft>
                <a:spcPts val="0"/>
              </a:spcAft>
              <a:buSzPct val="100000"/>
              <a:buNone/>
            </a:pPr>
            <a:r>
              <a:t/>
            </a:r>
            <a:endParaRPr sz="7200">
              <a:latin typeface="Times New Roman"/>
              <a:ea typeface="Times New Roman"/>
              <a:cs typeface="Times New Roman"/>
              <a:sym typeface="Times New Roman"/>
            </a:endParaRPr>
          </a:p>
          <a:p>
            <a:pPr indent="-342900" lvl="0" marL="342900" rtl="0" algn="l">
              <a:spcBef>
                <a:spcPts val="1000"/>
              </a:spcBef>
              <a:spcAft>
                <a:spcPts val="0"/>
              </a:spcAft>
              <a:buSzPct val="100000"/>
              <a:buChar char="🠶"/>
            </a:pPr>
            <a:r>
              <a:rPr b="1" lang="en-US" sz="7200">
                <a:latin typeface="Times New Roman"/>
                <a:ea typeface="Times New Roman"/>
                <a:cs typeface="Times New Roman"/>
                <a:sym typeface="Times New Roman"/>
              </a:rPr>
              <a:t>Digital Cameras:</a:t>
            </a:r>
            <a:r>
              <a:rPr lang="en-US" sz="7200">
                <a:latin typeface="Times New Roman"/>
                <a:ea typeface="Times New Roman"/>
                <a:cs typeface="Times New Roman"/>
                <a:sym typeface="Times New Roman"/>
              </a:rPr>
              <a:t> Used for storing photographs and recordings.</a:t>
            </a:r>
            <a:endParaRPr/>
          </a:p>
          <a:p>
            <a:pPr indent="0" lvl="0" marL="0" rtl="0" algn="l">
              <a:spcBef>
                <a:spcPts val="1000"/>
              </a:spcBef>
              <a:spcAft>
                <a:spcPts val="0"/>
              </a:spcAft>
              <a:buSzPct val="100000"/>
              <a:buNone/>
            </a:pPr>
            <a:r>
              <a:t/>
            </a:r>
            <a:endParaRPr sz="7200">
              <a:latin typeface="Times New Roman"/>
              <a:ea typeface="Times New Roman"/>
              <a:cs typeface="Times New Roman"/>
              <a:sym typeface="Times New Roman"/>
            </a:endParaRPr>
          </a:p>
          <a:p>
            <a:pPr indent="-342900" lvl="0" marL="342900" rtl="0" algn="l">
              <a:spcBef>
                <a:spcPts val="1000"/>
              </a:spcBef>
              <a:spcAft>
                <a:spcPts val="0"/>
              </a:spcAft>
              <a:buSzPct val="100000"/>
              <a:buChar char="🠶"/>
            </a:pPr>
            <a:r>
              <a:rPr b="1" lang="en-US" sz="7200">
                <a:latin typeface="Times New Roman"/>
                <a:ea typeface="Times New Roman"/>
                <a:cs typeface="Times New Roman"/>
                <a:sym typeface="Times New Roman"/>
              </a:rPr>
              <a:t>Smartphones: </a:t>
            </a:r>
            <a:r>
              <a:rPr lang="en-US" sz="7200">
                <a:latin typeface="Times New Roman"/>
                <a:ea typeface="Times New Roman"/>
                <a:cs typeface="Times New Roman"/>
                <a:sym typeface="Times New Roman"/>
              </a:rPr>
              <a:t>Used for storing applications, music, photos and other valuable information.</a:t>
            </a:r>
            <a:endParaRPr/>
          </a:p>
          <a:p>
            <a:pPr indent="0" lvl="0" marL="0" rtl="0" algn="l">
              <a:spcBef>
                <a:spcPts val="1000"/>
              </a:spcBef>
              <a:spcAft>
                <a:spcPts val="0"/>
              </a:spcAft>
              <a:buSzPct val="100000"/>
              <a:buNone/>
            </a:pPr>
            <a:r>
              <a:t/>
            </a:r>
            <a:endParaRPr sz="7200">
              <a:latin typeface="Times New Roman"/>
              <a:ea typeface="Times New Roman"/>
              <a:cs typeface="Times New Roman"/>
              <a:sym typeface="Times New Roman"/>
            </a:endParaRPr>
          </a:p>
          <a:p>
            <a:pPr indent="-342900" lvl="0" marL="342900" rtl="0" algn="l">
              <a:spcBef>
                <a:spcPts val="1000"/>
              </a:spcBef>
              <a:spcAft>
                <a:spcPts val="0"/>
              </a:spcAft>
              <a:buSzPct val="100000"/>
              <a:buChar char="🠶"/>
            </a:pPr>
            <a:r>
              <a:rPr b="1" lang="en-US" sz="7200">
                <a:latin typeface="Times New Roman"/>
                <a:ea typeface="Times New Roman"/>
                <a:cs typeface="Times New Roman"/>
                <a:sym typeface="Times New Roman"/>
              </a:rPr>
              <a:t>Computers:</a:t>
            </a:r>
            <a:r>
              <a:rPr lang="en-US" sz="7200">
                <a:latin typeface="Times New Roman"/>
                <a:ea typeface="Times New Roman"/>
                <a:cs typeface="Times New Roman"/>
                <a:sym typeface="Times New Roman"/>
              </a:rPr>
              <a:t> Used for storing program instruction and working data.</a:t>
            </a:r>
            <a:endParaRPr/>
          </a:p>
          <a:p>
            <a:pPr indent="0" lvl="0" marL="0" rtl="0" algn="l">
              <a:spcBef>
                <a:spcPts val="1000"/>
              </a:spcBef>
              <a:spcAft>
                <a:spcPts val="0"/>
              </a:spcAft>
              <a:buSzPct val="100000"/>
              <a:buNone/>
            </a:pPr>
            <a:r>
              <a:t/>
            </a:r>
            <a:endParaRPr sz="7200">
              <a:latin typeface="Times New Roman"/>
              <a:ea typeface="Times New Roman"/>
              <a:cs typeface="Times New Roman"/>
              <a:sym typeface="Times New Roman"/>
            </a:endParaRPr>
          </a:p>
          <a:p>
            <a:pPr indent="-342900" lvl="0" marL="342900" rtl="0" algn="l">
              <a:spcBef>
                <a:spcPts val="1000"/>
              </a:spcBef>
              <a:spcAft>
                <a:spcPts val="0"/>
              </a:spcAft>
              <a:buSzPct val="100000"/>
              <a:buChar char="🠶"/>
            </a:pPr>
            <a:r>
              <a:rPr b="1" lang="en-US" sz="7200">
                <a:latin typeface="Times New Roman"/>
                <a:ea typeface="Times New Roman"/>
                <a:cs typeface="Times New Roman"/>
                <a:sym typeface="Times New Roman"/>
              </a:rPr>
              <a:t>USB drivers:</a:t>
            </a:r>
            <a:r>
              <a:rPr lang="en-US" sz="7200">
                <a:latin typeface="Times New Roman"/>
                <a:ea typeface="Times New Roman"/>
                <a:cs typeface="Times New Roman"/>
                <a:sym typeface="Times New Roman"/>
              </a:rPr>
              <a:t> Used for storing potable data storage.</a:t>
            </a:r>
            <a:endParaRPr/>
          </a:p>
          <a:p>
            <a:pPr indent="0" lvl="0" marL="0" rtl="0" algn="l">
              <a:spcBef>
                <a:spcPts val="1000"/>
              </a:spcBef>
              <a:spcAft>
                <a:spcPts val="0"/>
              </a:spcAft>
              <a:buSzPct val="100000"/>
              <a:buNone/>
            </a:pPr>
            <a:r>
              <a:t/>
            </a:r>
            <a:endParaRPr sz="7200">
              <a:latin typeface="Times New Roman"/>
              <a:ea typeface="Times New Roman"/>
              <a:cs typeface="Times New Roman"/>
              <a:sym typeface="Times New Roman"/>
            </a:endParaRPr>
          </a:p>
          <a:p>
            <a:pPr indent="-342900" lvl="0" marL="342900" rtl="0" algn="l">
              <a:spcBef>
                <a:spcPts val="1000"/>
              </a:spcBef>
              <a:spcAft>
                <a:spcPts val="0"/>
              </a:spcAft>
              <a:buSzPct val="100000"/>
              <a:buChar char="🠶"/>
            </a:pPr>
            <a:r>
              <a:rPr b="1" lang="en-US" sz="7200">
                <a:latin typeface="Times New Roman"/>
                <a:ea typeface="Times New Roman"/>
                <a:cs typeface="Times New Roman"/>
                <a:sym typeface="Times New Roman"/>
              </a:rPr>
              <a:t>Solid state drive(SSD): </a:t>
            </a:r>
            <a:r>
              <a:rPr lang="en-US" sz="7200">
                <a:latin typeface="Times New Roman"/>
                <a:ea typeface="Times New Roman"/>
                <a:cs typeface="Times New Roman"/>
                <a:sym typeface="Times New Roman"/>
              </a:rPr>
              <a:t>Used for high-performance storage in computers.</a:t>
            </a:r>
            <a:endParaRPr/>
          </a:p>
          <a:p>
            <a:pPr indent="0" lvl="0" marL="0" rtl="0" algn="l">
              <a:spcBef>
                <a:spcPts val="1000"/>
              </a:spcBef>
              <a:spcAft>
                <a:spcPts val="0"/>
              </a:spcAft>
              <a:buSzPct val="100000"/>
              <a:buNone/>
            </a:pPr>
            <a:r>
              <a:t/>
            </a:r>
            <a:endParaRPr sz="7200">
              <a:latin typeface="Times New Roman"/>
              <a:ea typeface="Times New Roman"/>
              <a:cs typeface="Times New Roman"/>
              <a:sym typeface="Times New Roman"/>
            </a:endParaRPr>
          </a:p>
          <a:p>
            <a:pPr indent="-342900" lvl="0" marL="342900" rtl="0" algn="l">
              <a:spcBef>
                <a:spcPts val="1000"/>
              </a:spcBef>
              <a:spcAft>
                <a:spcPts val="0"/>
              </a:spcAft>
              <a:buSzPct val="100000"/>
              <a:buChar char="🠶"/>
            </a:pPr>
            <a:r>
              <a:rPr b="1" lang="en-US" sz="7200">
                <a:latin typeface="Times New Roman"/>
                <a:ea typeface="Times New Roman"/>
                <a:cs typeface="Times New Roman"/>
                <a:sym typeface="Times New Roman"/>
              </a:rPr>
              <a:t>MP3 Player:</a:t>
            </a:r>
            <a:r>
              <a:rPr lang="en-US" sz="7200">
                <a:latin typeface="Times New Roman"/>
                <a:ea typeface="Times New Roman"/>
                <a:cs typeface="Times New Roman"/>
                <a:sym typeface="Times New Roman"/>
              </a:rPr>
              <a:t> Used to store music.</a:t>
            </a:r>
            <a:endParaRPr/>
          </a:p>
          <a:p>
            <a:pPr indent="-314325" lvl="0" marL="342900" rtl="0" algn="l">
              <a:spcBef>
                <a:spcPts val="1000"/>
              </a:spcBef>
              <a:spcAft>
                <a:spcPts val="0"/>
              </a:spcAft>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u="sng">
                <a:solidFill>
                  <a:schemeClr val="hlink"/>
                </a:solidFill>
                <a:hlinkClick r:id="rId3"/>
              </a:rPr>
              <a:t>Advanced DRAM organization</a:t>
            </a:r>
            <a:br>
              <a:rPr lang="en-US"/>
            </a:br>
            <a:br>
              <a:rPr lang="en-US"/>
            </a:br>
            <a:endParaRPr/>
          </a:p>
        </p:txBody>
      </p:sp>
      <p:sp>
        <p:nvSpPr>
          <p:cNvPr id="253" name="Google Shape;253;p16"/>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The traditional DRAM is constrained both by its internal architecture and by its interface to processor's memory bus. The new enhancements (most common) on DRAM architecture are:</a:t>
            </a:r>
            <a:endParaRPr/>
          </a:p>
          <a:p>
            <a:pPr indent="-342900" lvl="0" marL="342900" rtl="0" algn="l">
              <a:spcBef>
                <a:spcPts val="1000"/>
              </a:spcBef>
              <a:spcAft>
                <a:spcPts val="0"/>
              </a:spcAft>
              <a:buSzPts val="1800"/>
              <a:buChar char="🠶"/>
            </a:pPr>
            <a:r>
              <a:rPr lang="en-US"/>
              <a:t>Synchronous DRAM (SDRAM)</a:t>
            </a:r>
            <a:endParaRPr/>
          </a:p>
          <a:p>
            <a:pPr indent="-342900" lvl="0" marL="342900" rtl="0" algn="l">
              <a:spcBef>
                <a:spcPts val="1000"/>
              </a:spcBef>
              <a:spcAft>
                <a:spcPts val="0"/>
              </a:spcAft>
              <a:buSzPts val="1800"/>
              <a:buChar char="🠶"/>
            </a:pPr>
            <a:r>
              <a:rPr lang="en-US"/>
              <a:t>Rambus DRAM (RDRAM)</a:t>
            </a:r>
            <a:endParaRPr/>
          </a:p>
          <a:p>
            <a:pPr indent="-342900" lvl="0" marL="342900" rtl="0" algn="l">
              <a:spcBef>
                <a:spcPts val="1000"/>
              </a:spcBef>
              <a:spcAft>
                <a:spcPts val="0"/>
              </a:spcAft>
              <a:buSzPts val="1800"/>
              <a:buChar char="🠶"/>
            </a:pPr>
            <a:r>
              <a:rPr lang="en-US"/>
              <a:t>Double Data Rate DRAM (DDR DRAM)</a:t>
            </a:r>
            <a:endParaRPr/>
          </a:p>
          <a:p>
            <a:pPr indent="-342900" lvl="0" marL="342900" rtl="0" algn="l">
              <a:spcBef>
                <a:spcPts val="1000"/>
              </a:spcBef>
              <a:spcAft>
                <a:spcPts val="0"/>
              </a:spcAft>
              <a:buSzPts val="1800"/>
              <a:buChar char="🠶"/>
            </a:pPr>
            <a:r>
              <a:rPr lang="en-US"/>
              <a:t>Cache DRAM (CDRAM)</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7"/>
          <p:cNvSpPr txBox="1"/>
          <p:nvPr>
            <p:ph type="title"/>
          </p:nvPr>
        </p:nvSpPr>
        <p:spPr>
          <a:xfrm>
            <a:off x="1891176" y="326398"/>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1. Synchronous DRAM (SDRAM)</a:t>
            </a:r>
            <a:br>
              <a:rPr b="1" lang="en-US"/>
            </a:br>
            <a:endParaRPr/>
          </a:p>
        </p:txBody>
      </p:sp>
      <p:sp>
        <p:nvSpPr>
          <p:cNvPr id="259" name="Google Shape;259;p17"/>
          <p:cNvSpPr txBox="1"/>
          <p:nvPr>
            <p:ph idx="1" type="body"/>
          </p:nvPr>
        </p:nvSpPr>
        <p:spPr>
          <a:xfrm>
            <a:off x="1222744" y="1399952"/>
            <a:ext cx="9583832" cy="489452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800"/>
              <a:buChar char="🠶"/>
            </a:pPr>
            <a:r>
              <a:rPr lang="en-US"/>
              <a:t>Exchange data with the processor synchronized to an external clock signal and running at the full speed of the processor/memory bus without imposing wait states.</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One word of data is transmitted per clock cycle (single data rate).[All control, address, &amp; data signals are only valid (and latched) on a clock edge.]</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Typical clock frequencies are 100 and 133 MHz.</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SDRAM has multiple-bank internal architecture that improves opportunities for on-chip parallelism. Generally it uses dual data banks internally. It starts access in one bank then next, and then receives data from first then second.</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SDRAM performs best when it is transferring large blocks of data serially, such as for applications like word processing, spreadsheets and multimedia.</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ph type="title"/>
          </p:nvPr>
        </p:nvSpPr>
        <p:spPr>
          <a:xfrm>
            <a:off x="1722474" y="326398"/>
            <a:ext cx="9782138"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2. Rambus DRAM (RDRAM)</a:t>
            </a:r>
            <a:br>
              <a:rPr b="1" lang="en-US"/>
            </a:br>
            <a:endParaRPr/>
          </a:p>
        </p:txBody>
      </p:sp>
      <p:sp>
        <p:nvSpPr>
          <p:cNvPr id="265" name="Google Shape;265;p18"/>
          <p:cNvSpPr txBox="1"/>
          <p:nvPr>
            <p:ph idx="1" type="body"/>
          </p:nvPr>
        </p:nvSpPr>
        <p:spPr>
          <a:xfrm>
            <a:off x="1557854" y="1219200"/>
            <a:ext cx="9372416" cy="540488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RDRAM chips are vertical packages with all pins on one side. </a:t>
            </a:r>
            <a:endParaRPr/>
          </a:p>
          <a:p>
            <a:pPr indent="-342900" lvl="0" marL="342900" rtl="0" algn="l">
              <a:spcBef>
                <a:spcPts val="1000"/>
              </a:spcBef>
              <a:spcAft>
                <a:spcPts val="0"/>
              </a:spcAft>
              <a:buSzPts val="1800"/>
              <a:buChar char="🠶"/>
            </a:pPr>
            <a:r>
              <a:rPr lang="en-US"/>
              <a:t>The chip exchanges data with the processor over 28 wires no more than 12 cm long. The bus can address upto 320 RDRAM chips.</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Entire data blocks are access and transferred out on a high-speed bus-like interface (500 Mbps to 1.6 Gbps).</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It has tricky system level design where the bus itself defines impedance, clocking and signaling very precisely.</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More expensive memory chips.</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Concurrent RDRAMs have been used in video games, while Direct RDRAMs have been used in computers.</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9"/>
          <p:cNvSpPr txBox="1"/>
          <p:nvPr>
            <p:ph type="title"/>
          </p:nvPr>
        </p:nvSpPr>
        <p:spPr>
          <a:xfrm>
            <a:off x="1604097" y="347663"/>
            <a:ext cx="8911687" cy="768756"/>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3. Double Data Rate DRAM (DDR DRAM)</a:t>
            </a:r>
            <a:br>
              <a:rPr b="1" lang="en-US"/>
            </a:br>
            <a:endParaRPr/>
          </a:p>
        </p:txBody>
      </p:sp>
      <p:sp>
        <p:nvSpPr>
          <p:cNvPr id="271" name="Google Shape;271;p19"/>
          <p:cNvSpPr txBox="1"/>
          <p:nvPr>
            <p:ph idx="1" type="body"/>
          </p:nvPr>
        </p:nvSpPr>
        <p:spPr>
          <a:xfrm>
            <a:off x="1604097" y="1116419"/>
            <a:ext cx="9326173" cy="5709684"/>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800"/>
              <a:buChar char="🠶"/>
            </a:pPr>
            <a:r>
              <a:rPr lang="en-US"/>
              <a:t>Uses both rising (positive edge) and falling (negative) edge of clock for data transfer. </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That is DDR SDRAM can send data twice per clock cycle - once on the rising edge of the clock pulse and once on the falling edge.</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There has been improvement in DDR DRAM technology. </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The later generations (DDR2 and DDR3) increases the data rate by increasing the operational frequency of the RAM chip and by increasing the pre fetch buffer from 2 bits to 4 bits per chip.</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DDR can transfer data at a clock rate in the range of 200MHz to 600 MHz, DDR2 can transfer in the range of 400MHz to 1066MHz and DDR3 can transfer in the range of 800MHz to 1600 MHz</a:t>
            </a:r>
            <a:endParaRPr/>
          </a:p>
          <a:p>
            <a:pPr indent="0" lvl="0" marL="0" rtl="0" algn="l">
              <a:spcBef>
                <a:spcPts val="1000"/>
              </a:spcBef>
              <a:spcAft>
                <a:spcPts val="0"/>
              </a:spcAft>
              <a:buSzPts val="1800"/>
              <a:buNone/>
            </a:pPr>
            <a:br>
              <a:rPr lang="en-US"/>
            </a:b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txBox="1"/>
          <p:nvPr>
            <p:ph type="title"/>
          </p:nvPr>
        </p:nvSpPr>
        <p:spPr>
          <a:xfrm>
            <a:off x="1531089" y="166910"/>
            <a:ext cx="9622649"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4. Cache DRAM (CDRAM)</a:t>
            </a:r>
            <a:br>
              <a:rPr b="1" lang="en-US"/>
            </a:br>
            <a:endParaRPr/>
          </a:p>
        </p:txBody>
      </p:sp>
      <p:sp>
        <p:nvSpPr>
          <p:cNvPr id="277" name="Google Shape;277;p20"/>
          <p:cNvSpPr txBox="1"/>
          <p:nvPr>
            <p:ph idx="1" type="body"/>
          </p:nvPr>
        </p:nvSpPr>
        <p:spPr>
          <a:xfrm>
            <a:off x="1674811" y="1070343"/>
            <a:ext cx="9287355" cy="5341089"/>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Integrates a small SRAM cache onto a generic DRAM chip.</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The SRAM on CDRAM can be used in two ways</a:t>
            </a:r>
            <a:endParaRPr/>
          </a:p>
          <a:p>
            <a:pPr indent="-228600" lvl="2" marL="1143000" rtl="0" algn="l">
              <a:spcBef>
                <a:spcPts val="1000"/>
              </a:spcBef>
              <a:spcAft>
                <a:spcPts val="0"/>
              </a:spcAft>
              <a:buSzPct val="100000"/>
              <a:buChar char="🠶"/>
            </a:pPr>
            <a:r>
              <a:rPr lang="en-US"/>
              <a:t>It can be used as true cache.</a:t>
            </a:r>
            <a:endParaRPr/>
          </a:p>
          <a:p>
            <a:pPr indent="-228600" lvl="2" marL="1143000" rtl="0" algn="l">
              <a:spcBef>
                <a:spcPts val="1000"/>
              </a:spcBef>
              <a:spcAft>
                <a:spcPts val="0"/>
              </a:spcAft>
              <a:buSzPct val="100000"/>
              <a:buChar char="🠶"/>
            </a:pPr>
            <a:r>
              <a:rPr lang="en-US"/>
              <a:t>It can be used as buffer to support the serial access of a block of data.</a:t>
            </a:r>
            <a:endParaRPr/>
          </a:p>
          <a:p>
            <a:pPr indent="0" lvl="2" marL="91440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This architecture achieves concurrent operation of DRAM and SRAM synchronized with an external clock. </a:t>
            </a:r>
            <a:endParaRPr/>
          </a:p>
          <a:p>
            <a:pPr indent="-342900" lvl="0" marL="342900" rtl="0" algn="l">
              <a:spcBef>
                <a:spcPts val="1000"/>
              </a:spcBef>
              <a:spcAft>
                <a:spcPts val="0"/>
              </a:spcAft>
              <a:buSzPct val="100000"/>
              <a:buChar char="🠶"/>
            </a:pPr>
            <a:r>
              <a:rPr lang="en-US"/>
              <a:t>Separate control and address input terminals of the two portions enable independent control of the DRAM and SRAM, thus the system achieves continuous and concurrent operation of DRAM and SRAM.</a:t>
            </a:r>
            <a:endParaRPr/>
          </a:p>
          <a:p>
            <a:pPr indent="-342900" lvl="0" marL="342900" rtl="0" algn="l">
              <a:spcBef>
                <a:spcPts val="1000"/>
              </a:spcBef>
              <a:spcAft>
                <a:spcPts val="0"/>
              </a:spcAft>
              <a:buSzPct val="100000"/>
              <a:buChar char="🠶"/>
            </a:pPr>
            <a:r>
              <a:rPr lang="en-US"/>
              <a:t>CDRAM can handle CPU, direct memory access (DMA) and video refresh at the same time by utilizing a high-speed video interface.</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CDRAM can replace cache and main memory, and it is has already been proven that a CDRAM based system has a 10 to 50 percent performance advantage over a 256kbyte cache based system.</a:t>
            </a:r>
            <a:endParaRPr/>
          </a:p>
          <a:p>
            <a:pPr indent="-237172" lvl="0" marL="342900" rtl="0" algn="l">
              <a:spcBef>
                <a:spcPts val="1000"/>
              </a:spcBef>
              <a:spcAft>
                <a:spcPts val="0"/>
              </a:spcAft>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1"/>
          <p:cNvSpPr txBox="1"/>
          <p:nvPr>
            <p:ph type="title"/>
          </p:nvPr>
        </p:nvSpPr>
        <p:spPr>
          <a:xfrm>
            <a:off x="1763586" y="411459"/>
            <a:ext cx="8911687" cy="598634"/>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External memory</a:t>
            </a:r>
            <a:endParaRPr/>
          </a:p>
        </p:txBody>
      </p:sp>
      <p:sp>
        <p:nvSpPr>
          <p:cNvPr id="283" name="Google Shape;283;p21"/>
          <p:cNvSpPr txBox="1"/>
          <p:nvPr>
            <p:ph idx="1" type="body"/>
          </p:nvPr>
        </p:nvSpPr>
        <p:spPr>
          <a:xfrm>
            <a:off x="1763586" y="1219200"/>
            <a:ext cx="8915400" cy="377762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Secondary memory is also termed external memory and refers to the various storage media on which a computer can store data and programs</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 It is a </a:t>
            </a:r>
            <a:r>
              <a:rPr lang="en-US" u="sng">
                <a:solidFill>
                  <a:schemeClr val="hlink"/>
                </a:solidFill>
                <a:hlinkClick r:id="rId3"/>
              </a:rPr>
              <a:t>non-volatile memory</a:t>
            </a:r>
            <a:r>
              <a:rPr lang="en-US"/>
              <a:t> and used to store a large amount of </a:t>
            </a:r>
            <a:r>
              <a:rPr lang="en-US" u="sng">
                <a:solidFill>
                  <a:schemeClr val="hlink"/>
                </a:solidFill>
                <a:hlinkClick r:id="rId4"/>
              </a:rPr>
              <a:t>data or information</a:t>
            </a:r>
            <a:r>
              <a:rPr lang="en-US"/>
              <a:t>. </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The data or information stored in secondary memory is permanent, and it is slower than primary memory.</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 A </a:t>
            </a:r>
            <a:r>
              <a:rPr lang="en-US" u="sng">
                <a:solidFill>
                  <a:schemeClr val="hlink"/>
                </a:solidFill>
                <a:hlinkClick r:id="rId5"/>
              </a:rPr>
              <a:t>CPU</a:t>
            </a:r>
            <a:r>
              <a:rPr lang="en-US"/>
              <a:t> cannot access secondary memory directly. The data/information from the auxiliary memory is first transferred to the main memory, and then the CPU can access it.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2"/>
          <p:cNvSpPr txBox="1"/>
          <p:nvPr>
            <p:ph type="title"/>
          </p:nvPr>
        </p:nvSpPr>
        <p:spPr>
          <a:xfrm>
            <a:off x="1848646" y="273236"/>
            <a:ext cx="8911687" cy="938876"/>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Characteristics of Secondary Memory</a:t>
            </a:r>
            <a:br>
              <a:rPr lang="en-US"/>
            </a:br>
            <a:endParaRPr/>
          </a:p>
        </p:txBody>
      </p:sp>
      <p:sp>
        <p:nvSpPr>
          <p:cNvPr id="289" name="Google Shape;289;p22"/>
          <p:cNvSpPr txBox="1"/>
          <p:nvPr>
            <p:ph idx="1" type="body"/>
          </p:nvPr>
        </p:nvSpPr>
        <p:spPr>
          <a:xfrm>
            <a:off x="1848646" y="1212111"/>
            <a:ext cx="8915400" cy="479528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It is a slow memory but reusable.</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It is a reliable and non-volatile memory.</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It is cheaper than primary memory.</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The storage capacity of secondary memory is large.</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A computer system can run without secondary memory.</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In secondary memory, data is stored permanently even when the power is off.</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3"/>
          <p:cNvSpPr txBox="1"/>
          <p:nvPr>
            <p:ph type="title"/>
          </p:nvPr>
        </p:nvSpPr>
        <p:spPr>
          <a:xfrm>
            <a:off x="1593465" y="127591"/>
            <a:ext cx="8911687" cy="90376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Types of Secondary Memory</a:t>
            </a:r>
            <a:br>
              <a:rPr lang="en-US"/>
            </a:br>
            <a:endParaRPr/>
          </a:p>
        </p:txBody>
      </p:sp>
      <p:sp>
        <p:nvSpPr>
          <p:cNvPr id="295" name="Google Shape;295;p23"/>
          <p:cNvSpPr txBox="1"/>
          <p:nvPr>
            <p:ph idx="1" type="body"/>
          </p:nvPr>
        </p:nvSpPr>
        <p:spPr>
          <a:xfrm>
            <a:off x="1674812" y="900222"/>
            <a:ext cx="8915400" cy="519223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1.</a:t>
            </a:r>
            <a:r>
              <a:rPr b="1" lang="en-US" u="sng">
                <a:solidFill>
                  <a:schemeClr val="hlink"/>
                </a:solidFill>
                <a:hlinkClick r:id="rId3"/>
              </a:rPr>
              <a:t> Magnetic Tapes</a:t>
            </a:r>
            <a:r>
              <a:rPr b="1" lang="en-US"/>
              <a:t>: </a:t>
            </a:r>
            <a:endParaRPr b="1"/>
          </a:p>
          <a:p>
            <a:pPr indent="0" lvl="0" marL="0" rtl="0" algn="l">
              <a:spcBef>
                <a:spcPts val="1000"/>
              </a:spcBef>
              <a:spcAft>
                <a:spcPts val="0"/>
              </a:spcAft>
              <a:buSzPts val="1800"/>
              <a:buNone/>
            </a:pPr>
            <a:r>
              <a:t/>
            </a:r>
            <a:endParaRPr b="1"/>
          </a:p>
          <a:p>
            <a:pPr indent="-342900" lvl="0" marL="342900" rtl="0" algn="l">
              <a:spcBef>
                <a:spcPts val="1000"/>
              </a:spcBef>
              <a:spcAft>
                <a:spcPts val="0"/>
              </a:spcAft>
              <a:buSzPts val="1800"/>
              <a:buChar char="🠶"/>
            </a:pPr>
            <a:r>
              <a:rPr lang="en-US"/>
              <a:t>Magnetic tape is a long, narrow strip of plastic film with a thin, magnetic coating on it that is used for magnetic recording. </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Bits are recorded on tape as magnetic patches called RECORDS that run along many tracks. </a:t>
            </a:r>
            <a:endParaRPr/>
          </a:p>
          <a:p>
            <a:pPr indent="-342900" lvl="0" marL="342900" rtl="0" algn="l">
              <a:spcBef>
                <a:spcPts val="1000"/>
              </a:spcBef>
              <a:spcAft>
                <a:spcPts val="0"/>
              </a:spcAft>
              <a:buSzPts val="1800"/>
              <a:buChar char="🠶"/>
            </a:pPr>
            <a:r>
              <a:rPr lang="en-US"/>
              <a:t>Typically, 7 or 9 bits are recorded concurrently. </a:t>
            </a:r>
            <a:endParaRPr/>
          </a:p>
          <a:p>
            <a:pPr indent="-342900" lvl="0" marL="342900" rtl="0" algn="l">
              <a:spcBef>
                <a:spcPts val="1000"/>
              </a:spcBef>
              <a:spcAft>
                <a:spcPts val="0"/>
              </a:spcAft>
              <a:buSzPts val="1800"/>
              <a:buChar char="🠶"/>
            </a:pPr>
            <a:r>
              <a:rPr lang="en-US"/>
              <a:t>Each track has one read/write head, which allows data to be recorded and read as a sequence of characters. </a:t>
            </a:r>
            <a:endParaRPr/>
          </a:p>
          <a:p>
            <a:pPr indent="-342900" lvl="0" marL="342900" rtl="0" algn="l">
              <a:spcBef>
                <a:spcPts val="1000"/>
              </a:spcBef>
              <a:spcAft>
                <a:spcPts val="0"/>
              </a:spcAft>
              <a:buSzPts val="1800"/>
              <a:buChar char="🠶"/>
            </a:pPr>
            <a:r>
              <a:rPr lang="en-US"/>
              <a:t>It can be stopped, started moving forward or backwards or rewound.</a:t>
            </a:r>
            <a:endParaRPr/>
          </a:p>
          <a:p>
            <a:pPr indent="0" lvl="0" marL="0" rtl="0" algn="l">
              <a:spcBef>
                <a:spcPts val="1000"/>
              </a:spcBef>
              <a:spcAft>
                <a:spcPts val="0"/>
              </a:spcAft>
              <a:buSzPts val="1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4"/>
          <p:cNvSpPr txBox="1"/>
          <p:nvPr>
            <p:ph type="title"/>
          </p:nvPr>
        </p:nvSpPr>
        <p:spPr>
          <a:xfrm>
            <a:off x="2592926" y="624110"/>
            <a:ext cx="4786070" cy="66243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2. </a:t>
            </a:r>
            <a:r>
              <a:rPr b="1" lang="en-US" u="sng">
                <a:solidFill>
                  <a:schemeClr val="hlink"/>
                </a:solidFill>
                <a:hlinkClick r:id="rId3"/>
              </a:rPr>
              <a:t>Magnetic Disks</a:t>
            </a:r>
            <a:r>
              <a:rPr b="1" lang="en-US"/>
              <a:t>: </a:t>
            </a:r>
            <a:br>
              <a:rPr b="1" lang="en-US"/>
            </a:br>
            <a:endParaRPr/>
          </a:p>
        </p:txBody>
      </p:sp>
      <p:sp>
        <p:nvSpPr>
          <p:cNvPr id="301" name="Google Shape;301;p24"/>
          <p:cNvSpPr txBox="1"/>
          <p:nvPr>
            <p:ph idx="1" type="body"/>
          </p:nvPr>
        </p:nvSpPr>
        <p:spPr>
          <a:xfrm>
            <a:off x="1993788" y="1463749"/>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A magnetic disk is a circular metal or a plastic plate and these plates are coated with magnetic material. </a:t>
            </a:r>
            <a:endParaRPr/>
          </a:p>
          <a:p>
            <a:pPr indent="-342900" lvl="0" marL="342900" rtl="0" algn="l">
              <a:spcBef>
                <a:spcPts val="1000"/>
              </a:spcBef>
              <a:spcAft>
                <a:spcPts val="0"/>
              </a:spcAft>
              <a:buSzPts val="1800"/>
              <a:buChar char="🠶"/>
            </a:pPr>
            <a:r>
              <a:rPr lang="en-US"/>
              <a:t>The disc is used on both sides.</a:t>
            </a:r>
            <a:endParaRPr/>
          </a:p>
          <a:p>
            <a:pPr indent="-342900" lvl="0" marL="342900" rtl="0" algn="l">
              <a:spcBef>
                <a:spcPts val="1000"/>
              </a:spcBef>
              <a:spcAft>
                <a:spcPts val="0"/>
              </a:spcAft>
              <a:buSzPts val="1800"/>
              <a:buChar char="🠶"/>
            </a:pPr>
            <a:r>
              <a:rPr lang="en-US"/>
              <a:t> Bits are stored in magnetized surfaces in locations called tracks that run in concentric rings. </a:t>
            </a:r>
            <a:endParaRPr/>
          </a:p>
          <a:p>
            <a:pPr indent="-342900" lvl="0" marL="342900" rtl="0" algn="l">
              <a:spcBef>
                <a:spcPts val="1000"/>
              </a:spcBef>
              <a:spcAft>
                <a:spcPts val="0"/>
              </a:spcAft>
              <a:buSzPts val="1800"/>
              <a:buChar char="🠶"/>
            </a:pPr>
            <a:r>
              <a:rPr lang="en-US"/>
              <a:t>Sectors are typically used to break tracks into pieces.</a:t>
            </a:r>
            <a:endParaRPr/>
          </a:p>
          <a:p>
            <a:pPr indent="0" lvl="0" marL="0" rtl="0" algn="l">
              <a:spcBef>
                <a:spcPts val="1000"/>
              </a:spcBef>
              <a:spcAft>
                <a:spcPts val="0"/>
              </a:spcAft>
              <a:buSzPts val="1800"/>
              <a:buNone/>
            </a:pPr>
            <a:r>
              <a:t/>
            </a:r>
            <a:endParaRPr/>
          </a:p>
          <a:p>
            <a:pPr indent="0" lvl="0" marL="0" rtl="0" algn="l">
              <a:spcBef>
                <a:spcPts val="1000"/>
              </a:spcBef>
              <a:spcAft>
                <a:spcPts val="0"/>
              </a:spcAft>
              <a:buSzPts val="1800"/>
              <a:buNone/>
            </a:pPr>
            <a:r>
              <a:t/>
            </a:r>
            <a:endParaRPr/>
          </a:p>
        </p:txBody>
      </p:sp>
      <p:pic>
        <p:nvPicPr>
          <p:cNvPr id="302" name="Google Shape;302;p24"/>
          <p:cNvPicPr preferRelativeResize="0"/>
          <p:nvPr/>
        </p:nvPicPr>
        <p:blipFill rotWithShape="1">
          <a:blip r:embed="rId4">
            <a:alphaModFix/>
          </a:blip>
          <a:srcRect b="0" l="0" r="0" t="0"/>
          <a:stretch/>
        </p:blipFill>
        <p:spPr>
          <a:xfrm>
            <a:off x="3425592" y="3618904"/>
            <a:ext cx="2810267" cy="2172003"/>
          </a:xfrm>
          <a:prstGeom prst="rect">
            <a:avLst/>
          </a:prstGeom>
          <a:noFill/>
          <a:ln>
            <a:noFill/>
          </a:ln>
        </p:spPr>
      </p:pic>
      <p:sp>
        <p:nvSpPr>
          <p:cNvPr id="303" name="Google Shape;303;p24"/>
          <p:cNvSpPr/>
          <p:nvPr/>
        </p:nvSpPr>
        <p:spPr>
          <a:xfrm>
            <a:off x="2069805" y="5790907"/>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73239"/>
                </a:solidFill>
                <a:latin typeface="Nunito"/>
                <a:ea typeface="Nunito"/>
                <a:cs typeface="Nunito"/>
                <a:sym typeface="Nunito"/>
              </a:rPr>
              <a:t>Hard discs are discs that are permanently attached and cannot be removed by a single user.</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5"/>
          <p:cNvSpPr txBox="1"/>
          <p:nvPr>
            <p:ph type="title"/>
          </p:nvPr>
        </p:nvSpPr>
        <p:spPr>
          <a:xfrm>
            <a:off x="1752953" y="294500"/>
            <a:ext cx="5859959" cy="66243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3. </a:t>
            </a:r>
            <a:r>
              <a:rPr b="1" lang="en-US" u="sng">
                <a:solidFill>
                  <a:schemeClr val="hlink"/>
                </a:solidFill>
                <a:hlinkClick r:id="rId3"/>
              </a:rPr>
              <a:t>Optical Disks</a:t>
            </a:r>
            <a:r>
              <a:rPr b="1" lang="en-US"/>
              <a:t>:</a:t>
            </a:r>
            <a:endParaRPr/>
          </a:p>
        </p:txBody>
      </p:sp>
      <p:sp>
        <p:nvSpPr>
          <p:cNvPr id="309" name="Google Shape;309;p25"/>
          <p:cNvSpPr txBox="1"/>
          <p:nvPr>
            <p:ph idx="1" type="body"/>
          </p:nvPr>
        </p:nvSpPr>
        <p:spPr>
          <a:xfrm>
            <a:off x="1752953" y="1453116"/>
            <a:ext cx="8915400" cy="4862624"/>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100000"/>
              <a:buChar char="🠶"/>
            </a:pPr>
            <a:r>
              <a:rPr b="1" lang="en-US"/>
              <a:t> </a:t>
            </a:r>
            <a:r>
              <a:rPr lang="en-US"/>
              <a:t>It's a laser-based storage medium that can be written to and read. It is reasonably priced and has a long lifespan. The optical disc can be taken out of the computer by occasional users.</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b="1" lang="en-US"/>
              <a:t>Types of Optical Disks</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It's called a compact disk. Only read from memory.</a:t>
            </a:r>
            <a:endParaRPr/>
          </a:p>
          <a:p>
            <a:pPr indent="-342900" lvl="0" marL="342900" rtl="0" algn="l">
              <a:spcBef>
                <a:spcPts val="1000"/>
              </a:spcBef>
              <a:spcAft>
                <a:spcPts val="0"/>
              </a:spcAft>
              <a:buSzPct val="100000"/>
              <a:buChar char="🠶"/>
            </a:pPr>
            <a:r>
              <a:rPr lang="en-US"/>
              <a:t>Information is written to the disc by using a controlled laser beam to burn pits on the disc surface.</a:t>
            </a:r>
            <a:endParaRPr/>
          </a:p>
          <a:p>
            <a:pPr indent="-342900" lvl="0" marL="342900" rtl="0" algn="l">
              <a:spcBef>
                <a:spcPts val="1000"/>
              </a:spcBef>
              <a:spcAft>
                <a:spcPts val="0"/>
              </a:spcAft>
              <a:buSzPct val="100000"/>
              <a:buChar char="🠶"/>
            </a:pPr>
            <a:r>
              <a:rPr lang="en-US"/>
              <a:t>It has a highly reflecting surface, which is usually aluminium.</a:t>
            </a:r>
            <a:endParaRPr/>
          </a:p>
          <a:p>
            <a:pPr indent="-342900" lvl="0" marL="342900" rtl="0" algn="l">
              <a:spcBef>
                <a:spcPts val="1000"/>
              </a:spcBef>
              <a:spcAft>
                <a:spcPts val="0"/>
              </a:spcAft>
              <a:buSzPct val="100000"/>
              <a:buChar char="🠶"/>
            </a:pPr>
            <a:r>
              <a:rPr lang="en-US"/>
              <a:t>The diameter of the disc is 5.25 inches.</a:t>
            </a:r>
            <a:endParaRPr/>
          </a:p>
          <a:p>
            <a:pPr indent="-342900" lvl="0" marL="342900" rtl="0" algn="l">
              <a:spcBef>
                <a:spcPts val="1000"/>
              </a:spcBef>
              <a:spcAft>
                <a:spcPts val="0"/>
              </a:spcAft>
              <a:buSzPct val="100000"/>
              <a:buChar char="🠶"/>
            </a:pPr>
            <a:r>
              <a:rPr lang="en-US"/>
              <a:t>16000 tracks per inch is the track density.</a:t>
            </a:r>
            <a:endParaRPr/>
          </a:p>
          <a:p>
            <a:pPr indent="-342900" lvl="0" marL="342900" rtl="0" algn="l">
              <a:spcBef>
                <a:spcPts val="1000"/>
              </a:spcBef>
              <a:spcAft>
                <a:spcPts val="0"/>
              </a:spcAft>
              <a:buSzPct val="100000"/>
              <a:buChar char="🠶"/>
            </a:pPr>
            <a:r>
              <a:rPr lang="en-US"/>
              <a:t>The capacity of a CD-ROM is 600 MB, with each sector storing 2048 bytes of data.</a:t>
            </a:r>
            <a:endParaRPr/>
          </a:p>
          <a:p>
            <a:pPr indent="-342900" lvl="0" marL="342900" rtl="0" algn="l">
              <a:spcBef>
                <a:spcPts val="1000"/>
              </a:spcBef>
              <a:spcAft>
                <a:spcPts val="0"/>
              </a:spcAft>
              <a:buSzPct val="100000"/>
              <a:buChar char="🠶"/>
            </a:pPr>
            <a:r>
              <a:rPr lang="en-US"/>
              <a:t>The data transfer rate is about 4800KB/sec. &amp; the new access time is around 80 milliseconds.</a:t>
            </a:r>
            <a:endParaRPr/>
          </a:p>
          <a:p>
            <a:pPr indent="-237172" lvl="0" marL="342900" rtl="0" algn="l">
              <a:spcBef>
                <a:spcPts val="1000"/>
              </a:spcBef>
              <a:spcAft>
                <a:spcPts val="0"/>
              </a:spcAft>
              <a:buSzPct val="100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73239"/>
              </a:buClr>
              <a:buSzPts val="3600"/>
              <a:buFont typeface="Nunito"/>
              <a:buNone/>
            </a:pPr>
            <a:r>
              <a:rPr b="1" lang="en-US">
                <a:solidFill>
                  <a:srgbClr val="273239"/>
                </a:solidFill>
                <a:latin typeface="Nunito"/>
                <a:ea typeface="Nunito"/>
                <a:cs typeface="Nunito"/>
                <a:sym typeface="Nunito"/>
              </a:rPr>
              <a:t>WORM-(WRITE ONCE READ MANY)</a:t>
            </a:r>
            <a:br>
              <a:rPr lang="en-US">
                <a:solidFill>
                  <a:srgbClr val="273239"/>
                </a:solidFill>
                <a:latin typeface="Nunito"/>
                <a:ea typeface="Nunito"/>
                <a:cs typeface="Nunito"/>
                <a:sym typeface="Nunito"/>
              </a:rPr>
            </a:br>
            <a:endParaRPr/>
          </a:p>
        </p:txBody>
      </p:sp>
      <p:sp>
        <p:nvSpPr>
          <p:cNvPr id="315" name="Google Shape;315;p26"/>
          <p:cNvSpPr/>
          <p:nvPr/>
        </p:nvSpPr>
        <p:spPr>
          <a:xfrm>
            <a:off x="1789050" y="1431250"/>
            <a:ext cx="9611100" cy="4651500"/>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A user can only write data once.</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The information is written on the disc using a laser beam.</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It is possible to read the written data as many times as desired.</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They keep lasting records of information but access time is high.</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It is possible to rewrite updated or new data to another part of the disc.</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Data that has already been written cannot be changed.</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Usual size - 5.25 inch or 3.5 inch diameter.</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The usual capacity of a 5.25-inch disk is 650 MB,5.2GB etc.</a:t>
            </a:r>
            <a:endParaRPr b="0" i="0" sz="1800">
              <a:solidFill>
                <a:srgbClr val="273239"/>
              </a:solidFill>
              <a:latin typeface="Nunito"/>
              <a:ea typeface="Nunito"/>
              <a:cs typeface="Nunito"/>
              <a:sym typeface="Nuni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2592926" y="624110"/>
            <a:ext cx="3414470" cy="69432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73239"/>
              </a:buClr>
              <a:buSzPct val="100000"/>
              <a:buFont typeface="Nunito"/>
              <a:buNone/>
            </a:pPr>
            <a:r>
              <a:rPr b="1" lang="en-US">
                <a:solidFill>
                  <a:srgbClr val="273239"/>
                </a:solidFill>
                <a:latin typeface="Nunito"/>
                <a:ea typeface="Nunito"/>
                <a:cs typeface="Nunito"/>
                <a:sym typeface="Nunito"/>
              </a:rPr>
              <a:t>DVDs</a:t>
            </a:r>
            <a:br>
              <a:rPr lang="en-US">
                <a:solidFill>
                  <a:srgbClr val="273239"/>
                </a:solidFill>
                <a:latin typeface="Nunito"/>
                <a:ea typeface="Nunito"/>
                <a:cs typeface="Nunito"/>
                <a:sym typeface="Nunito"/>
              </a:rPr>
            </a:br>
            <a:endParaRPr/>
          </a:p>
        </p:txBody>
      </p:sp>
      <p:sp>
        <p:nvSpPr>
          <p:cNvPr id="321" name="Google Shape;321;p27"/>
          <p:cNvSpPr/>
          <p:nvPr/>
        </p:nvSpPr>
        <p:spPr>
          <a:xfrm>
            <a:off x="1855566" y="1672855"/>
            <a:ext cx="788227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73239"/>
                </a:solidFill>
                <a:latin typeface="Nunito"/>
                <a:ea typeface="Nunito"/>
                <a:cs typeface="Nunito"/>
                <a:sym typeface="Nunito"/>
              </a:rPr>
              <a:t>The term "</a:t>
            </a:r>
            <a:r>
              <a:rPr lang="en-US" sz="1800" u="sng">
                <a:solidFill>
                  <a:srgbClr val="273239"/>
                </a:solidFill>
                <a:latin typeface="Nunito"/>
                <a:ea typeface="Nunito"/>
                <a:cs typeface="Nunito"/>
                <a:sym typeface="Nunito"/>
                <a:hlinkClick r:id="rId3">
                  <a:extLst>
                    <a:ext uri="{A12FA001-AC4F-418D-AE19-62706E023703}">
                      <ahyp:hlinkClr val="tx"/>
                    </a:ext>
                  </a:extLst>
                </a:hlinkClick>
              </a:rPr>
              <a:t>DVD</a:t>
            </a:r>
            <a:r>
              <a:rPr lang="en-US" sz="1800">
                <a:solidFill>
                  <a:srgbClr val="273239"/>
                </a:solidFill>
                <a:latin typeface="Nunito"/>
                <a:ea typeface="Nunito"/>
                <a:cs typeface="Nunito"/>
                <a:sym typeface="Nunito"/>
              </a:rPr>
              <a:t>" stands for "Digital Versatile/Video Disc," and there are two sorts of DVDs:</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DVDR (writable)</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DVDRW (Re-Writable)</a:t>
            </a:r>
            <a:endParaRPr/>
          </a:p>
          <a:p>
            <a:pPr indent="0" lvl="0" marL="0" marR="0" rtl="0" algn="l">
              <a:spcBef>
                <a:spcPts val="0"/>
              </a:spcBef>
              <a:spcAft>
                <a:spcPts val="0"/>
              </a:spcAft>
              <a:buClr>
                <a:schemeClr val="dk1"/>
              </a:buClr>
              <a:buSzPts val="1800"/>
              <a:buFont typeface="Arial"/>
              <a:buNone/>
            </a:pPr>
            <a:r>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b="1" lang="en-US" sz="1800">
                <a:solidFill>
                  <a:srgbClr val="273239"/>
                </a:solidFill>
                <a:latin typeface="Nunito"/>
                <a:ea typeface="Nunito"/>
                <a:cs typeface="Nunito"/>
                <a:sym typeface="Nunito"/>
              </a:rPr>
              <a:t>DVD-ROMS (Digital Versatile Discs)</a:t>
            </a:r>
            <a:r>
              <a:rPr lang="en-US" sz="1800">
                <a:solidFill>
                  <a:srgbClr val="273239"/>
                </a:solidFill>
                <a:latin typeface="Nunito"/>
                <a:ea typeface="Nunito"/>
                <a:cs typeface="Nunito"/>
                <a:sym typeface="Nunito"/>
              </a:rPr>
              <a:t>: These are read-only memory (ROM) discs that can be used in a variety of ways. When compared to CD-ROMs, they can store a lot more data. It has a thick polycarbonate plastic layer that serves as a foundation for the other layers. It's an optical memory that can read and write data.</a:t>
            </a:r>
            <a:endParaRPr/>
          </a:p>
          <a:p>
            <a:pPr indent="-114300" lvl="0" marL="0" marR="0" rtl="0" algn="l">
              <a:spcBef>
                <a:spcPts val="0"/>
              </a:spcBef>
              <a:spcAft>
                <a:spcPts val="0"/>
              </a:spcAft>
              <a:buClr>
                <a:srgbClr val="273239"/>
              </a:buClr>
              <a:buSzPts val="1800"/>
              <a:buFont typeface="Arial"/>
              <a:buChar char="•"/>
            </a:pPr>
            <a:r>
              <a:rPr b="1" lang="en-US" sz="1800">
                <a:solidFill>
                  <a:srgbClr val="273239"/>
                </a:solidFill>
                <a:latin typeface="Nunito"/>
                <a:ea typeface="Nunito"/>
                <a:cs typeface="Nunito"/>
                <a:sym typeface="Nunito"/>
              </a:rPr>
              <a:t>DVD-R</a:t>
            </a:r>
            <a:r>
              <a:rPr lang="en-US" sz="1800">
                <a:solidFill>
                  <a:srgbClr val="273239"/>
                </a:solidFill>
                <a:latin typeface="Nunito"/>
                <a:ea typeface="Nunito"/>
                <a:cs typeface="Nunito"/>
                <a:sym typeface="Nunito"/>
              </a:rPr>
              <a:t>: </a:t>
            </a:r>
            <a:r>
              <a:rPr lang="en-US" sz="1800" u="sng">
                <a:solidFill>
                  <a:srgbClr val="273239"/>
                </a:solidFill>
                <a:latin typeface="Nunito"/>
                <a:ea typeface="Nunito"/>
                <a:cs typeface="Nunito"/>
                <a:sym typeface="Nunito"/>
                <a:hlinkClick r:id="rId4">
                  <a:extLst>
                    <a:ext uri="{A12FA001-AC4F-418D-AE19-62706E023703}">
                      <ahyp:hlinkClr val="tx"/>
                    </a:ext>
                  </a:extLst>
                </a:hlinkClick>
              </a:rPr>
              <a:t>DVD-R</a:t>
            </a:r>
            <a:r>
              <a:rPr lang="en-US" sz="1800">
                <a:solidFill>
                  <a:srgbClr val="273239"/>
                </a:solidFill>
                <a:latin typeface="Nunito"/>
                <a:ea typeface="Nunito"/>
                <a:cs typeface="Nunito"/>
                <a:sym typeface="Nunito"/>
              </a:rPr>
              <a:t> is a writable optical disc that can be used just once. It's a DVD that can be recorded. It's a lot like WORM. </a:t>
            </a:r>
            <a:r>
              <a:rPr lang="en-US" sz="1800" u="sng">
                <a:solidFill>
                  <a:srgbClr val="273239"/>
                </a:solidFill>
                <a:latin typeface="Nunito"/>
                <a:ea typeface="Nunito"/>
                <a:cs typeface="Nunito"/>
                <a:sym typeface="Nunito"/>
                <a:hlinkClick r:id="rId5">
                  <a:extLst>
                    <a:ext uri="{A12FA001-AC4F-418D-AE19-62706E023703}">
                      <ahyp:hlinkClr val="tx"/>
                    </a:ext>
                  </a:extLst>
                </a:hlinkClick>
              </a:rPr>
              <a:t>DVD-ROMs</a:t>
            </a:r>
            <a:r>
              <a:rPr lang="en-US" sz="1800">
                <a:solidFill>
                  <a:srgbClr val="273239"/>
                </a:solidFill>
                <a:latin typeface="Nunito"/>
                <a:ea typeface="Nunito"/>
                <a:cs typeface="Nunito"/>
                <a:sym typeface="Nunito"/>
              </a:rPr>
              <a:t> have capacities ranging from 4.7 to 17 GB. The capacity of 3.5 inch disk is 1.3 GB.</a:t>
            </a:r>
            <a:endParaRPr b="0" i="0" sz="1800">
              <a:solidFill>
                <a:srgbClr val="273239"/>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8"/>
          <p:cNvSpPr txBox="1"/>
          <p:nvPr>
            <p:ph type="title"/>
          </p:nvPr>
        </p:nvSpPr>
        <p:spPr>
          <a:xfrm>
            <a:off x="1476507" y="156277"/>
            <a:ext cx="8911687" cy="52420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000"/>
              <a:buFont typeface="Times New Roman"/>
              <a:buNone/>
            </a:pPr>
            <a:r>
              <a:rPr b="1" lang="en-US" sz="2000">
                <a:latin typeface="Times New Roman"/>
                <a:ea typeface="Times New Roman"/>
                <a:cs typeface="Times New Roman"/>
                <a:sym typeface="Times New Roman"/>
              </a:rPr>
              <a:t>Difference between Primary Memory and Secondary Memory:</a:t>
            </a: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graphicFrame>
        <p:nvGraphicFramePr>
          <p:cNvPr id="327" name="Google Shape;327;p28"/>
          <p:cNvGraphicFramePr/>
          <p:nvPr/>
        </p:nvGraphicFramePr>
        <p:xfrm>
          <a:off x="1600678" y="1100835"/>
          <a:ext cx="3000000" cy="3000000"/>
        </p:xfrm>
        <a:graphic>
          <a:graphicData uri="http://schemas.openxmlformats.org/drawingml/2006/table">
            <a:tbl>
              <a:tblPr>
                <a:noFill/>
                <a:tableStyleId>{F89BEEAA-D534-408A-A0EF-D0AD3BC353A7}</a:tableStyleId>
              </a:tblPr>
              <a:tblGrid>
                <a:gridCol w="4824275"/>
                <a:gridCol w="4824275"/>
              </a:tblGrid>
              <a:tr h="685350">
                <a:tc>
                  <a:txBody>
                    <a:bodyPr/>
                    <a:lstStyle/>
                    <a:p>
                      <a:pPr indent="0" lvl="0" marL="0" marR="0" rtl="0" algn="ctr">
                        <a:spcBef>
                          <a:spcPts val="0"/>
                        </a:spcBef>
                        <a:spcAft>
                          <a:spcPts val="0"/>
                        </a:spcAft>
                        <a:buNone/>
                      </a:pPr>
                      <a:r>
                        <a:rPr b="1" lang="en-US" sz="1400" u="none" cap="none" strike="noStrike"/>
                        <a:t>Primary Memory</a:t>
                      </a:r>
                      <a:endParaRPr/>
                    </a:p>
                  </a:txBody>
                  <a:tcPr marT="95250" marB="95250" marR="38100" marL="3810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US" sz="1400" u="none" cap="none" strike="noStrike"/>
                        <a:t>Secondary Memory</a:t>
                      </a:r>
                      <a:endParaRPr/>
                    </a:p>
                  </a:txBody>
                  <a:tcPr marT="95250" marB="952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1542200">
                <a:tc>
                  <a:txBody>
                    <a:bodyPr/>
                    <a:lstStyle/>
                    <a:p>
                      <a:pPr indent="0" lvl="0" marL="0" marR="0" rtl="0" algn="ctr">
                        <a:spcBef>
                          <a:spcPts val="0"/>
                        </a:spcBef>
                        <a:spcAft>
                          <a:spcPts val="0"/>
                        </a:spcAft>
                        <a:buNone/>
                      </a:pPr>
                      <a:r>
                        <a:rPr b="0" lang="en-US" sz="1250" u="none" cap="none" strike="noStrike"/>
                        <a:t>Primary memory is directly accessed by the Central Processing Unit(CPU).</a:t>
                      </a:r>
                      <a:endParaRPr/>
                    </a:p>
                  </a:txBody>
                  <a:tcPr marT="133350" marB="1333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50" u="none" cap="none" strike="noStrike"/>
                        <a:t>Secondary memory is not accessed directly by the Central Processing Unit(CPU). Instead, data accessed from a secondary memory is first loaded into Random Access Memory(RAM) and is then sent to the Processing Unit.</a:t>
                      </a:r>
                      <a:endParaRPr/>
                    </a:p>
                  </a:txBody>
                  <a:tcPr marT="133350" marB="1333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1745700">
                <a:tc>
                  <a:txBody>
                    <a:bodyPr/>
                    <a:lstStyle/>
                    <a:p>
                      <a:pPr indent="0" lvl="0" marL="0" marR="0" rtl="0" algn="ctr">
                        <a:spcBef>
                          <a:spcPts val="0"/>
                        </a:spcBef>
                        <a:spcAft>
                          <a:spcPts val="0"/>
                        </a:spcAft>
                        <a:buNone/>
                      </a:pPr>
                      <a:r>
                        <a:rPr b="0" lang="en-US" sz="1250" u="none" cap="none" strike="noStrike"/>
                        <a:t>RAM provides a much faster-accessing speed to data than secondary memory. By loading software programs and required files into primary memory(RAM), computers can process data much more quickly.</a:t>
                      </a:r>
                      <a:endParaRPr/>
                    </a:p>
                  </a:txBody>
                  <a:tcPr marT="133350" marB="1333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50" u="none" cap="none" strike="noStrike"/>
                        <a:t>Secondary Memory is slower in data accessing. Typically primary memory is six times faster than secondary memory.</a:t>
                      </a:r>
                      <a:endParaRPr/>
                    </a:p>
                  </a:txBody>
                  <a:tcPr marT="133350" marB="1333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r h="1422425">
                <a:tc>
                  <a:txBody>
                    <a:bodyPr/>
                    <a:lstStyle/>
                    <a:p>
                      <a:pPr indent="0" lvl="0" marL="0" marR="0" rtl="0" algn="ctr">
                        <a:spcBef>
                          <a:spcPts val="0"/>
                        </a:spcBef>
                        <a:spcAft>
                          <a:spcPts val="0"/>
                        </a:spcAft>
                        <a:buNone/>
                      </a:pPr>
                      <a:r>
                        <a:rPr b="0" lang="en-US" sz="1250" u="none" cap="none" strike="noStrike"/>
                        <a:t>Primary memory, i.e. Random Access Memory(RAM) is volatile and gets completely erased when a computer is shut down.</a:t>
                      </a:r>
                      <a:endParaRPr/>
                    </a:p>
                  </a:txBody>
                  <a:tcPr marT="133350" marB="1333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250" u="none" cap="none" strike="noStrike"/>
                        <a:t>Secondary memory provides a feature of being non-volatile, which means it can hold on to its data with or without electrical power supply.</a:t>
                      </a:r>
                      <a:endParaRPr/>
                    </a:p>
                  </a:txBody>
                  <a:tcPr marT="133350" marB="133350" marR="95250" marL="95250" anchor="ctr">
                    <a:lnL cap="flat" cmpd="sng" w="9525">
                      <a:solidFill>
                        <a:srgbClr val="DFDFDF"/>
                      </a:solidFill>
                      <a:prstDash val="solid"/>
                      <a:round/>
                      <a:headEnd len="sm" w="sm" type="none"/>
                      <a:tailEnd len="sm" w="sm" type="none"/>
                    </a:lnL>
                    <a:lnR cap="flat" cmpd="sng" w="9525">
                      <a:solidFill>
                        <a:srgbClr val="DFDFDF"/>
                      </a:solidFill>
                      <a:prstDash val="solid"/>
                      <a:round/>
                      <a:headEnd len="sm" w="sm" type="none"/>
                      <a:tailEnd len="sm" w="sm" type="none"/>
                    </a:lnR>
                    <a:lnT cap="flat" cmpd="sng" w="9525">
                      <a:solidFill>
                        <a:srgbClr val="DFDFDF"/>
                      </a:solidFill>
                      <a:prstDash val="solid"/>
                      <a:round/>
                      <a:headEnd len="sm" w="sm" type="none"/>
                      <a:tailEnd len="sm" w="sm" type="none"/>
                    </a:lnT>
                    <a:lnB cap="flat" cmpd="sng" w="9525">
                      <a:solidFill>
                        <a:srgbClr val="DFDFD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9"/>
          <p:cNvSpPr txBox="1"/>
          <p:nvPr>
            <p:ph type="title"/>
          </p:nvPr>
        </p:nvSpPr>
        <p:spPr>
          <a:xfrm>
            <a:off x="1635995" y="475255"/>
            <a:ext cx="8911687" cy="56673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Hard Disk organization</a:t>
            </a:r>
            <a:br>
              <a:rPr b="1" lang="en-US"/>
            </a:br>
            <a:endParaRPr/>
          </a:p>
        </p:txBody>
      </p:sp>
      <p:pic>
        <p:nvPicPr>
          <p:cNvPr id="333" name="Google Shape;333;p29"/>
          <p:cNvPicPr preferRelativeResize="0"/>
          <p:nvPr>
            <p:ph idx="1" type="body"/>
          </p:nvPr>
        </p:nvPicPr>
        <p:blipFill rotWithShape="1">
          <a:blip r:embed="rId3">
            <a:alphaModFix/>
          </a:blip>
          <a:srcRect b="0" l="0" r="0" t="0"/>
          <a:stretch/>
        </p:blipFill>
        <p:spPr>
          <a:xfrm>
            <a:off x="1871330" y="1395957"/>
            <a:ext cx="7974419" cy="487725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0"/>
          <p:cNvSpPr txBox="1"/>
          <p:nvPr>
            <p:ph type="title"/>
          </p:nvPr>
        </p:nvSpPr>
        <p:spPr>
          <a:xfrm>
            <a:off x="1965604" y="475254"/>
            <a:ext cx="8911687" cy="81128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400"/>
              <a:buFont typeface="Times New Roman"/>
              <a:buNone/>
            </a:pPr>
            <a:r>
              <a:rPr b="1" lang="en-US" sz="2400">
                <a:latin typeface="Times New Roman"/>
                <a:ea typeface="Times New Roman"/>
                <a:cs typeface="Times New Roman"/>
                <a:sym typeface="Times New Roman"/>
              </a:rPr>
              <a:t>Hard Disk Drive Components and Form Factors</a:t>
            </a:r>
            <a:br>
              <a:rPr b="1"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sp>
        <p:nvSpPr>
          <p:cNvPr id="339" name="Google Shape;339;p30"/>
          <p:cNvSpPr txBox="1"/>
          <p:nvPr>
            <p:ph idx="1" type="body"/>
          </p:nvPr>
        </p:nvSpPr>
        <p:spPr>
          <a:xfrm>
            <a:off x="1866198" y="1286538"/>
            <a:ext cx="9329886" cy="5411974"/>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b="1" lang="en-US"/>
              <a:t>HDD has the Aluminium components</a:t>
            </a:r>
            <a:endParaRPr/>
          </a:p>
          <a:p>
            <a:pPr indent="0" lvl="0" marL="0" rtl="0" algn="l">
              <a:spcBef>
                <a:spcPts val="1000"/>
              </a:spcBef>
              <a:spcAft>
                <a:spcPts val="0"/>
              </a:spcAft>
              <a:buSzPct val="100000"/>
              <a:buNone/>
            </a:pPr>
            <a:r>
              <a:t/>
            </a:r>
            <a:endParaRPr b="1"/>
          </a:p>
          <a:p>
            <a:pPr indent="-342900" lvl="0" marL="342900" rtl="0" algn="l">
              <a:spcBef>
                <a:spcPts val="1000"/>
              </a:spcBef>
              <a:spcAft>
                <a:spcPts val="0"/>
              </a:spcAft>
              <a:buSzPct val="100000"/>
              <a:buChar char="🠶"/>
            </a:pPr>
            <a:r>
              <a:rPr b="1" lang="en-US"/>
              <a:t>Platters:</a:t>
            </a:r>
            <a:r>
              <a:rPr lang="en-US"/>
              <a:t> Magnetic platters are disk-like in shape and used to store data. Typically, they are made from glass or aluminium and laid down on a spindle where layers of such disks are kept one after the other.</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b="1" lang="en-US"/>
              <a:t>Spindle</a:t>
            </a:r>
            <a:r>
              <a:rPr lang="en-US"/>
              <a:t>: The spindle maintains the platters in place and rotates them as required. The Revolution Per Minute(RPM) rating controls how fast data can be written to and read from the hard drive.</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b="1" lang="en-US"/>
              <a:t>Actuator Arm:</a:t>
            </a:r>
            <a:r>
              <a:rPr lang="en-US"/>
              <a:t> The actuator, also known as the head actuator, is a tiny motor that controls the movement of the read/write </a:t>
            </a:r>
            <a:r>
              <a:rPr lang="en-US"/>
              <a:t>head</a:t>
            </a:r>
            <a:r>
              <a:rPr lang="en-US"/>
              <a:t> and monitors data transfer between the platters. It is in charge of ensuring that the read/write heads are always in the proper direction.</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b="1" lang="en-US"/>
              <a:t>Read/write Head:</a:t>
            </a:r>
            <a:r>
              <a:rPr lang="en-US"/>
              <a:t> The read/write arm controls the movement of the read/write heads, that perform the actual reading and writing on the disc platters.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31"/>
          <p:cNvPicPr preferRelativeResize="0"/>
          <p:nvPr/>
        </p:nvPicPr>
        <p:blipFill rotWithShape="1">
          <a:blip r:embed="rId3">
            <a:alphaModFix/>
          </a:blip>
          <a:srcRect b="0" l="0" r="0" t="0"/>
          <a:stretch/>
        </p:blipFill>
        <p:spPr>
          <a:xfrm>
            <a:off x="1839433" y="478466"/>
            <a:ext cx="6390168" cy="3274828"/>
          </a:xfrm>
          <a:prstGeom prst="rect">
            <a:avLst/>
          </a:prstGeom>
          <a:noFill/>
          <a:ln>
            <a:noFill/>
          </a:ln>
        </p:spPr>
      </p:pic>
      <p:sp>
        <p:nvSpPr>
          <p:cNvPr id="345" name="Google Shape;345;p31"/>
          <p:cNvSpPr/>
          <p:nvPr/>
        </p:nvSpPr>
        <p:spPr>
          <a:xfrm>
            <a:off x="1729563" y="4072271"/>
            <a:ext cx="7542028" cy="2031325"/>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Some space in each sector is used for formatting, so the actual storage available is slightly less than the total capacity.</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The R-W head moves over the rotating disk to read and write data.</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To access a specific memory location, the head must be positioned correctly, which affects the speed of data retrieval.</a:t>
            </a:r>
            <a:endParaRPr b="0" i="0" sz="1800">
              <a:solidFill>
                <a:srgbClr val="273239"/>
              </a:solidFill>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2592925" y="624110"/>
            <a:ext cx="4382033" cy="73685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External HDDs</a:t>
            </a:r>
            <a:br>
              <a:rPr b="1" lang="en-US"/>
            </a:br>
            <a:endParaRPr/>
          </a:p>
        </p:txBody>
      </p:sp>
      <p:sp>
        <p:nvSpPr>
          <p:cNvPr id="351" name="Google Shape;351;p32"/>
          <p:cNvSpPr txBox="1"/>
          <p:nvPr>
            <p:ph idx="1" type="body"/>
          </p:nvPr>
        </p:nvSpPr>
        <p:spPr>
          <a:xfrm>
            <a:off x="1536590" y="1506278"/>
            <a:ext cx="8915400" cy="500084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External hard drives can be used as a portable data backup device or to increase a computer's storage capacity.</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 Through connectors like USB 2.0,</a:t>
            </a:r>
            <a:r>
              <a:rPr lang="en-US" u="sng">
                <a:solidFill>
                  <a:schemeClr val="hlink"/>
                </a:solidFill>
                <a:hlinkClick r:id="rId3"/>
              </a:rPr>
              <a:t> USB-C</a:t>
            </a:r>
            <a:r>
              <a:rPr lang="en-US"/>
              <a:t> or External </a:t>
            </a:r>
            <a:r>
              <a:rPr lang="en-US" u="sng">
                <a:solidFill>
                  <a:schemeClr val="hlink"/>
                </a:solidFill>
                <a:hlinkClick r:id="rId4"/>
              </a:rPr>
              <a:t>SATA</a:t>
            </a:r>
            <a:r>
              <a:rPr lang="en-US"/>
              <a:t> (eSATA), external disks can be connected to a computer or other device.</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Additionally, compared to internal HDDs, external hard drives may transport data more slowly.</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In addition to being able to increase a system storage capacity, an external hard drive also has the benefit of being portable.</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Users are able to physically carry their stored data on numerous devices with them wherever they go.</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73239"/>
              </a:buClr>
              <a:buSzPts val="3600"/>
              <a:buFont typeface="Nunito"/>
              <a:buNone/>
            </a:pPr>
            <a:r>
              <a:rPr b="1" lang="en-US">
                <a:solidFill>
                  <a:srgbClr val="273239"/>
                </a:solidFill>
                <a:latin typeface="Nunito"/>
                <a:ea typeface="Nunito"/>
                <a:cs typeface="Nunito"/>
                <a:sym typeface="Nunito"/>
              </a:rPr>
              <a:t>Features of HDD</a:t>
            </a:r>
            <a:br>
              <a:rPr b="1" lang="en-US">
                <a:solidFill>
                  <a:srgbClr val="273239"/>
                </a:solidFill>
                <a:latin typeface="Nunito"/>
                <a:ea typeface="Nunito"/>
                <a:cs typeface="Nunito"/>
                <a:sym typeface="Nunito"/>
              </a:rPr>
            </a:br>
            <a:endParaRPr/>
          </a:p>
        </p:txBody>
      </p:sp>
      <p:sp>
        <p:nvSpPr>
          <p:cNvPr id="357" name="Google Shape;357;p33"/>
          <p:cNvSpPr txBox="1"/>
          <p:nvPr>
            <p:ph idx="1" type="body"/>
          </p:nvPr>
        </p:nvSpPr>
        <p:spPr>
          <a:xfrm>
            <a:off x="1638300" y="1904999"/>
            <a:ext cx="8915400" cy="4325679"/>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100000"/>
              <a:buFont typeface="Arial"/>
              <a:buChar char="•"/>
            </a:pPr>
            <a:r>
              <a:rPr b="1" lang="en-US">
                <a:solidFill>
                  <a:srgbClr val="273239"/>
                </a:solidFill>
                <a:latin typeface="Nunito"/>
                <a:ea typeface="Nunito"/>
                <a:cs typeface="Nunito"/>
                <a:sym typeface="Nunito"/>
              </a:rPr>
              <a:t>Non-Volatile: </a:t>
            </a:r>
            <a:r>
              <a:rPr lang="en-US">
                <a:solidFill>
                  <a:srgbClr val="273239"/>
                </a:solidFill>
                <a:latin typeface="Nunito"/>
                <a:ea typeface="Nunito"/>
                <a:cs typeface="Nunito"/>
                <a:sym typeface="Nunito"/>
              </a:rPr>
              <a:t>Data remains stored even when the power is off, making it ideal for long-term storage.</a:t>
            </a:r>
            <a:endParaRPr/>
          </a:p>
          <a:p>
            <a:pPr indent="0" lvl="0" marL="0" rtl="0" algn="l">
              <a:spcBef>
                <a:spcPts val="1000"/>
              </a:spcBef>
              <a:spcAft>
                <a:spcPts val="0"/>
              </a:spcAft>
              <a:buSzPct val="1000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ct val="100000"/>
              <a:buFont typeface="Arial"/>
              <a:buChar char="•"/>
            </a:pPr>
            <a:r>
              <a:rPr b="1" lang="en-US">
                <a:solidFill>
                  <a:srgbClr val="273239"/>
                </a:solidFill>
                <a:latin typeface="Nunito"/>
                <a:ea typeface="Nunito"/>
                <a:cs typeface="Nunito"/>
                <a:sym typeface="Nunito"/>
              </a:rPr>
              <a:t>High Capacity</a:t>
            </a:r>
            <a:r>
              <a:rPr lang="en-US">
                <a:solidFill>
                  <a:srgbClr val="273239"/>
                </a:solidFill>
                <a:latin typeface="Nunito"/>
                <a:ea typeface="Nunito"/>
                <a:cs typeface="Nunito"/>
                <a:sym typeface="Nunito"/>
              </a:rPr>
              <a:t>: Can store large amounts of data, with modern HDDs reaching terabytes in size.</a:t>
            </a:r>
            <a:endParaRPr/>
          </a:p>
          <a:p>
            <a:pPr indent="0" lvl="0" marL="0" rtl="0" algn="l">
              <a:spcBef>
                <a:spcPts val="1000"/>
              </a:spcBef>
              <a:spcAft>
                <a:spcPts val="0"/>
              </a:spcAft>
              <a:buSzPct val="1000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ct val="100000"/>
              <a:buFont typeface="Arial"/>
              <a:buChar char="•"/>
            </a:pPr>
            <a:r>
              <a:rPr b="1" lang="en-US">
                <a:solidFill>
                  <a:srgbClr val="273239"/>
                </a:solidFill>
                <a:latin typeface="Nunito"/>
                <a:ea typeface="Nunito"/>
                <a:cs typeface="Nunito"/>
                <a:sym typeface="Nunito"/>
              </a:rPr>
              <a:t>Relatively Slow:</a:t>
            </a:r>
            <a:r>
              <a:rPr lang="en-US">
                <a:solidFill>
                  <a:srgbClr val="273239"/>
                </a:solidFill>
                <a:latin typeface="Nunito"/>
                <a:ea typeface="Nunito"/>
                <a:cs typeface="Nunito"/>
                <a:sym typeface="Nunito"/>
              </a:rPr>
              <a:t> Slower than RAM, with access times in milliseconds, making it better for storage than frequent data access.</a:t>
            </a:r>
            <a:endParaRPr/>
          </a:p>
          <a:p>
            <a:pPr indent="0" lvl="0" marL="0" rtl="0" algn="l">
              <a:spcBef>
                <a:spcPts val="1000"/>
              </a:spcBef>
              <a:spcAft>
                <a:spcPts val="0"/>
              </a:spcAft>
              <a:buSzPct val="1000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ct val="100000"/>
              <a:buFont typeface="Arial"/>
              <a:buChar char="•"/>
            </a:pPr>
            <a:r>
              <a:rPr b="1" lang="en-US">
                <a:solidFill>
                  <a:srgbClr val="273239"/>
                </a:solidFill>
                <a:latin typeface="Nunito"/>
                <a:ea typeface="Nunito"/>
                <a:cs typeface="Nunito"/>
                <a:sym typeface="Nunito"/>
              </a:rPr>
              <a:t>Mechanical Parts</a:t>
            </a:r>
            <a:r>
              <a:rPr lang="en-US">
                <a:solidFill>
                  <a:srgbClr val="273239"/>
                </a:solidFill>
                <a:latin typeface="Nunito"/>
                <a:ea typeface="Nunito"/>
                <a:cs typeface="Nunito"/>
                <a:sym typeface="Nunito"/>
              </a:rPr>
              <a:t>: Contains spinning disks and moving read/write heads, which can wear out or get damaged.</a:t>
            </a:r>
            <a:endParaRPr/>
          </a:p>
          <a:p>
            <a:pPr indent="0" lvl="0" marL="0" rtl="0" algn="l">
              <a:spcBef>
                <a:spcPts val="1000"/>
              </a:spcBef>
              <a:spcAft>
                <a:spcPts val="0"/>
              </a:spcAft>
              <a:buSzPct val="1000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ct val="100000"/>
              <a:buFont typeface="Arial"/>
              <a:buChar char="•"/>
            </a:pPr>
            <a:r>
              <a:rPr b="1" lang="en-US">
                <a:solidFill>
                  <a:srgbClr val="273239"/>
                </a:solidFill>
                <a:latin typeface="Nunito"/>
                <a:ea typeface="Nunito"/>
                <a:cs typeface="Nunito"/>
                <a:sym typeface="Nunito"/>
              </a:rPr>
              <a:t>Cost-Effective:</a:t>
            </a:r>
            <a:r>
              <a:rPr lang="en-US">
                <a:solidFill>
                  <a:srgbClr val="273239"/>
                </a:solidFill>
                <a:latin typeface="Nunito"/>
                <a:ea typeface="Nunito"/>
                <a:cs typeface="Nunito"/>
                <a:sym typeface="Nunito"/>
              </a:rPr>
              <a:t> Cheaper than SSDs, especially for high-capacity storage.</a:t>
            </a:r>
            <a:endParaRPr/>
          </a:p>
          <a:p>
            <a:pPr indent="-245745" lvl="0" marL="342900" rtl="0" algn="l">
              <a:spcBef>
                <a:spcPts val="1000"/>
              </a:spcBef>
              <a:spcAft>
                <a:spcPts val="0"/>
              </a:spcAft>
              <a:buSzPct val="100000"/>
              <a:buFont typeface="Arial"/>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ct val="100000"/>
              <a:buFont typeface="Arial"/>
              <a:buChar char="•"/>
            </a:pPr>
            <a:r>
              <a:rPr b="1" lang="en-US">
                <a:solidFill>
                  <a:srgbClr val="273239"/>
                </a:solidFill>
                <a:latin typeface="Nunito"/>
                <a:ea typeface="Nunito"/>
                <a:cs typeface="Nunito"/>
                <a:sym typeface="Nunito"/>
              </a:rPr>
              <a:t>Reliable:</a:t>
            </a:r>
            <a:r>
              <a:rPr lang="en-US">
                <a:solidFill>
                  <a:srgbClr val="273239"/>
                </a:solidFill>
                <a:latin typeface="Nunito"/>
                <a:ea typeface="Nunito"/>
                <a:cs typeface="Nunito"/>
                <a:sym typeface="Nunito"/>
              </a:rPr>
              <a:t> Despite mechanical parts, HDDs are durable and widely used for enterprise storage.</a:t>
            </a:r>
            <a:endParaRPr/>
          </a:p>
          <a:p>
            <a:pPr indent="-245745" lvl="0" marL="342900" rtl="0" algn="l">
              <a:spcBef>
                <a:spcPts val="1000"/>
              </a:spcBef>
              <a:spcAft>
                <a:spcPts val="0"/>
              </a:spcAft>
              <a:buSzPct val="1000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txBox="1"/>
          <p:nvPr>
            <p:ph type="title"/>
          </p:nvPr>
        </p:nvSpPr>
        <p:spPr>
          <a:xfrm>
            <a:off x="2592925" y="624110"/>
            <a:ext cx="6082989" cy="47534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Times New Roman"/>
              <a:buNone/>
            </a:pPr>
            <a:r>
              <a:rPr b="1" lang="en-US" sz="2000">
                <a:latin typeface="Times New Roman"/>
                <a:ea typeface="Times New Roman"/>
                <a:cs typeface="Times New Roman"/>
                <a:sym typeface="Times New Roman"/>
              </a:rPr>
              <a:t>RAID (Redundant Arrays of Independent Disks)</a:t>
            </a:r>
            <a:br>
              <a:rPr b="1"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
        <p:nvSpPr>
          <p:cNvPr id="363" name="Google Shape;363;p34"/>
          <p:cNvSpPr txBox="1"/>
          <p:nvPr>
            <p:ph idx="1" type="body"/>
          </p:nvPr>
        </p:nvSpPr>
        <p:spPr>
          <a:xfrm>
            <a:off x="1914297" y="1458685"/>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RAID is a technique that combines multiple hard drives or SSDs into a single system to improve performance, data safety or both. If one drive fails, data can still be recovered from the others.</a:t>
            </a:r>
            <a:endParaRPr/>
          </a:p>
          <a:p>
            <a:pPr indent="-342900" lvl="0" marL="342900" rtl="0" algn="l">
              <a:spcBef>
                <a:spcPts val="1000"/>
              </a:spcBef>
              <a:spcAft>
                <a:spcPts val="0"/>
              </a:spcAft>
              <a:buSzPts val="1800"/>
              <a:buChar char="🠶"/>
            </a:pPr>
            <a:r>
              <a:rPr lang="en-US"/>
              <a:t>In RAID (Redundant Array of Independent Disks), data is not stored on just one hard drive but is distributed across multiple drives.</a:t>
            </a:r>
            <a:endParaRPr/>
          </a:p>
          <a:p>
            <a:pPr indent="-342900" lvl="0" marL="342900" rtl="0" algn="l">
              <a:spcBef>
                <a:spcPts val="1000"/>
              </a:spcBef>
              <a:spcAft>
                <a:spcPts val="0"/>
              </a:spcAft>
              <a:buSzPts val="1800"/>
              <a:buChar char="🠶"/>
            </a:pPr>
            <a:r>
              <a:rPr lang="en-US"/>
              <a:t>The data is split into small blocks (like dividing a file into chunks). These blocks are written across multiple drives in parallel.</a:t>
            </a:r>
            <a:endParaRPr/>
          </a:p>
          <a:p>
            <a:pPr indent="0" lvl="0" marL="0" rtl="0" algn="l">
              <a:spcBef>
                <a:spcPts val="1000"/>
              </a:spcBef>
              <a:spcAft>
                <a:spcPts val="0"/>
              </a:spcAft>
              <a:buSzPts val="1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5"/>
          <p:cNvSpPr txBox="1"/>
          <p:nvPr>
            <p:ph type="title"/>
          </p:nvPr>
        </p:nvSpPr>
        <p:spPr>
          <a:xfrm>
            <a:off x="2592926" y="624110"/>
            <a:ext cx="4820246" cy="5406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800"/>
              <a:buFont typeface="Times New Roman"/>
              <a:buNone/>
            </a:pPr>
            <a:r>
              <a:rPr b="1" lang="en-US" sz="2800">
                <a:latin typeface="Times New Roman"/>
                <a:ea typeface="Times New Roman"/>
                <a:cs typeface="Times New Roman"/>
                <a:sym typeface="Times New Roman"/>
              </a:rPr>
              <a:t>What is a RAID Controller?</a:t>
            </a:r>
            <a:br>
              <a:rPr b="1"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
        <p:nvSpPr>
          <p:cNvPr id="369" name="Google Shape;369;p35"/>
          <p:cNvSpPr txBox="1"/>
          <p:nvPr>
            <p:ph idx="1" type="body"/>
          </p:nvPr>
        </p:nvSpPr>
        <p:spPr>
          <a:xfrm>
            <a:off x="2132012" y="1665514"/>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A RAID controller manages multiple hard drives, making them work together as one system. It helps improve speed and adds data protection by handling drive failures. Think of it as a smart manager that boosts performance and keeps your data safe.</a:t>
            </a:r>
            <a:endParaRPr/>
          </a:p>
          <a:p>
            <a:pPr indent="-342900" lvl="0" marL="342900" rtl="0" algn="l">
              <a:spcBef>
                <a:spcPts val="1000"/>
              </a:spcBef>
              <a:spcAft>
                <a:spcPts val="0"/>
              </a:spcAft>
              <a:buSzPts val="1800"/>
              <a:buChar char="🠶"/>
            </a:pPr>
            <a:br>
              <a:rPr lang="en-US"/>
            </a:br>
            <a:endParaRPr/>
          </a:p>
        </p:txBody>
      </p:sp>
      <p:pic>
        <p:nvPicPr>
          <p:cNvPr id="370" name="Google Shape;370;p35"/>
          <p:cNvPicPr preferRelativeResize="0"/>
          <p:nvPr/>
        </p:nvPicPr>
        <p:blipFill rotWithShape="1">
          <a:blip r:embed="rId3">
            <a:alphaModFix/>
          </a:blip>
          <a:srcRect b="0" l="0" r="0" t="0"/>
          <a:stretch/>
        </p:blipFill>
        <p:spPr>
          <a:xfrm>
            <a:off x="2132012" y="2979037"/>
            <a:ext cx="8059275" cy="353426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b="1" lang="en-US"/>
              <a:t>Why Data Redundancy?</a:t>
            </a:r>
            <a:br>
              <a:rPr b="1" lang="en-US"/>
            </a:br>
            <a:endParaRPr/>
          </a:p>
        </p:txBody>
      </p:sp>
      <p:sp>
        <p:nvSpPr>
          <p:cNvPr id="376" name="Google Shape;376;p36"/>
          <p:cNvSpPr txBox="1"/>
          <p:nvPr>
            <p:ph idx="1" type="body"/>
          </p:nvPr>
        </p:nvSpPr>
        <p:spPr>
          <a:xfrm>
            <a:off x="1706709" y="1904999"/>
            <a:ext cx="8915400" cy="481477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u="sng">
                <a:solidFill>
                  <a:schemeClr val="hlink"/>
                </a:solidFill>
                <a:hlinkClick r:id="rId3"/>
              </a:rPr>
              <a:t>Data redundancy</a:t>
            </a:r>
            <a:r>
              <a:rPr lang="en-US"/>
              <a:t>, although taking up extra space, adds to disk reliability. This means,</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That in case of disk failure, if the same data is also backed up onto another disk, we can retrieve the data and go on with the operation.</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On the other hand, if the data is spread across multiple disks without the RAID technique, the loss of a single disk can affect the entire data. </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7"/>
          <p:cNvSpPr txBox="1"/>
          <p:nvPr>
            <p:ph type="title"/>
          </p:nvPr>
        </p:nvSpPr>
        <p:spPr>
          <a:xfrm>
            <a:off x="2592925" y="624110"/>
            <a:ext cx="6444749" cy="630532"/>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b="1" lang="en-US"/>
              <a:t>Different RAID Levels</a:t>
            </a:r>
            <a:br>
              <a:rPr b="1" lang="en-US"/>
            </a:br>
            <a:endParaRPr/>
          </a:p>
        </p:txBody>
      </p:sp>
      <p:sp>
        <p:nvSpPr>
          <p:cNvPr id="382" name="Google Shape;382;p37"/>
          <p:cNvSpPr txBox="1"/>
          <p:nvPr>
            <p:ph idx="1" type="body"/>
          </p:nvPr>
        </p:nvSpPr>
        <p:spPr>
          <a:xfrm>
            <a:off x="1866198" y="1527544"/>
            <a:ext cx="8915400" cy="475629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RAID-0 (Stripping)  </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RAID-1 (Mirroring) </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RAID-2 (Bit-Level Stripping with Dedicated Parity)</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RAID-3 (Byte-Level Stripping with Dedicated Parity)</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RAID-4 (Block-Level Stripping with Dedicated Parity) </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RAID-5 (Block-Level Stripping with Distributed Parity)</a:t>
            </a:r>
            <a:endParaRPr/>
          </a:p>
          <a:p>
            <a:pPr indent="0" lvl="0" marL="0" rtl="0" algn="l">
              <a:spcBef>
                <a:spcPts val="1000"/>
              </a:spcBef>
              <a:spcAft>
                <a:spcPts val="0"/>
              </a:spcAft>
              <a:buSzPct val="100000"/>
              <a:buNone/>
            </a:pPr>
            <a:r>
              <a:rPr lang="en-US"/>
              <a:t> </a:t>
            </a:r>
            <a:endParaRPr/>
          </a:p>
          <a:p>
            <a:pPr indent="-342900" lvl="0" marL="342900" rtl="0" algn="l">
              <a:spcBef>
                <a:spcPts val="1000"/>
              </a:spcBef>
              <a:spcAft>
                <a:spcPts val="0"/>
              </a:spcAft>
              <a:buSzPct val="100000"/>
              <a:buChar char="🠶"/>
            </a:pPr>
            <a:r>
              <a:rPr lang="en-US"/>
              <a:t>RAID-6 (Block-Level Stripping with two Parity Bits)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8"/>
          <p:cNvSpPr txBox="1"/>
          <p:nvPr>
            <p:ph type="title"/>
          </p:nvPr>
        </p:nvSpPr>
        <p:spPr>
          <a:xfrm>
            <a:off x="2592926" y="624110"/>
            <a:ext cx="6232098" cy="534839"/>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Times New Roman"/>
              <a:buNone/>
            </a:pPr>
            <a:r>
              <a:rPr b="1" lang="en-US">
                <a:latin typeface="Times New Roman"/>
                <a:ea typeface="Times New Roman"/>
                <a:cs typeface="Times New Roman"/>
                <a:sym typeface="Times New Roman"/>
              </a:rPr>
              <a:t>1. RAID-0 (Stripping)</a:t>
            </a:r>
            <a:endParaRPr>
              <a:latin typeface="Times New Roman"/>
              <a:ea typeface="Times New Roman"/>
              <a:cs typeface="Times New Roman"/>
              <a:sym typeface="Times New Roman"/>
            </a:endParaRPr>
          </a:p>
        </p:txBody>
      </p:sp>
      <p:sp>
        <p:nvSpPr>
          <p:cNvPr id="388" name="Google Shape;388;p38"/>
          <p:cNvSpPr txBox="1"/>
          <p:nvPr>
            <p:ph idx="1" type="body"/>
          </p:nvPr>
        </p:nvSpPr>
        <p:spPr>
          <a:xfrm>
            <a:off x="1839433" y="1304261"/>
            <a:ext cx="9144184" cy="47775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br>
              <a:rPr b="1" lang="en-US"/>
            </a:br>
            <a:r>
              <a:rPr lang="en-US" sz="1600" u="sng">
                <a:solidFill>
                  <a:schemeClr val="hlink"/>
                </a:solidFill>
                <a:latin typeface="Times New Roman"/>
                <a:ea typeface="Times New Roman"/>
                <a:cs typeface="Times New Roman"/>
                <a:sym typeface="Times New Roman"/>
                <a:hlinkClick r:id="rId3"/>
              </a:rPr>
              <a:t>RAID-0 </a:t>
            </a:r>
            <a:r>
              <a:rPr lang="en-US" sz="1600">
                <a:latin typeface="Times New Roman"/>
                <a:ea typeface="Times New Roman"/>
                <a:cs typeface="Times New Roman"/>
                <a:sym typeface="Times New Roman"/>
              </a:rPr>
              <a:t>improves system performance by splitting data into smaller "blocks" and spreading them across multiple disks. This process is called "striping." It enhances data access speed by enabling parallel read/write operations but provides no redundancy or fault tolerance.</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p:txBody>
      </p:sp>
      <p:pic>
        <p:nvPicPr>
          <p:cNvPr id="389" name="Google Shape;389;p38"/>
          <p:cNvPicPr preferRelativeResize="0"/>
          <p:nvPr/>
        </p:nvPicPr>
        <p:blipFill rotWithShape="1">
          <a:blip r:embed="rId4">
            <a:alphaModFix/>
          </a:blip>
          <a:srcRect b="0" l="0" r="0" t="0"/>
          <a:stretch/>
        </p:blipFill>
        <p:spPr>
          <a:xfrm>
            <a:off x="2975726" y="2365799"/>
            <a:ext cx="4434109" cy="2345410"/>
          </a:xfrm>
          <a:prstGeom prst="rect">
            <a:avLst/>
          </a:prstGeom>
          <a:noFill/>
          <a:ln>
            <a:noFill/>
          </a:ln>
        </p:spPr>
      </p:pic>
      <p:sp>
        <p:nvSpPr>
          <p:cNvPr id="390" name="Google Shape;390;p38"/>
          <p:cNvSpPr/>
          <p:nvPr/>
        </p:nvSpPr>
        <p:spPr>
          <a:xfrm>
            <a:off x="1924493" y="4966636"/>
            <a:ext cx="8814389" cy="1200329"/>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A set of blocks distributed across the disks forms a "stripe." For instance, "0, 1, 2, 3" is one stripe.</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Instead of placing just one block into a disk at a time, we can work with two (or more) blocks placed into a disk before moving on to the next one. </a:t>
            </a:r>
            <a:endParaRPr b="0" i="0" sz="1800">
              <a:solidFill>
                <a:srgbClr val="273239"/>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9"/>
          <p:cNvSpPr txBox="1"/>
          <p:nvPr>
            <p:ph type="title"/>
          </p:nvPr>
        </p:nvSpPr>
        <p:spPr>
          <a:xfrm>
            <a:off x="2179675" y="624110"/>
            <a:ext cx="6018028" cy="50294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800"/>
              <a:buFont typeface="Times New Roman"/>
              <a:buNone/>
            </a:pPr>
            <a:r>
              <a:rPr b="1" lang="en-US" sz="2800">
                <a:latin typeface="Times New Roman"/>
                <a:ea typeface="Times New Roman"/>
                <a:cs typeface="Times New Roman"/>
                <a:sym typeface="Times New Roman"/>
              </a:rPr>
              <a:t>2. RAID-1 (Mirroring)</a:t>
            </a:r>
            <a:br>
              <a:rPr b="1"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
        <p:nvSpPr>
          <p:cNvPr id="396" name="Google Shape;396;p39"/>
          <p:cNvSpPr txBox="1"/>
          <p:nvPr>
            <p:ph idx="1" type="body"/>
          </p:nvPr>
        </p:nvSpPr>
        <p:spPr>
          <a:xfrm>
            <a:off x="1781137" y="1485014"/>
            <a:ext cx="9361783" cy="537298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sz="1600" u="sng">
                <a:solidFill>
                  <a:schemeClr val="hlink"/>
                </a:solidFill>
                <a:latin typeface="Times New Roman"/>
                <a:ea typeface="Times New Roman"/>
                <a:cs typeface="Times New Roman"/>
                <a:sym typeface="Times New Roman"/>
                <a:hlinkClick r:id="rId3"/>
              </a:rPr>
              <a:t>RAID-1 </a:t>
            </a:r>
            <a:r>
              <a:rPr lang="en-US" sz="1600">
                <a:latin typeface="Times New Roman"/>
                <a:ea typeface="Times New Roman"/>
                <a:cs typeface="Times New Roman"/>
                <a:sym typeface="Times New Roman"/>
              </a:rPr>
              <a:t>enhances reliability by creating an identical copy (mirror) of each data block on separate disks. This ensures that even if one disk fails, the data remains accessible from its duplicate. While this configuration is highly reliable, it requires significant storage overhead.</a:t>
            </a:r>
            <a:endParaRPr sz="1400">
              <a:latin typeface="Times New Roman"/>
              <a:ea typeface="Times New Roman"/>
              <a:cs typeface="Times New Roman"/>
              <a:sym typeface="Times New Roman"/>
            </a:endParaRPr>
          </a:p>
          <a:p>
            <a:pPr indent="-215900" lvl="0" marL="342900" rtl="0" algn="l">
              <a:spcBef>
                <a:spcPts val="1000"/>
              </a:spcBef>
              <a:spcAft>
                <a:spcPts val="0"/>
              </a:spcAft>
              <a:buSzPts val="2000"/>
              <a:buNone/>
            </a:pPr>
            <a:r>
              <a:t/>
            </a:r>
            <a:endParaRPr sz="2000"/>
          </a:p>
        </p:txBody>
      </p:sp>
      <p:pic>
        <p:nvPicPr>
          <p:cNvPr id="397" name="Google Shape;397;p39"/>
          <p:cNvPicPr preferRelativeResize="0"/>
          <p:nvPr/>
        </p:nvPicPr>
        <p:blipFill rotWithShape="1">
          <a:blip r:embed="rId4">
            <a:alphaModFix/>
          </a:blip>
          <a:srcRect b="0" l="0" r="0" t="0"/>
          <a:stretch/>
        </p:blipFill>
        <p:spPr>
          <a:xfrm>
            <a:off x="3689497" y="2402395"/>
            <a:ext cx="3189769" cy="1730340"/>
          </a:xfrm>
          <a:prstGeom prst="rect">
            <a:avLst/>
          </a:prstGeom>
          <a:noFill/>
          <a:ln>
            <a:noFill/>
          </a:ln>
        </p:spPr>
      </p:pic>
      <p:sp>
        <p:nvSpPr>
          <p:cNvPr id="398" name="Google Shape;398;p39"/>
          <p:cNvSpPr/>
          <p:nvPr/>
        </p:nvSpPr>
        <p:spPr>
          <a:xfrm>
            <a:off x="2106225" y="4464316"/>
            <a:ext cx="7750156"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273239"/>
                </a:solidFill>
                <a:latin typeface="Times New Roman"/>
                <a:ea typeface="Times New Roman"/>
                <a:cs typeface="Times New Roman"/>
                <a:sym typeface="Times New Roman"/>
              </a:rPr>
              <a:t>Mirroring:</a:t>
            </a:r>
            <a:r>
              <a:rPr lang="en-US" sz="1600">
                <a:solidFill>
                  <a:srgbClr val="273239"/>
                </a:solidFill>
                <a:latin typeface="Times New Roman"/>
                <a:ea typeface="Times New Roman"/>
                <a:cs typeface="Times New Roman"/>
                <a:sym typeface="Times New Roman"/>
              </a:rPr>
              <a:t> Each block of data is written to two (or more) disks.</a:t>
            </a:r>
            <a:br>
              <a:rPr lang="en-US" sz="1600">
                <a:solidFill>
                  <a:srgbClr val="273239"/>
                </a:solidFill>
                <a:latin typeface="Times New Roman"/>
                <a:ea typeface="Times New Roman"/>
                <a:cs typeface="Times New Roman"/>
                <a:sym typeface="Times New Roman"/>
              </a:rPr>
            </a:br>
            <a:br>
              <a:rPr lang="en-US" sz="1600">
                <a:solidFill>
                  <a:srgbClr val="273239"/>
                </a:solidFill>
                <a:latin typeface="Times New Roman"/>
                <a:ea typeface="Times New Roman"/>
                <a:cs typeface="Times New Roman"/>
                <a:sym typeface="Times New Roman"/>
              </a:rPr>
            </a:br>
            <a:r>
              <a:rPr b="1" lang="en-US" sz="1600">
                <a:solidFill>
                  <a:srgbClr val="273239"/>
                </a:solidFill>
                <a:latin typeface="Times New Roman"/>
                <a:ea typeface="Times New Roman"/>
                <a:cs typeface="Times New Roman"/>
                <a:sym typeface="Times New Roman"/>
              </a:rPr>
              <a:t>For example:</a:t>
            </a:r>
            <a:endParaRPr sz="1600">
              <a:solidFill>
                <a:srgbClr val="273239"/>
              </a:solidFill>
              <a:latin typeface="Times New Roman"/>
              <a:ea typeface="Times New Roman"/>
              <a:cs typeface="Times New Roman"/>
              <a:sym typeface="Times New Roman"/>
            </a:endParaRPr>
          </a:p>
          <a:p>
            <a:pPr indent="-101600" lvl="0" marL="0" marR="0" rtl="0" algn="l">
              <a:spcBef>
                <a:spcPts val="0"/>
              </a:spcBef>
              <a:spcAft>
                <a:spcPts val="0"/>
              </a:spcAft>
              <a:buClr>
                <a:srgbClr val="273239"/>
              </a:buClr>
              <a:buSzPts val="1600"/>
              <a:buFont typeface="Arial"/>
              <a:buChar char="•"/>
            </a:pPr>
            <a:r>
              <a:rPr lang="en-US" sz="1600">
                <a:solidFill>
                  <a:srgbClr val="273239"/>
                </a:solidFill>
                <a:latin typeface="Times New Roman"/>
                <a:ea typeface="Times New Roman"/>
                <a:cs typeface="Times New Roman"/>
                <a:sym typeface="Times New Roman"/>
              </a:rPr>
              <a:t>Block 0 is stored on Disk 0 and its duplicate on Disk 1.</a:t>
            </a:r>
            <a:endParaRPr/>
          </a:p>
          <a:p>
            <a:pPr indent="-101600" lvl="0" marL="0" marR="0" rtl="0" algn="l">
              <a:spcBef>
                <a:spcPts val="0"/>
              </a:spcBef>
              <a:spcAft>
                <a:spcPts val="0"/>
              </a:spcAft>
              <a:buClr>
                <a:srgbClr val="273239"/>
              </a:buClr>
              <a:buSzPts val="1600"/>
              <a:buFont typeface="Arial"/>
              <a:buChar char="•"/>
            </a:pPr>
            <a:r>
              <a:rPr lang="en-US" sz="1600">
                <a:solidFill>
                  <a:srgbClr val="273239"/>
                </a:solidFill>
                <a:latin typeface="Times New Roman"/>
                <a:ea typeface="Times New Roman"/>
                <a:cs typeface="Times New Roman"/>
                <a:sym typeface="Times New Roman"/>
              </a:rPr>
              <a:t>Block 1 is stored on Disk 2 and its duplicate on Disk 3.</a:t>
            </a:r>
            <a:endParaRPr/>
          </a:p>
          <a:p>
            <a:pPr indent="0" lvl="0" marL="0" marR="0" rtl="0" algn="l">
              <a:spcBef>
                <a:spcPts val="0"/>
              </a:spcBef>
              <a:spcAft>
                <a:spcPts val="0"/>
              </a:spcAft>
              <a:buNone/>
            </a:pPr>
            <a:r>
              <a:rPr b="1" lang="en-US" sz="1600">
                <a:solidFill>
                  <a:srgbClr val="273239"/>
                </a:solidFill>
                <a:latin typeface="Times New Roman"/>
                <a:ea typeface="Times New Roman"/>
                <a:cs typeface="Times New Roman"/>
                <a:sym typeface="Times New Roman"/>
              </a:rPr>
              <a:t>Mirroring Level 2:</a:t>
            </a:r>
            <a:r>
              <a:rPr lang="en-US" sz="1600">
                <a:solidFill>
                  <a:srgbClr val="273239"/>
                </a:solidFill>
                <a:latin typeface="Times New Roman"/>
                <a:ea typeface="Times New Roman"/>
                <a:cs typeface="Times New Roman"/>
                <a:sym typeface="Times New Roman"/>
              </a:rPr>
              <a:t> In the figure, "mirroring level 2" indicates that there are two copies of each block, distributed across different disks. RAID 0 was unable to tolerate any disk failure. But RAID 1 is capable of reliability. </a:t>
            </a:r>
            <a:endParaRPr b="0" i="0" sz="1600">
              <a:solidFill>
                <a:srgbClr val="273239"/>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0"/>
          <p:cNvSpPr txBox="1"/>
          <p:nvPr>
            <p:ph type="title"/>
          </p:nvPr>
        </p:nvSpPr>
        <p:spPr>
          <a:xfrm>
            <a:off x="1593464" y="124380"/>
            <a:ext cx="6210833" cy="54547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000"/>
              <a:buFont typeface="Times New Roman"/>
              <a:buNone/>
            </a:pPr>
            <a:r>
              <a:rPr b="1" lang="en-US" sz="2000">
                <a:latin typeface="Times New Roman"/>
                <a:ea typeface="Times New Roman"/>
                <a:cs typeface="Times New Roman"/>
                <a:sym typeface="Times New Roman"/>
              </a:rPr>
              <a:t>RAID-2 (Bit-Level Stripping with Dedicated Parity)</a:t>
            </a:r>
            <a:br>
              <a:rPr b="1"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
        <p:nvSpPr>
          <p:cNvPr id="404" name="Google Shape;404;p40"/>
          <p:cNvSpPr txBox="1"/>
          <p:nvPr>
            <p:ph idx="1" type="body"/>
          </p:nvPr>
        </p:nvSpPr>
        <p:spPr>
          <a:xfrm>
            <a:off x="1593464" y="839972"/>
            <a:ext cx="10186175" cy="560335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latin typeface="Times New Roman"/>
                <a:ea typeface="Times New Roman"/>
                <a:cs typeface="Times New Roman"/>
                <a:sym typeface="Times New Roman"/>
              </a:rPr>
              <a:t>RAID-2 is a specialized RAID level that uses bit-level striping combined with error correction using </a:t>
            </a:r>
            <a:r>
              <a:rPr lang="en-US" u="sng">
                <a:solidFill>
                  <a:schemeClr val="hlink"/>
                </a:solidFill>
                <a:latin typeface="Times New Roman"/>
                <a:ea typeface="Times New Roman"/>
                <a:cs typeface="Times New Roman"/>
                <a:sym typeface="Times New Roman"/>
                <a:hlinkClick r:id="rId3"/>
              </a:rPr>
              <a:t>Hamming Code</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342900" rtl="0" algn="l">
              <a:spcBef>
                <a:spcPts val="1000"/>
              </a:spcBef>
              <a:spcAft>
                <a:spcPts val="0"/>
              </a:spcAft>
              <a:buSzPts val="1800"/>
              <a:buChar char="🠶"/>
            </a:pPr>
            <a:r>
              <a:rPr lang="en-US">
                <a:latin typeface="Times New Roman"/>
                <a:ea typeface="Times New Roman"/>
                <a:cs typeface="Times New Roman"/>
                <a:sym typeface="Times New Roman"/>
              </a:rPr>
              <a:t>In this configuration, data is distributed at the bit level across multiple drives and a dedicated parity drive is used for error detection and correction. </a:t>
            </a:r>
            <a:endParaRPr>
              <a:latin typeface="Times New Roman"/>
              <a:ea typeface="Times New Roman"/>
              <a:cs typeface="Times New Roman"/>
              <a:sym typeface="Times New Roman"/>
            </a:endParaRPr>
          </a:p>
          <a:p>
            <a:pPr indent="-342900" lvl="0" marL="342900" rtl="0" algn="l">
              <a:spcBef>
                <a:spcPts val="1000"/>
              </a:spcBef>
              <a:spcAft>
                <a:spcPts val="0"/>
              </a:spcAft>
              <a:buSzPts val="1800"/>
              <a:buChar char="🠶"/>
            </a:pPr>
            <a:r>
              <a:rPr lang="en-US">
                <a:latin typeface="Times New Roman"/>
                <a:ea typeface="Times New Roman"/>
                <a:cs typeface="Times New Roman"/>
                <a:sym typeface="Times New Roman"/>
              </a:rPr>
              <a:t>While it offers strong fault tolerance, its complexity and cost make it rarely used in practice.</a:t>
            </a:r>
            <a:endParaRPr>
              <a:latin typeface="Times New Roman"/>
              <a:ea typeface="Times New Roman"/>
              <a:cs typeface="Times New Roman"/>
              <a:sym typeface="Times New Roman"/>
            </a:endParaRPr>
          </a:p>
        </p:txBody>
      </p:sp>
      <p:pic>
        <p:nvPicPr>
          <p:cNvPr id="405" name="Google Shape;405;p40"/>
          <p:cNvPicPr preferRelativeResize="0"/>
          <p:nvPr/>
        </p:nvPicPr>
        <p:blipFill rotWithShape="1">
          <a:blip r:embed="rId4">
            <a:alphaModFix/>
          </a:blip>
          <a:srcRect b="0" l="0" r="0" t="0"/>
          <a:stretch/>
        </p:blipFill>
        <p:spPr>
          <a:xfrm>
            <a:off x="3250712" y="3333763"/>
            <a:ext cx="4553585" cy="22057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1"/>
          <p:cNvSpPr txBox="1"/>
          <p:nvPr>
            <p:ph type="title"/>
          </p:nvPr>
        </p:nvSpPr>
        <p:spPr>
          <a:xfrm>
            <a:off x="1795483" y="209440"/>
            <a:ext cx="7497373" cy="5667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000"/>
              <a:buFont typeface="Times New Roman"/>
              <a:buNone/>
            </a:pPr>
            <a:r>
              <a:rPr b="1" lang="en-US" sz="2000">
                <a:latin typeface="Times New Roman"/>
                <a:ea typeface="Times New Roman"/>
                <a:cs typeface="Times New Roman"/>
                <a:sym typeface="Times New Roman"/>
              </a:rPr>
              <a:t>RAID-3 (Byte-Level Stripping with Dedicated Parity)</a:t>
            </a:r>
            <a:br>
              <a:rPr b="1"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
        <p:nvSpPr>
          <p:cNvPr id="411" name="Google Shape;411;p41"/>
          <p:cNvSpPr txBox="1"/>
          <p:nvPr>
            <p:ph idx="1" type="body"/>
          </p:nvPr>
        </p:nvSpPr>
        <p:spPr>
          <a:xfrm>
            <a:off x="1414130" y="985283"/>
            <a:ext cx="9388733"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sz="1600">
                <a:latin typeface="Times New Roman"/>
                <a:ea typeface="Times New Roman"/>
                <a:cs typeface="Times New Roman"/>
                <a:sym typeface="Times New Roman"/>
              </a:rPr>
              <a:t>RAID-3 enhances fault tolerance by employing byte-level striping across multiple drives and storing parity information on a dedicated parity drive.</a:t>
            </a:r>
            <a:endParaRPr/>
          </a:p>
          <a:p>
            <a:pPr indent="-342900" lvl="0" marL="342900" rtl="0" algn="l">
              <a:spcBef>
                <a:spcPts val="1000"/>
              </a:spcBef>
              <a:spcAft>
                <a:spcPts val="0"/>
              </a:spcAft>
              <a:buSzPts val="1600"/>
              <a:buChar char="🠶"/>
            </a:pPr>
            <a:r>
              <a:rPr lang="en-US" sz="1600">
                <a:latin typeface="Times New Roman"/>
                <a:ea typeface="Times New Roman"/>
                <a:cs typeface="Times New Roman"/>
                <a:sym typeface="Times New Roman"/>
              </a:rPr>
              <a:t> The dedicated parity drive allows for the reconstruction of lost data if a single drive fails. </a:t>
            </a:r>
            <a:endParaRPr sz="1600">
              <a:latin typeface="Times New Roman"/>
              <a:ea typeface="Times New Roman"/>
              <a:cs typeface="Times New Roman"/>
              <a:sym typeface="Times New Roman"/>
            </a:endParaRPr>
          </a:p>
          <a:p>
            <a:pPr indent="-342900" lvl="0" marL="342900" rtl="0" algn="l">
              <a:spcBef>
                <a:spcPts val="1000"/>
              </a:spcBef>
              <a:spcAft>
                <a:spcPts val="0"/>
              </a:spcAft>
              <a:buSzPts val="1600"/>
              <a:buChar char="🠶"/>
            </a:pPr>
            <a:r>
              <a:rPr lang="en-US" sz="1600">
                <a:latin typeface="Times New Roman"/>
                <a:ea typeface="Times New Roman"/>
                <a:cs typeface="Times New Roman"/>
                <a:sym typeface="Times New Roman"/>
              </a:rPr>
              <a:t>This configuration is suitable for workloads requiring high throughput for sequential data but is less efficient for random I/O operations.</a:t>
            </a:r>
            <a:endParaRPr sz="1600">
              <a:latin typeface="Times New Roman"/>
              <a:ea typeface="Times New Roman"/>
              <a:cs typeface="Times New Roman"/>
              <a:sym typeface="Times New Roman"/>
            </a:endParaRPr>
          </a:p>
        </p:txBody>
      </p:sp>
      <p:pic>
        <p:nvPicPr>
          <p:cNvPr id="412" name="Google Shape;412;p41"/>
          <p:cNvPicPr preferRelativeResize="0"/>
          <p:nvPr/>
        </p:nvPicPr>
        <p:blipFill rotWithShape="1">
          <a:blip r:embed="rId3">
            <a:alphaModFix/>
          </a:blip>
          <a:srcRect b="0" l="0" r="0" t="0"/>
          <a:stretch/>
        </p:blipFill>
        <p:spPr>
          <a:xfrm>
            <a:off x="3760322" y="2515113"/>
            <a:ext cx="4018125" cy="2099417"/>
          </a:xfrm>
          <a:prstGeom prst="rect">
            <a:avLst/>
          </a:prstGeom>
          <a:noFill/>
          <a:ln>
            <a:noFill/>
          </a:ln>
        </p:spPr>
      </p:pic>
      <p:sp>
        <p:nvSpPr>
          <p:cNvPr id="413" name="Google Shape;413;p41"/>
          <p:cNvSpPr/>
          <p:nvPr/>
        </p:nvSpPr>
        <p:spPr>
          <a:xfrm>
            <a:off x="1974112" y="5083491"/>
            <a:ext cx="6096000" cy="646331"/>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Here Disk 3 contains the Parity bits for Disk 0, Disk 1 and  Disk 2. If data loss occurs, we can construct it with Disk 3.</a:t>
            </a:r>
            <a:endParaRPr b="0" i="0" sz="1800">
              <a:solidFill>
                <a:srgbClr val="273239"/>
              </a:solidFill>
              <a:latin typeface="Nunito"/>
              <a:ea typeface="Nunito"/>
              <a:cs typeface="Nunito"/>
              <a:sym typeface="Nuni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type="title"/>
          </p:nvPr>
        </p:nvSpPr>
        <p:spPr>
          <a:xfrm>
            <a:off x="2009553" y="209441"/>
            <a:ext cx="6337005" cy="57736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262626"/>
              </a:buClr>
              <a:buSzPts val="2000"/>
              <a:buFont typeface="Times New Roman"/>
              <a:buNone/>
            </a:pPr>
            <a:r>
              <a:rPr b="1" lang="en-US" sz="2000">
                <a:latin typeface="Times New Roman"/>
                <a:ea typeface="Times New Roman"/>
                <a:cs typeface="Times New Roman"/>
                <a:sym typeface="Times New Roman"/>
              </a:rPr>
              <a:t>RAID-4 (Block-Level Stripping with Dedicated Parity)</a:t>
            </a:r>
            <a:br>
              <a:rPr b="1"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
        <p:nvSpPr>
          <p:cNvPr id="419" name="Google Shape;419;p42"/>
          <p:cNvSpPr txBox="1"/>
          <p:nvPr>
            <p:ph idx="1" type="body"/>
          </p:nvPr>
        </p:nvSpPr>
        <p:spPr>
          <a:xfrm>
            <a:off x="1727975" y="974651"/>
            <a:ext cx="8915400" cy="46499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sz="1600">
                <a:latin typeface="Times New Roman"/>
                <a:ea typeface="Times New Roman"/>
                <a:cs typeface="Times New Roman"/>
                <a:sym typeface="Times New Roman"/>
              </a:rPr>
              <a:t>RAID-4 introduces block-level striping across multiple disks, combined with a dedicated parity disk to provide fault tolerance. </a:t>
            </a:r>
            <a:endParaRPr sz="1600">
              <a:latin typeface="Times New Roman"/>
              <a:ea typeface="Times New Roman"/>
              <a:cs typeface="Times New Roman"/>
              <a:sym typeface="Times New Roman"/>
            </a:endParaRPr>
          </a:p>
          <a:p>
            <a:pPr indent="-342900" lvl="0" marL="342900" rtl="0" algn="l">
              <a:spcBef>
                <a:spcPts val="1000"/>
              </a:spcBef>
              <a:spcAft>
                <a:spcPts val="0"/>
              </a:spcAft>
              <a:buSzPts val="1600"/>
              <a:buChar char="🠶"/>
            </a:pPr>
            <a:r>
              <a:rPr lang="en-US" sz="1600">
                <a:latin typeface="Times New Roman"/>
                <a:ea typeface="Times New Roman"/>
                <a:cs typeface="Times New Roman"/>
                <a:sym typeface="Times New Roman"/>
              </a:rPr>
              <a:t>Data is written in blocks and a separate disk stores parity information calculated using the XOR function. </a:t>
            </a:r>
            <a:endParaRPr sz="1600">
              <a:latin typeface="Times New Roman"/>
              <a:ea typeface="Times New Roman"/>
              <a:cs typeface="Times New Roman"/>
              <a:sym typeface="Times New Roman"/>
            </a:endParaRPr>
          </a:p>
          <a:p>
            <a:pPr indent="-342900" lvl="0" marL="342900" rtl="0" algn="l">
              <a:spcBef>
                <a:spcPts val="1000"/>
              </a:spcBef>
              <a:spcAft>
                <a:spcPts val="0"/>
              </a:spcAft>
              <a:buSzPts val="1600"/>
              <a:buChar char="🠶"/>
            </a:pPr>
            <a:r>
              <a:rPr lang="en-US" sz="1600">
                <a:latin typeface="Times New Roman"/>
                <a:ea typeface="Times New Roman"/>
                <a:cs typeface="Times New Roman"/>
                <a:sym typeface="Times New Roman"/>
              </a:rPr>
              <a:t>This setup allows for data recovery in case of a single disk failure, making RAID-4 more reliable than RAID-0 but less efficient in write-intensive scenarios due to reliance on a dedicated parity disk.</a:t>
            </a:r>
            <a:endParaRPr/>
          </a:p>
          <a:p>
            <a:pPr indent="-342900" lvl="0" marL="342900" rtl="0" algn="l">
              <a:spcBef>
                <a:spcPts val="1000"/>
              </a:spcBef>
              <a:spcAft>
                <a:spcPts val="0"/>
              </a:spcAft>
              <a:buSzPts val="1600"/>
              <a:buChar char="🠶"/>
            </a:pP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p:txBody>
      </p:sp>
      <p:pic>
        <p:nvPicPr>
          <p:cNvPr id="420" name="Google Shape;420;p42"/>
          <p:cNvPicPr preferRelativeResize="0"/>
          <p:nvPr/>
        </p:nvPicPr>
        <p:blipFill rotWithShape="1">
          <a:blip r:embed="rId3">
            <a:alphaModFix/>
          </a:blip>
          <a:srcRect b="0" l="0" r="0" t="0"/>
          <a:stretch/>
        </p:blipFill>
        <p:spPr>
          <a:xfrm>
            <a:off x="2732567" y="2767163"/>
            <a:ext cx="4652505" cy="2049386"/>
          </a:xfrm>
          <a:prstGeom prst="rect">
            <a:avLst/>
          </a:prstGeom>
          <a:noFill/>
          <a:ln>
            <a:noFill/>
          </a:ln>
        </p:spPr>
      </p:pic>
      <p:sp>
        <p:nvSpPr>
          <p:cNvPr id="421" name="Google Shape;421;p42"/>
          <p:cNvSpPr/>
          <p:nvPr/>
        </p:nvSpPr>
        <p:spPr>
          <a:xfrm>
            <a:off x="1814622" y="4816549"/>
            <a:ext cx="8371368" cy="2369880"/>
          </a:xfrm>
          <a:prstGeom prst="rect">
            <a:avLst/>
          </a:prstGeom>
          <a:noFill/>
          <a:ln>
            <a:noFill/>
          </a:ln>
        </p:spPr>
        <p:txBody>
          <a:bodyPr anchorCtr="0" anchor="t" bIns="45700" lIns="91425" spcFirstLastPara="1" rIns="91425" wrap="square" tIns="45700">
            <a:spAutoFit/>
          </a:bodyPr>
          <a:lstStyle/>
          <a:p>
            <a:pPr indent="-101600" lvl="0" marL="0" marR="0" rtl="0" algn="l">
              <a:spcBef>
                <a:spcPts val="0"/>
              </a:spcBef>
              <a:spcAft>
                <a:spcPts val="0"/>
              </a:spcAft>
              <a:buClr>
                <a:srgbClr val="273239"/>
              </a:buClr>
              <a:buSzPts val="1600"/>
              <a:buFont typeface="Arial"/>
              <a:buChar char="•"/>
            </a:pPr>
            <a:r>
              <a:rPr lang="en-US" sz="1600">
                <a:solidFill>
                  <a:srgbClr val="273239"/>
                </a:solidFill>
                <a:latin typeface="Times New Roman"/>
                <a:ea typeface="Times New Roman"/>
                <a:cs typeface="Times New Roman"/>
                <a:sym typeface="Times New Roman"/>
              </a:rPr>
              <a:t>In the figure, we can observe one column (disk) dedicated to parity. </a:t>
            </a:r>
            <a:endParaRPr sz="1600">
              <a:solidFill>
                <a:srgbClr val="273239"/>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600">
              <a:solidFill>
                <a:srgbClr val="273239"/>
              </a:solidFill>
              <a:latin typeface="Times New Roman"/>
              <a:ea typeface="Times New Roman"/>
              <a:cs typeface="Times New Roman"/>
              <a:sym typeface="Times New Roman"/>
            </a:endParaRPr>
          </a:p>
          <a:p>
            <a:pPr indent="-101600" lvl="0" marL="0" marR="0" rtl="0" algn="l">
              <a:spcBef>
                <a:spcPts val="0"/>
              </a:spcBef>
              <a:spcAft>
                <a:spcPts val="0"/>
              </a:spcAft>
              <a:buClr>
                <a:srgbClr val="273239"/>
              </a:buClr>
              <a:buSzPts val="1600"/>
              <a:buFont typeface="Arial"/>
              <a:buChar char="•"/>
            </a:pPr>
            <a:r>
              <a:rPr lang="en-US" sz="1600">
                <a:solidFill>
                  <a:srgbClr val="273239"/>
                </a:solidFill>
                <a:latin typeface="Times New Roman"/>
                <a:ea typeface="Times New Roman"/>
                <a:cs typeface="Times New Roman"/>
                <a:sym typeface="Times New Roman"/>
              </a:rPr>
              <a:t>Parity is calculated using a simple XOR function. If the data bits are 0,0,0,1 the parity bit is XOR(0,0,0,1) = 1. If the data bits are 0,1,1,0 the parity bit is XOR(0,1,1,0) = 0. </a:t>
            </a:r>
            <a:endParaRPr sz="1600">
              <a:solidFill>
                <a:srgbClr val="273239"/>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600">
              <a:solidFill>
                <a:srgbClr val="273239"/>
              </a:solidFill>
              <a:latin typeface="Times New Roman"/>
              <a:ea typeface="Times New Roman"/>
              <a:cs typeface="Times New Roman"/>
              <a:sym typeface="Times New Roman"/>
            </a:endParaRPr>
          </a:p>
          <a:p>
            <a:pPr indent="-101600" lvl="0" marL="0" marR="0" rtl="0" algn="l">
              <a:spcBef>
                <a:spcPts val="0"/>
              </a:spcBef>
              <a:spcAft>
                <a:spcPts val="0"/>
              </a:spcAft>
              <a:buClr>
                <a:srgbClr val="273239"/>
              </a:buClr>
              <a:buSzPts val="1600"/>
              <a:buFont typeface="Arial"/>
              <a:buChar char="•"/>
            </a:pPr>
            <a:r>
              <a:rPr lang="en-US" sz="1600">
                <a:solidFill>
                  <a:srgbClr val="273239"/>
                </a:solidFill>
                <a:latin typeface="Times New Roman"/>
                <a:ea typeface="Times New Roman"/>
                <a:cs typeface="Times New Roman"/>
                <a:sym typeface="Times New Roman"/>
              </a:rPr>
              <a:t>A simple approach is that an even number of ones results in parity 0 and an odd number of ones results in parity 1. </a:t>
            </a:r>
            <a:endParaRPr sz="1800">
              <a:solidFill>
                <a:srgbClr val="273239"/>
              </a:solidFill>
              <a:latin typeface="Times New Roman"/>
              <a:ea typeface="Times New Roman"/>
              <a:cs typeface="Times New Roman"/>
              <a:sym typeface="Times New Roman"/>
            </a:endParaRPr>
          </a:p>
          <a:p>
            <a:pPr indent="0" lvl="0" marL="0" marR="0" rtl="0" algn="l">
              <a:spcBef>
                <a:spcPts val="0"/>
              </a:spcBef>
              <a:spcAft>
                <a:spcPts val="0"/>
              </a:spcAft>
              <a:buNone/>
            </a:pPr>
            <a:br>
              <a:rPr lang="en-US" sz="1800">
                <a:solidFill>
                  <a:schemeClr val="dk1"/>
                </a:solidFill>
                <a:latin typeface="Century Gothic"/>
                <a:ea typeface="Century Gothic"/>
                <a:cs typeface="Century Gothic"/>
                <a:sym typeface="Century Gothic"/>
              </a:rPr>
            </a:b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43"/>
          <p:cNvPicPr preferRelativeResize="0"/>
          <p:nvPr/>
        </p:nvPicPr>
        <p:blipFill rotWithShape="1">
          <a:blip r:embed="rId3">
            <a:alphaModFix/>
          </a:blip>
          <a:srcRect b="0" l="0" r="0" t="0"/>
          <a:stretch/>
        </p:blipFill>
        <p:spPr>
          <a:xfrm>
            <a:off x="2128531" y="854010"/>
            <a:ext cx="7573432" cy="1981477"/>
          </a:xfrm>
          <a:prstGeom prst="rect">
            <a:avLst/>
          </a:prstGeom>
          <a:noFill/>
          <a:ln>
            <a:noFill/>
          </a:ln>
        </p:spPr>
      </p:pic>
      <p:sp>
        <p:nvSpPr>
          <p:cNvPr id="427" name="Google Shape;427;p43"/>
          <p:cNvSpPr/>
          <p:nvPr/>
        </p:nvSpPr>
        <p:spPr>
          <a:xfrm>
            <a:off x="2388781" y="3307301"/>
            <a:ext cx="6287386" cy="1754326"/>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Assume that in the above figure, C3 is lost due to some disk failure.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Then, we can recompute the data bit stored in C3 by looking at the values of all the other columns and the parity bit. </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This allows us to recover lost data. </a:t>
            </a:r>
            <a:endParaRPr b="0" i="0" sz="1800">
              <a:solidFill>
                <a:srgbClr val="273239"/>
              </a:solidFill>
              <a:latin typeface="Nunito"/>
              <a:ea typeface="Nunito"/>
              <a:cs typeface="Nunito"/>
              <a:sym typeface="Nuni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4"/>
          <p:cNvSpPr txBox="1"/>
          <p:nvPr>
            <p:ph type="title"/>
          </p:nvPr>
        </p:nvSpPr>
        <p:spPr>
          <a:xfrm>
            <a:off x="2592926" y="624110"/>
            <a:ext cx="5764266" cy="56673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Times New Roman"/>
              <a:buNone/>
            </a:pPr>
            <a:r>
              <a:rPr b="1" lang="en-US" sz="2000">
                <a:latin typeface="Times New Roman"/>
                <a:ea typeface="Times New Roman"/>
                <a:cs typeface="Times New Roman"/>
                <a:sym typeface="Times New Roman"/>
              </a:rPr>
              <a:t>RAID-5 (Block-Level Stripping with Distributed Parity)</a:t>
            </a:r>
            <a:br>
              <a:rPr b="1"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
        <p:nvSpPr>
          <p:cNvPr id="433" name="Google Shape;433;p44"/>
          <p:cNvSpPr txBox="1"/>
          <p:nvPr>
            <p:ph idx="1" type="body"/>
          </p:nvPr>
        </p:nvSpPr>
        <p:spPr>
          <a:xfrm>
            <a:off x="1961890" y="1442483"/>
            <a:ext cx="9393681"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latin typeface="Times New Roman"/>
                <a:ea typeface="Times New Roman"/>
                <a:cs typeface="Times New Roman"/>
                <a:sym typeface="Times New Roman"/>
              </a:rPr>
              <a:t>RAID-5 builds on RAID-4 by distributing parity information across all disks instead of storing it on a dedicated parity drive. This distributed parity significantly improves write performance, especially for random write operations, while maintaining fault tolerance for single disk failures. RAID-5 is one of the most commonly used RAID configurations due to its balance between reliability, performance and storage efficiency</a:t>
            </a:r>
            <a:endParaRPr>
              <a:latin typeface="Times New Roman"/>
              <a:ea typeface="Times New Roman"/>
              <a:cs typeface="Times New Roman"/>
              <a:sym typeface="Times New Roman"/>
            </a:endParaRPr>
          </a:p>
        </p:txBody>
      </p:sp>
      <p:pic>
        <p:nvPicPr>
          <p:cNvPr id="434" name="Google Shape;434;p44"/>
          <p:cNvPicPr preferRelativeResize="0"/>
          <p:nvPr/>
        </p:nvPicPr>
        <p:blipFill rotWithShape="1">
          <a:blip r:embed="rId3">
            <a:alphaModFix/>
          </a:blip>
          <a:srcRect b="0" l="0" r="0" t="0"/>
          <a:stretch/>
        </p:blipFill>
        <p:spPr>
          <a:xfrm>
            <a:off x="3202849" y="2929874"/>
            <a:ext cx="4730138" cy="246083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5"/>
          <p:cNvSpPr/>
          <p:nvPr/>
        </p:nvSpPr>
        <p:spPr>
          <a:xfrm>
            <a:off x="1616149" y="1210477"/>
            <a:ext cx="9431079"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273239"/>
                </a:solidFill>
                <a:latin typeface="Nunito"/>
                <a:ea typeface="Nunito"/>
                <a:cs typeface="Nunito"/>
                <a:sym typeface="Nunito"/>
              </a:rPr>
              <a:t>Block-Level Striping:</a:t>
            </a:r>
            <a:r>
              <a:rPr lang="en-US" sz="1800">
                <a:solidFill>
                  <a:srgbClr val="273239"/>
                </a:solidFill>
                <a:latin typeface="Nunito"/>
                <a:ea typeface="Nunito"/>
                <a:cs typeface="Nunito"/>
                <a:sym typeface="Nunito"/>
              </a:rPr>
              <a:t> Data is divided into blocks and striped across all drives in the array.</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rPr b="1" lang="en-US" sz="1800">
                <a:solidFill>
                  <a:srgbClr val="273239"/>
                </a:solidFill>
                <a:latin typeface="Nunito"/>
                <a:ea typeface="Nunito"/>
                <a:cs typeface="Nunito"/>
                <a:sym typeface="Nunito"/>
              </a:rPr>
              <a:t>Distributed Parity:</a:t>
            </a:r>
            <a:r>
              <a:rPr lang="en-US" sz="1800">
                <a:solidFill>
                  <a:srgbClr val="273239"/>
                </a:solidFill>
                <a:latin typeface="Nunito"/>
                <a:ea typeface="Nunito"/>
                <a:cs typeface="Nunito"/>
                <a:sym typeface="Nunito"/>
              </a:rPr>
              <a:t> Parity bits, calculated using the XOR function, are distributed across all drives in a rotating pattern.</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rPr b="1" lang="en-US" sz="1800">
                <a:solidFill>
                  <a:srgbClr val="273239"/>
                </a:solidFill>
                <a:latin typeface="Nunito"/>
                <a:ea typeface="Nunito"/>
                <a:cs typeface="Nunito"/>
                <a:sym typeface="Nunito"/>
              </a:rPr>
              <a:t>Example:</a:t>
            </a:r>
            <a:endParaRPr sz="1800">
              <a:solidFill>
                <a:srgbClr val="273239"/>
              </a:solidFill>
              <a:latin typeface="Nunito"/>
              <a:ea typeface="Nunito"/>
              <a:cs typeface="Nunito"/>
              <a:sym typeface="Nunito"/>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Disk 0: Data (D1, D2), Parity (P1)</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Disk 1: Data (D3, D4), Parity (P2)</a:t>
            </a:r>
            <a:endParaRPr/>
          </a:p>
          <a:p>
            <a:pPr indent="-114300" lvl="0" marL="0" marR="0" rtl="0" algn="l">
              <a:spcBef>
                <a:spcPts val="0"/>
              </a:spcBef>
              <a:spcAft>
                <a:spcPts val="0"/>
              </a:spcAft>
              <a:buClr>
                <a:srgbClr val="273239"/>
              </a:buClr>
              <a:buSzPts val="1800"/>
              <a:buFont typeface="Arial"/>
              <a:buChar char="•"/>
            </a:pPr>
            <a:r>
              <a:rPr lang="en-US" sz="1800">
                <a:solidFill>
                  <a:srgbClr val="273239"/>
                </a:solidFill>
                <a:latin typeface="Nunito"/>
                <a:ea typeface="Nunito"/>
                <a:cs typeface="Nunito"/>
                <a:sym typeface="Nunito"/>
              </a:rPr>
              <a:t>Disk 2: Data (D5, D6), Parity (P3)</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rPr b="1" lang="en-US" sz="1800">
                <a:solidFill>
                  <a:srgbClr val="273239"/>
                </a:solidFill>
                <a:latin typeface="Nunito"/>
                <a:ea typeface="Nunito"/>
                <a:cs typeface="Nunito"/>
                <a:sym typeface="Nunito"/>
              </a:rPr>
              <a:t>Data Recovery:</a:t>
            </a:r>
            <a:r>
              <a:rPr lang="en-US" sz="1800">
                <a:solidFill>
                  <a:srgbClr val="273239"/>
                </a:solidFill>
                <a:latin typeface="Nunito"/>
                <a:ea typeface="Nunito"/>
                <a:cs typeface="Nunito"/>
                <a:sym typeface="Nunito"/>
              </a:rPr>
              <a:t> In case of a single disk failure, the missing data can be reconstructed by XOR-ing the remaining data blocks and parity information</a:t>
            </a:r>
            <a:endParaRPr b="0" i="0" sz="1800">
              <a:solidFill>
                <a:srgbClr val="273239"/>
              </a:solidFill>
              <a:latin typeface="Nunito"/>
              <a:ea typeface="Nunito"/>
              <a:cs typeface="Nunito"/>
              <a:sym typeface="Nuni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6"/>
          <p:cNvSpPr/>
          <p:nvPr/>
        </p:nvSpPr>
        <p:spPr>
          <a:xfrm>
            <a:off x="1579220" y="426706"/>
            <a:ext cx="57374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273239"/>
                </a:solidFill>
                <a:latin typeface="Nunito"/>
                <a:ea typeface="Nunito"/>
                <a:cs typeface="Nunito"/>
                <a:sym typeface="Nunito"/>
              </a:rPr>
              <a:t>RAID-6 (Block-Level Stripping with two Parity Bits)</a:t>
            </a:r>
            <a:endParaRPr b="1" i="0" sz="1800">
              <a:solidFill>
                <a:srgbClr val="273239"/>
              </a:solidFill>
              <a:latin typeface="Nunito"/>
              <a:ea typeface="Nunito"/>
              <a:cs typeface="Nunito"/>
              <a:sym typeface="Nunito"/>
            </a:endParaRPr>
          </a:p>
        </p:txBody>
      </p:sp>
      <p:sp>
        <p:nvSpPr>
          <p:cNvPr id="445" name="Google Shape;445;p46"/>
          <p:cNvSpPr/>
          <p:nvPr/>
        </p:nvSpPr>
        <p:spPr>
          <a:xfrm>
            <a:off x="1357423" y="982821"/>
            <a:ext cx="10327759"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RAID-6 is an advanced version of RAID-5 that provides enhanced fault tolerance by introducing double distributed parity. </a:t>
            </a:r>
            <a:endParaRPr sz="1800">
              <a:solidFill>
                <a:srgbClr val="273239"/>
              </a:solidFill>
              <a:latin typeface="Times New Roman"/>
              <a:ea typeface="Times New Roman"/>
              <a:cs typeface="Times New Roman"/>
              <a:sym typeface="Times New Roman"/>
            </a:endParaRPr>
          </a:p>
          <a:p>
            <a:pPr indent="-285750" lvl="0" marL="285750" marR="0" rtl="0" algn="l">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This allows RAID-6 to recover from the failure of up to two disks simultaneously, making it more reliable for critical systems with larger arrays. </a:t>
            </a:r>
            <a:endParaRPr sz="1800">
              <a:solidFill>
                <a:srgbClr val="273239"/>
              </a:solidFill>
              <a:latin typeface="Times New Roman"/>
              <a:ea typeface="Times New Roman"/>
              <a:cs typeface="Times New Roman"/>
              <a:sym typeface="Times New Roman"/>
            </a:endParaRPr>
          </a:p>
          <a:p>
            <a:pPr indent="-285750" lvl="0" marL="285750" marR="0" rtl="0" algn="l">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However, the added parity calculations can impact write performance.</a:t>
            </a:r>
            <a:endParaRPr sz="1800">
              <a:solidFill>
                <a:schemeClr val="dk1"/>
              </a:solidFill>
              <a:latin typeface="Times New Roman"/>
              <a:ea typeface="Times New Roman"/>
              <a:cs typeface="Times New Roman"/>
              <a:sym typeface="Times New Roman"/>
            </a:endParaRPr>
          </a:p>
        </p:txBody>
      </p:sp>
      <p:pic>
        <p:nvPicPr>
          <p:cNvPr id="446" name="Google Shape;446;p46"/>
          <p:cNvPicPr preferRelativeResize="0"/>
          <p:nvPr/>
        </p:nvPicPr>
        <p:blipFill rotWithShape="1">
          <a:blip r:embed="rId3">
            <a:alphaModFix/>
          </a:blip>
          <a:srcRect b="0" l="0" r="0" t="0"/>
          <a:stretch/>
        </p:blipFill>
        <p:spPr>
          <a:xfrm>
            <a:off x="2573078" y="2772649"/>
            <a:ext cx="4635796" cy="2232715"/>
          </a:xfrm>
          <a:prstGeom prst="rect">
            <a:avLst/>
          </a:prstGeom>
          <a:noFill/>
          <a:ln>
            <a:noFill/>
          </a:ln>
        </p:spPr>
      </p:pic>
      <p:sp>
        <p:nvSpPr>
          <p:cNvPr id="447" name="Google Shape;447;p46"/>
          <p:cNvSpPr/>
          <p:nvPr/>
        </p:nvSpPr>
        <p:spPr>
          <a:xfrm>
            <a:off x="1357423" y="5235252"/>
            <a:ext cx="9491331"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273239"/>
                </a:solidFill>
                <a:latin typeface="Nunito"/>
                <a:ea typeface="Nunito"/>
                <a:cs typeface="Nunito"/>
                <a:sym typeface="Nunito"/>
              </a:rPr>
              <a:t>Block-Level Striping:</a:t>
            </a:r>
            <a:r>
              <a:rPr lang="en-US" sz="1800">
                <a:solidFill>
                  <a:srgbClr val="273239"/>
                </a:solidFill>
                <a:latin typeface="Nunito"/>
                <a:ea typeface="Nunito"/>
                <a:cs typeface="Nunito"/>
                <a:sym typeface="Nunito"/>
              </a:rPr>
              <a:t> Data is divided into blocks and striped across all disks in the array.</a:t>
            </a:r>
            <a:endParaRPr/>
          </a:p>
          <a:p>
            <a:pPr indent="0" lvl="0" marL="0" marR="0" rtl="0" algn="l">
              <a:spcBef>
                <a:spcPts val="0"/>
              </a:spcBef>
              <a:spcAft>
                <a:spcPts val="0"/>
              </a:spcAft>
              <a:buNone/>
            </a:pPr>
            <a:r>
              <a:t/>
            </a:r>
            <a:endParaRPr sz="1800">
              <a:solidFill>
                <a:srgbClr val="273239"/>
              </a:solidFill>
              <a:latin typeface="Nunito"/>
              <a:ea typeface="Nunito"/>
              <a:cs typeface="Nunito"/>
              <a:sym typeface="Nunito"/>
            </a:endParaRPr>
          </a:p>
          <a:p>
            <a:pPr indent="0" lvl="0" marL="0" marR="0" rtl="0" algn="l">
              <a:spcBef>
                <a:spcPts val="0"/>
              </a:spcBef>
              <a:spcAft>
                <a:spcPts val="0"/>
              </a:spcAft>
              <a:buNone/>
            </a:pPr>
            <a:r>
              <a:rPr b="1" lang="en-US" sz="1800">
                <a:solidFill>
                  <a:srgbClr val="273239"/>
                </a:solidFill>
                <a:latin typeface="Nunito"/>
                <a:ea typeface="Nunito"/>
                <a:cs typeface="Nunito"/>
                <a:sym typeface="Nunito"/>
              </a:rPr>
              <a:t>Double Distributed Parity:</a:t>
            </a:r>
            <a:r>
              <a:rPr lang="en-US" sz="1800">
                <a:solidFill>
                  <a:srgbClr val="273239"/>
                </a:solidFill>
                <a:latin typeface="Nunito"/>
                <a:ea typeface="Nunito"/>
                <a:cs typeface="Nunito"/>
                <a:sym typeface="Nunito"/>
              </a:rPr>
              <a:t> Two sets of parity information are calculated for every block and distributed across all disks in the array in a rotating pattern.</a:t>
            </a:r>
            <a:endParaRPr/>
          </a:p>
          <a:p>
            <a:pPr indent="0" lvl="0" marL="0" marR="0" rtl="0" algn="l">
              <a:spcBef>
                <a:spcPts val="0"/>
              </a:spcBef>
              <a:spcAft>
                <a:spcPts val="0"/>
              </a:spcAft>
              <a:buNone/>
            </a:pPr>
            <a:r>
              <a:t/>
            </a:r>
            <a:endParaRPr b="0" i="0" sz="1800">
              <a:solidFill>
                <a:srgbClr val="273239"/>
              </a:solidFill>
              <a:latin typeface="Nunito"/>
              <a:ea typeface="Nunito"/>
              <a:cs typeface="Nunito"/>
              <a:sym typeface="Nuni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7"/>
          <p:cNvSpPr txBox="1"/>
          <p:nvPr>
            <p:ph idx="1" type="body"/>
          </p:nvPr>
        </p:nvSpPr>
        <p:spPr>
          <a:xfrm>
            <a:off x="1871330" y="595423"/>
            <a:ext cx="8261498" cy="600739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solidFill>
                  <a:srgbClr val="273239"/>
                </a:solidFill>
                <a:latin typeface="Nunito"/>
                <a:ea typeface="Nunito"/>
                <a:cs typeface="Nunito"/>
                <a:sym typeface="Nunito"/>
              </a:rPr>
              <a:t>Example:</a:t>
            </a:r>
            <a:endParaRPr/>
          </a:p>
          <a:p>
            <a:pPr indent="0" lvl="0" marL="0" rtl="0" algn="l">
              <a:spcBef>
                <a:spcPts val="1000"/>
              </a:spcBef>
              <a:spcAft>
                <a:spcPts val="0"/>
              </a:spcAft>
              <a:buSzPts val="18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ts val="1800"/>
              <a:buFont typeface="Arial"/>
              <a:buChar char="•"/>
            </a:pPr>
            <a:r>
              <a:rPr lang="en-US">
                <a:solidFill>
                  <a:srgbClr val="273239"/>
                </a:solidFill>
                <a:latin typeface="Nunito"/>
                <a:ea typeface="Nunito"/>
                <a:cs typeface="Nunito"/>
                <a:sym typeface="Nunito"/>
              </a:rPr>
              <a:t>Disk 0: Data (D1, D2), Parity (P1)</a:t>
            </a:r>
            <a:endParaRPr/>
          </a:p>
          <a:p>
            <a:pPr indent="0" lvl="0" marL="0" rtl="0" algn="l">
              <a:spcBef>
                <a:spcPts val="1000"/>
              </a:spcBef>
              <a:spcAft>
                <a:spcPts val="0"/>
              </a:spcAft>
              <a:buSzPts val="18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ts val="1800"/>
              <a:buFont typeface="Arial"/>
              <a:buChar char="•"/>
            </a:pPr>
            <a:r>
              <a:rPr lang="en-US">
                <a:solidFill>
                  <a:srgbClr val="273239"/>
                </a:solidFill>
                <a:latin typeface="Nunito"/>
                <a:ea typeface="Nunito"/>
                <a:cs typeface="Nunito"/>
                <a:sym typeface="Nunito"/>
              </a:rPr>
              <a:t>Disk 1: Data (D3, D4), Parity (P2)</a:t>
            </a:r>
            <a:endParaRPr/>
          </a:p>
          <a:p>
            <a:pPr indent="0" lvl="0" marL="0" rtl="0" algn="l">
              <a:spcBef>
                <a:spcPts val="1000"/>
              </a:spcBef>
              <a:spcAft>
                <a:spcPts val="0"/>
              </a:spcAft>
              <a:buSzPts val="18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ts val="1800"/>
              <a:buFont typeface="Arial"/>
              <a:buChar char="•"/>
            </a:pPr>
            <a:r>
              <a:rPr lang="en-US">
                <a:solidFill>
                  <a:srgbClr val="273239"/>
                </a:solidFill>
                <a:latin typeface="Nunito"/>
                <a:ea typeface="Nunito"/>
                <a:cs typeface="Nunito"/>
                <a:sym typeface="Nunito"/>
              </a:rPr>
              <a:t>Disk 2: Data (D5, P1), Parity (P3)</a:t>
            </a:r>
            <a:endParaRPr/>
          </a:p>
          <a:p>
            <a:pPr indent="0" lvl="0" marL="0" rtl="0" algn="l">
              <a:spcBef>
                <a:spcPts val="1000"/>
              </a:spcBef>
              <a:spcAft>
                <a:spcPts val="0"/>
              </a:spcAft>
              <a:buSzPts val="18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ts val="1800"/>
              <a:buFont typeface="Arial"/>
              <a:buChar char="•"/>
            </a:pPr>
            <a:r>
              <a:rPr lang="en-US">
                <a:solidFill>
                  <a:srgbClr val="273239"/>
                </a:solidFill>
                <a:latin typeface="Nunito"/>
                <a:ea typeface="Nunito"/>
                <a:cs typeface="Nunito"/>
                <a:sym typeface="Nunito"/>
              </a:rPr>
              <a:t>Disk 3: Parity (P2, P3), Data (D6)</a:t>
            </a:r>
            <a:endParaRPr/>
          </a:p>
          <a:p>
            <a:pPr indent="0" lvl="0" marL="0" rtl="0" algn="l">
              <a:spcBef>
                <a:spcPts val="1000"/>
              </a:spcBef>
              <a:spcAft>
                <a:spcPts val="0"/>
              </a:spcAft>
              <a:buSzPts val="1800"/>
              <a:buNone/>
            </a:pPr>
            <a:r>
              <a:t/>
            </a:r>
            <a:endParaRPr>
              <a:solidFill>
                <a:srgbClr val="273239"/>
              </a:solidFill>
              <a:latin typeface="Nunito"/>
              <a:ea typeface="Nunito"/>
              <a:cs typeface="Nunito"/>
              <a:sym typeface="Nunito"/>
            </a:endParaRPr>
          </a:p>
          <a:p>
            <a:pPr indent="-342900" lvl="0" marL="342900" rtl="0" algn="l">
              <a:spcBef>
                <a:spcPts val="1000"/>
              </a:spcBef>
              <a:spcAft>
                <a:spcPts val="0"/>
              </a:spcAft>
              <a:buSzPts val="1800"/>
              <a:buChar char="🠶"/>
            </a:pPr>
            <a:r>
              <a:rPr b="1" lang="en-US">
                <a:solidFill>
                  <a:srgbClr val="273239"/>
                </a:solidFill>
                <a:latin typeface="Nunito"/>
                <a:ea typeface="Nunito"/>
                <a:cs typeface="Nunito"/>
                <a:sym typeface="Nunito"/>
              </a:rPr>
              <a:t>Data Recovery:</a:t>
            </a:r>
            <a:r>
              <a:rPr lang="en-US">
                <a:solidFill>
                  <a:srgbClr val="273239"/>
                </a:solidFill>
                <a:latin typeface="Nunito"/>
                <a:ea typeface="Nunito"/>
                <a:cs typeface="Nunito"/>
                <a:sym typeface="Nunito"/>
              </a:rPr>
              <a:t> If one or two disks fail, the missing data can be reconstructed using the remaining data and parity information.</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graphicFrame>
        <p:nvGraphicFramePr>
          <p:cNvPr id="457" name="Google Shape;457;p48"/>
          <p:cNvGraphicFramePr/>
          <p:nvPr/>
        </p:nvGraphicFramePr>
        <p:xfrm>
          <a:off x="1701207" y="669853"/>
          <a:ext cx="3000000" cy="3000000"/>
        </p:xfrm>
        <a:graphic>
          <a:graphicData uri="http://schemas.openxmlformats.org/drawingml/2006/table">
            <a:tbl>
              <a:tblPr>
                <a:noFill/>
                <a:tableStyleId>{F89BEEAA-D534-408A-A0EF-D0AD3BC353A7}</a:tableStyleId>
              </a:tblPr>
              <a:tblGrid>
                <a:gridCol w="1518675"/>
                <a:gridCol w="1518675"/>
                <a:gridCol w="1518675"/>
                <a:gridCol w="1518675"/>
                <a:gridCol w="1518675"/>
                <a:gridCol w="1518675"/>
              </a:tblGrid>
              <a:tr h="842525">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42525">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42525">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8100">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24300" marB="24300" marR="48575" marL="4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458" name="Google Shape;458;p48"/>
          <p:cNvGraphicFramePr/>
          <p:nvPr/>
        </p:nvGraphicFramePr>
        <p:xfrm>
          <a:off x="648585" y="1109907"/>
          <a:ext cx="3000000" cy="3000000"/>
        </p:xfrm>
        <a:graphic>
          <a:graphicData uri="http://schemas.openxmlformats.org/drawingml/2006/table">
            <a:tbl>
              <a:tblPr bandRow="1" firstRow="1">
                <a:noFill/>
                <a:tableStyleId>{30EECDC7-5CD1-4221-8821-7F6EB2C338F3}</a:tableStyleId>
              </a:tblPr>
              <a:tblGrid>
                <a:gridCol w="1733100"/>
                <a:gridCol w="1733100"/>
                <a:gridCol w="1733100"/>
                <a:gridCol w="1733100"/>
                <a:gridCol w="1733100"/>
                <a:gridCol w="1903225"/>
              </a:tblGrid>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RAID Level</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Technique</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Min Disks</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Fault Tolerance</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Performance</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Storage Efficiency</a:t>
                      </a:r>
                      <a:endParaRPr sz="1600">
                        <a:latin typeface="Times New Roman"/>
                        <a:ea typeface="Times New Roman"/>
                        <a:cs typeface="Times New Roman"/>
                        <a:sym typeface="Times New Roman"/>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0</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Striping</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2</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None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Very High (R/W)</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100%</a:t>
                      </a:r>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Mirroring</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2</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1 Disk</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Read / ⭐⭐ Write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50%</a:t>
                      </a:r>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Hamming-code ECC</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3+</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1+ (ECC)</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Moderate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Low</a:t>
                      </a:r>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3</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Byte Striping + Dedicated Parity</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3</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1 Disk</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Read / ⭐ Low Write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(N–1)/N</a:t>
                      </a:r>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4</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Block Striping + Dedicated Parity</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3</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1 Disk</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Read / ⭐ Low Write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(N–1)/N</a:t>
                      </a:r>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5</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Block Striping + Distributed Parity</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3</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1 Disk</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Read / ⭐⭐ Write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(N–1)/N</a:t>
                      </a:r>
                      <a:endParaRPr/>
                    </a:p>
                  </a:txBody>
                  <a:tcPr marT="24300" marB="24300" marR="48575" marL="48575" anchor="ctr"/>
                </a:tc>
              </a:tr>
              <a:tr h="683900">
                <a:tc>
                  <a:txBody>
                    <a:bodyPr/>
                    <a:lstStyle/>
                    <a:p>
                      <a:pPr indent="0" lvl="0" marL="0" marR="0" rtl="0" algn="l">
                        <a:spcBef>
                          <a:spcPts val="0"/>
                        </a:spcBef>
                        <a:spcAft>
                          <a:spcPts val="0"/>
                        </a:spcAft>
                        <a:buNone/>
                      </a:pPr>
                      <a:r>
                        <a:rPr b="1" lang="en-US" sz="1600">
                          <a:latin typeface="Times New Roman"/>
                          <a:ea typeface="Times New Roman"/>
                          <a:cs typeface="Times New Roman"/>
                          <a:sym typeface="Times New Roman"/>
                        </a:rPr>
                        <a:t>6</a:t>
                      </a:r>
                      <a:endParaRPr sz="1600">
                        <a:latin typeface="Times New Roman"/>
                        <a:ea typeface="Times New Roman"/>
                        <a:cs typeface="Times New Roman"/>
                        <a:sym typeface="Times New Roman"/>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Block Striping + Dual Parity</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4</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2 Disks</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 High / ⭐⭐ Write</a:t>
                      </a:r>
                      <a:endParaRPr/>
                    </a:p>
                  </a:txBody>
                  <a:tcPr marT="24300" marB="24300" marR="48575" marL="48575" anchor="ctr"/>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(N–2)/N</a:t>
                      </a:r>
                      <a:endParaRPr/>
                    </a:p>
                  </a:txBody>
                  <a:tcPr marT="24300" marB="24300" marR="48575" marL="48575" anchor="ctr"/>
                </a:tc>
              </a:tr>
            </a:tbl>
          </a:graphicData>
        </a:graphic>
      </p:graphicFrame>
      <p:sp>
        <p:nvSpPr>
          <p:cNvPr id="459" name="Google Shape;459;p48"/>
          <p:cNvSpPr txBox="1"/>
          <p:nvPr/>
        </p:nvSpPr>
        <p:spPr>
          <a:xfrm>
            <a:off x="3274829" y="452737"/>
            <a:ext cx="561384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Comparative Table of RAID Levels 0 to 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2025-11-28T20:33:20Z</dcterms:created>
  <dc:creator>Admin</dc:creator>
</cp:coreProperties>
</file>